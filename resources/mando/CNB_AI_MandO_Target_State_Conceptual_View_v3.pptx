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09728"/>
            <a:ext cx="8595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 and Observability: Proposed Target State, Conceptual View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9006840" y="201168"/>
            <a:ext cx="1143000" cy="219456"/>
          </a:xfrm>
          <a:prstGeom prst="roundRect">
            <a:avLst>
              <a:gd name="adj" fmla="val 16667"/>
            </a:avLst>
          </a:prstGeom>
          <a:solidFill>
            <a:srgbClr val="1F4E9C"/>
          </a:solidFill>
          <a:ln w="6350">
            <a:solidFill>
              <a:srgbClr val="1F4E9C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control domain</a:t>
            </a:r>
            <a:endParaRPr lang="en-US" sz="700" dirty="0"/>
          </a:p>
        </p:txBody>
      </p:sp>
      <p:sp>
        <p:nvSpPr>
          <p:cNvPr id="4" name="Text 2"/>
          <p:cNvSpPr txBox="1"/>
          <p:nvPr/>
        </p:nvSpPr>
        <p:spPr>
          <a:xfrm>
            <a:off x="10195560" y="201168"/>
            <a:ext cx="960120" cy="219456"/>
          </a:xfrm>
          <a:prstGeom prst="roundRect">
            <a:avLst>
              <a:gd name="adj" fmla="val 16667"/>
            </a:avLst>
          </a:prstGeom>
          <a:solidFill>
            <a:srgbClr val="5B9BD5"/>
          </a:solidFill>
          <a:ln w="6350">
            <a:solidFill>
              <a:srgbClr val="5B9BD5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domain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731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320040" y="658368"/>
            <a:ext cx="1005840" cy="731520"/>
          </a:xfrm>
          <a:prstGeom prst="roundRect">
            <a:avLst>
              <a:gd name="adj" fmla="val 7500"/>
            </a:avLst>
          </a:prstGeom>
          <a:solidFill>
            <a:srgbClr val="E7E6E6"/>
          </a:solidFill>
          <a:ln w="6350">
            <a:solidFill>
              <a:srgbClr val="E7E6E6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 in Scope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658368"/>
            <a:ext cx="10469880" cy="731520"/>
          </a:xfrm>
          <a:prstGeom prst="roundRect">
            <a:avLst>
              <a:gd name="adj" fmla="val 7500"/>
            </a:avLst>
          </a:prstGeom>
          <a:solidFill>
            <a:srgbClr val="F9F9F9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435608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Assist Pro</a:t>
            </a:r>
            <a:endParaRPr lang="en-US" sz="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992" y="94183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35608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2240983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AgilLink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367" y="941832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40983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14" name="Text 10"/>
          <p:cNvSpPr txBox="1"/>
          <p:nvPr/>
        </p:nvSpPr>
        <p:spPr>
          <a:xfrm>
            <a:off x="3046359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Rovo AI</a:t>
            </a:r>
            <a:endParaRPr lang="en-US" sz="7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742" y="941832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046359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17" name="Text 12"/>
          <p:cNvSpPr txBox="1"/>
          <p:nvPr/>
        </p:nvSpPr>
        <p:spPr>
          <a:xfrm>
            <a:off x="3851734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Helios</a:t>
            </a:r>
            <a:endParaRPr lang="en-US" sz="7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18" y="941832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3851734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RBC gateway</a:t>
            </a:r>
            <a:endParaRPr lang="en-US" sz="650" dirty="0"/>
          </a:p>
        </p:txBody>
      </p:sp>
      <p:sp>
        <p:nvSpPr>
          <p:cNvPr id="20" name="Text 14"/>
          <p:cNvSpPr txBox="1"/>
          <p:nvPr/>
        </p:nvSpPr>
        <p:spPr>
          <a:xfrm>
            <a:off x="4657110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</a:t>
            </a:r>
            <a:endParaRPr lang="en-US" sz="7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3493" y="941832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657110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23" name="Text 16"/>
          <p:cNvSpPr txBox="1"/>
          <p:nvPr/>
        </p:nvSpPr>
        <p:spPr>
          <a:xfrm>
            <a:off x="5462485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nCino Banking Advisor</a:t>
            </a:r>
            <a:endParaRPr lang="en-US" sz="7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8869" y="941832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62485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26" name="Text 18"/>
          <p:cNvSpPr txBox="1"/>
          <p:nvPr/>
        </p:nvSpPr>
        <p:spPr>
          <a:xfrm>
            <a:off x="6267860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Emburse</a:t>
            </a:r>
            <a:endParaRPr lang="en-US" sz="7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244" y="94183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267860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29" name="Text 20"/>
          <p:cNvSpPr txBox="1"/>
          <p:nvPr/>
        </p:nvSpPr>
        <p:spPr>
          <a:xfrm>
            <a:off x="7073236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 (EDD)</a:t>
            </a:r>
            <a:endParaRPr lang="en-US" sz="7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9619" y="941832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073236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</p:txBody>
      </p:sp>
      <p:sp>
        <p:nvSpPr>
          <p:cNvPr id="32" name="Text 22"/>
          <p:cNvSpPr txBox="1"/>
          <p:nvPr/>
        </p:nvSpPr>
        <p:spPr>
          <a:xfrm>
            <a:off x="7878611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 Copilot</a:t>
            </a:r>
            <a:endParaRPr lang="en-US" sz="7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4995" y="941832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878611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 tenant</a:t>
            </a:r>
            <a:endParaRPr lang="en-US" sz="650" dirty="0"/>
          </a:p>
        </p:txBody>
      </p:sp>
      <p:sp>
        <p:nvSpPr>
          <p:cNvPr id="35" name="Text 24"/>
          <p:cNvSpPr txBox="1"/>
          <p:nvPr/>
        </p:nvSpPr>
        <p:spPr>
          <a:xfrm>
            <a:off x="8683986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7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0370" y="941832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8683986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</a:t>
            </a:r>
            <a:endParaRPr lang="en-US" sz="650" dirty="0"/>
          </a:p>
        </p:txBody>
      </p:sp>
      <p:sp>
        <p:nvSpPr>
          <p:cNvPr id="38" name="Text 26"/>
          <p:cNvSpPr txBox="1"/>
          <p:nvPr/>
        </p:nvSpPr>
        <p:spPr>
          <a:xfrm>
            <a:off x="9489362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7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45746" y="941832"/>
            <a:ext cx="256032" cy="256032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9489362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evaluation</a:t>
            </a:r>
            <a:endParaRPr lang="en-US" sz="650" dirty="0"/>
          </a:p>
        </p:txBody>
      </p:sp>
      <p:sp>
        <p:nvSpPr>
          <p:cNvPr id="41" name="Text 28"/>
          <p:cNvSpPr txBox="1"/>
          <p:nvPr/>
        </p:nvSpPr>
        <p:spPr>
          <a:xfrm>
            <a:off x="10294737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Assist</a:t>
            </a:r>
            <a:endParaRPr lang="en-US" sz="700" dirty="0"/>
          </a:p>
        </p:txBody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51121" y="941832"/>
            <a:ext cx="256032" cy="25603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294737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</a:t>
            </a:r>
            <a:endParaRPr lang="en-US" sz="650" dirty="0"/>
          </a:p>
        </p:txBody>
      </p:sp>
      <p:sp>
        <p:nvSpPr>
          <p:cNvPr id="44" name="Text 30"/>
          <p:cNvSpPr txBox="1"/>
          <p:nvPr/>
        </p:nvSpPr>
        <p:spPr>
          <a:xfrm>
            <a:off x="11100113" y="685800"/>
            <a:ext cx="7687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4E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Omilia Voice Biometrics</a:t>
            </a:r>
            <a:endParaRPr lang="en-US" sz="700" dirty="0"/>
          </a:p>
        </p:txBody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356496" y="941832"/>
            <a:ext cx="256032" cy="256032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11100113" y="1207008"/>
            <a:ext cx="768799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confirm, non LLM</a:t>
            </a:r>
            <a:endParaRPr lang="en-US" sz="650" dirty="0"/>
          </a:p>
        </p:txBody>
      </p:sp>
      <p:sp>
        <p:nvSpPr>
          <p:cNvPr id="47" name="Shape 32"/>
          <p:cNvSpPr/>
          <p:nvPr/>
        </p:nvSpPr>
        <p:spPr>
          <a:xfrm>
            <a:off x="9480218" y="676656"/>
            <a:ext cx="2388694" cy="694944"/>
          </a:xfrm>
          <a:prstGeom prst="roundRect">
            <a:avLst>
              <a:gd name="adj" fmla="val 6579"/>
            </a:avLst>
          </a:prstGeom>
          <a:ln w="12700">
            <a:solidFill>
              <a:srgbClr val="C00000"/>
            </a:solidFill>
            <a:prstDash val="dash"/>
          </a:ln>
        </p:spPr>
      </p:sp>
      <p:sp>
        <p:nvSpPr>
          <p:cNvPr id="48" name="Shape 33"/>
          <p:cNvSpPr/>
          <p:nvPr/>
        </p:nvSpPr>
        <p:spPr>
          <a:xfrm>
            <a:off x="274320" y="1463040"/>
            <a:ext cx="1051560" cy="4846320"/>
          </a:xfrm>
          <a:prstGeom prst="roundRect">
            <a:avLst>
              <a:gd name="adj" fmla="val 6957"/>
            </a:avLst>
          </a:prstGeom>
          <a:ln w="12700">
            <a:solidFill>
              <a:srgbClr val="1F4E9C"/>
            </a:solidFill>
            <a:prstDash val="dash"/>
          </a:ln>
        </p:spPr>
      </p:sp>
      <p:sp>
        <p:nvSpPr>
          <p:cNvPr id="49" name="Text 34"/>
          <p:cNvSpPr txBox="1"/>
          <p:nvPr/>
        </p:nvSpPr>
        <p:spPr>
          <a:xfrm>
            <a:off x="292608" y="1499616"/>
            <a:ext cx="1014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Capabilities</a:t>
            </a:r>
            <a:endParaRPr lang="en-US" sz="750" dirty="0"/>
          </a:p>
        </p:txBody>
      </p:sp>
      <p:sp>
        <p:nvSpPr>
          <p:cNvPr id="50" name="Text 35"/>
          <p:cNvSpPr txBox="1"/>
          <p:nvPr/>
        </p:nvSpPr>
        <p:spPr>
          <a:xfrm>
            <a:off x="365760" y="2011680"/>
            <a:ext cx="475488" cy="1371600"/>
          </a:xfrm>
          <a:prstGeom prst="roundRect">
            <a:avLst>
              <a:gd name="adj" fmla="val 11538"/>
            </a:avLst>
          </a:prstGeom>
          <a:solidFill>
            <a:srgbClr val="E7E6E6"/>
          </a:solidFill>
          <a:ln w="6350">
            <a:solidFill>
              <a:srgbClr val="E7E6E6"/>
            </a:solidFill>
          </a:ln>
        </p:spPr>
        <p:txBody>
          <a:bodyPr wrap="square" lIns="254" tIns="254" rIns="254" bIns="254" rtlCol="0" anchor="ctr" vert="vert270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gateway path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 built on Foundry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party tools</a:t>
            </a:r>
            <a:endParaRPr lang="en-US" sz="650" dirty="0"/>
          </a:p>
        </p:txBody>
      </p:sp>
      <p:sp>
        <p:nvSpPr>
          <p:cNvPr id="51" name="Shape 36"/>
          <p:cNvSpPr/>
          <p:nvPr/>
        </p:nvSpPr>
        <p:spPr>
          <a:xfrm>
            <a:off x="896112" y="2468880"/>
            <a:ext cx="365760" cy="457200"/>
          </a:xfrm>
          <a:prstGeom prst="rightArrow">
            <a:avLst/>
          </a:prstGeom>
          <a:solidFill>
            <a:srgbClr val="1F4E9C"/>
          </a:solidFill>
          <a:ln w="6350">
            <a:solidFill>
              <a:srgbClr val="1F4E9C"/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320040" y="3584448"/>
            <a:ext cx="4114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Capabilities</a:t>
            </a:r>
            <a:endParaRPr lang="en-US" sz="700" dirty="0"/>
          </a:p>
        </p:txBody>
      </p:sp>
      <p:sp>
        <p:nvSpPr>
          <p:cNvPr id="53" name="Text 38"/>
          <p:cNvSpPr txBox="1"/>
          <p:nvPr/>
        </p:nvSpPr>
        <p:spPr>
          <a:xfrm>
            <a:off x="320040" y="4535424"/>
            <a:ext cx="4114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54" name="Text 39"/>
          <p:cNvSpPr txBox="1"/>
          <p:nvPr/>
        </p:nvSpPr>
        <p:spPr>
          <a:xfrm>
            <a:off x="320040" y="5669280"/>
            <a:ext cx="411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</a:t>
            </a:r>
            <a:endParaRPr lang="en-US" sz="700" dirty="0"/>
          </a:p>
        </p:txBody>
      </p:sp>
      <p:sp>
        <p:nvSpPr>
          <p:cNvPr id="55" name="Text 40"/>
          <p:cNvSpPr txBox="1"/>
          <p:nvPr/>
        </p:nvSpPr>
        <p:spPr>
          <a:xfrm>
            <a:off x="1417320" y="1499616"/>
            <a:ext cx="1354455" cy="384048"/>
          </a:xfrm>
          <a:prstGeom prst="rect">
            <a:avLst/>
          </a:prstGeom>
          <a:solidFill>
            <a:srgbClr val="5B9BD5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&amp; Access</a:t>
            </a:r>
            <a:endParaRPr lang="en-US" sz="800" dirty="0"/>
          </a:p>
        </p:txBody>
      </p:sp>
      <p:sp>
        <p:nvSpPr>
          <p:cNvPr id="56" name="Text 41"/>
          <p:cNvSpPr txBox="1"/>
          <p:nvPr/>
        </p:nvSpPr>
        <p:spPr>
          <a:xfrm>
            <a:off x="2680335" y="1499616"/>
            <a:ext cx="1354455" cy="384048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&amp; Content</a:t>
            </a:r>
            <a:endParaRPr lang="en-US" sz="800" dirty="0"/>
          </a:p>
        </p:txBody>
      </p:sp>
      <p:sp>
        <p:nvSpPr>
          <p:cNvPr id="57" name="Text 42"/>
          <p:cNvSpPr txBox="1"/>
          <p:nvPr/>
        </p:nvSpPr>
        <p:spPr>
          <a:xfrm>
            <a:off x="3989070" y="1499616"/>
            <a:ext cx="1354455" cy="384048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&amp; Tool Calls</a:t>
            </a:r>
            <a:endParaRPr lang="en-US" sz="800" dirty="0"/>
          </a:p>
        </p:txBody>
      </p:sp>
      <p:sp>
        <p:nvSpPr>
          <p:cNvPr id="58" name="Text 43"/>
          <p:cNvSpPr txBox="1"/>
          <p:nvPr/>
        </p:nvSpPr>
        <p:spPr>
          <a:xfrm>
            <a:off x="5297805" y="1499616"/>
            <a:ext cx="1354455" cy="384048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 Data (RAG)</a:t>
            </a:r>
            <a:endParaRPr lang="en-US" sz="800" dirty="0"/>
          </a:p>
        </p:txBody>
      </p:sp>
      <p:sp>
        <p:nvSpPr>
          <p:cNvPr id="59" name="Text 44"/>
          <p:cNvSpPr txBox="1"/>
          <p:nvPr/>
        </p:nvSpPr>
        <p:spPr>
          <a:xfrm>
            <a:off x="6606540" y="1499616"/>
            <a:ext cx="1354455" cy="384048"/>
          </a:xfrm>
          <a:prstGeom prst="chevron">
            <a:avLst/>
          </a:prstGeom>
          <a:solidFill>
            <a:srgbClr val="5B9BD5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Drift</a:t>
            </a:r>
            <a:endParaRPr lang="en-US" sz="800" dirty="0"/>
          </a:p>
        </p:txBody>
      </p:sp>
      <p:sp>
        <p:nvSpPr>
          <p:cNvPr id="60" name="Text 45"/>
          <p:cNvSpPr txBox="1"/>
          <p:nvPr/>
        </p:nvSpPr>
        <p:spPr>
          <a:xfrm>
            <a:off x="7915275" y="1499616"/>
            <a:ext cx="1354455" cy="384048"/>
          </a:xfrm>
          <a:prstGeom prst="chevron">
            <a:avLst/>
          </a:prstGeom>
          <a:solidFill>
            <a:srgbClr val="5B9BD5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Performance</a:t>
            </a:r>
            <a:endParaRPr lang="en-US" sz="800" dirty="0"/>
          </a:p>
        </p:txBody>
      </p:sp>
      <p:sp>
        <p:nvSpPr>
          <p:cNvPr id="61" name="Text 46"/>
          <p:cNvSpPr txBox="1"/>
          <p:nvPr/>
        </p:nvSpPr>
        <p:spPr>
          <a:xfrm>
            <a:off x="9224010" y="1499616"/>
            <a:ext cx="1354455" cy="384048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Threats</a:t>
            </a:r>
            <a:endParaRPr lang="en-US" sz="800" dirty="0"/>
          </a:p>
        </p:txBody>
      </p:sp>
      <p:sp>
        <p:nvSpPr>
          <p:cNvPr id="62" name="Text 47"/>
          <p:cNvSpPr txBox="1"/>
          <p:nvPr/>
        </p:nvSpPr>
        <p:spPr>
          <a:xfrm>
            <a:off x="10532745" y="1499616"/>
            <a:ext cx="1354455" cy="384048"/>
          </a:xfrm>
          <a:prstGeom prst="chevron">
            <a:avLst/>
          </a:prstGeom>
          <a:solidFill>
            <a:srgbClr val="1F4E9C"/>
          </a:solidFill>
          <a:ln w="9525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Audit</a:t>
            </a:r>
            <a:endParaRPr lang="en-US" sz="800" dirty="0"/>
          </a:p>
        </p:txBody>
      </p:sp>
      <p:sp>
        <p:nvSpPr>
          <p:cNvPr id="63" name="Text 48"/>
          <p:cNvSpPr txBox="1"/>
          <p:nvPr/>
        </p:nvSpPr>
        <p:spPr>
          <a:xfrm>
            <a:off x="1444752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which AI app, and how much</a:t>
            </a:r>
            <a:endParaRPr lang="en-US" sz="700" dirty="0"/>
          </a:p>
        </p:txBody>
      </p:sp>
      <p:sp>
        <p:nvSpPr>
          <p:cNvPr id="64" name="Text 49"/>
          <p:cNvSpPr txBox="1"/>
          <p:nvPr/>
        </p:nvSpPr>
        <p:spPr>
          <a:xfrm>
            <a:off x="1444752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Unsanctioned AI and shadow tool use</a:t>
            </a:r>
            <a:endParaRPr lang="en-US" sz="700" dirty="0"/>
          </a:p>
        </p:txBody>
      </p:sp>
      <p:sp>
        <p:nvSpPr>
          <p:cNvPr id="65" name="Text 50"/>
          <p:cNvSpPr txBox="1"/>
          <p:nvPr/>
        </p:nvSpPr>
        <p:spPr>
          <a:xfrm>
            <a:off x="1444752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Entitlement violations; CNB population view</a:t>
            </a:r>
            <a:endParaRPr lang="en-US" sz="700" dirty="0"/>
          </a:p>
        </p:txBody>
      </p:sp>
      <p:sp>
        <p:nvSpPr>
          <p:cNvPr id="66" name="Text 51"/>
          <p:cNvSpPr txBox="1"/>
          <p:nvPr/>
        </p:nvSpPr>
        <p:spPr>
          <a:xfrm>
            <a:off x="1444752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and seat utilization by app</a:t>
            </a:r>
            <a:endParaRPr lang="en-US" sz="700" dirty="0"/>
          </a:p>
        </p:txBody>
      </p:sp>
      <p:sp>
        <p:nvSpPr>
          <p:cNvPr id="67" name="Text 52"/>
          <p:cNvSpPr txBox="1"/>
          <p:nvPr/>
        </p:nvSpPr>
        <p:spPr>
          <a:xfrm>
            <a:off x="2753487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patterns and topics over time</a:t>
            </a:r>
            <a:endParaRPr lang="en-US" sz="700" dirty="0"/>
          </a:p>
        </p:txBody>
      </p:sp>
      <p:sp>
        <p:nvSpPr>
          <p:cNvPr id="68" name="Text 53"/>
          <p:cNvSpPr txBox="1"/>
          <p:nvPr/>
        </p:nvSpPr>
        <p:spPr>
          <a:xfrm>
            <a:off x="2753487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and jailbreak attempts</a:t>
            </a:r>
            <a:endParaRPr lang="en-US" sz="700" dirty="0"/>
          </a:p>
        </p:txBody>
      </p:sp>
      <p:sp>
        <p:nvSpPr>
          <p:cNvPr id="69" name="Text 54"/>
          <p:cNvSpPr txBox="1"/>
          <p:nvPr/>
        </p:nvSpPr>
        <p:spPr>
          <a:xfrm>
            <a:off x="2753487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in prompts or responses</a:t>
            </a:r>
            <a:endParaRPr lang="en-US" sz="700" dirty="0"/>
          </a:p>
        </p:txBody>
      </p:sp>
      <p:sp>
        <p:nvSpPr>
          <p:cNvPr id="70" name="Text 55"/>
          <p:cNvSpPr txBox="1"/>
          <p:nvPr/>
        </p:nvSpPr>
        <p:spPr>
          <a:xfrm>
            <a:off x="2753487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hit rates and refusals</a:t>
            </a:r>
            <a:endParaRPr lang="en-US" sz="700" dirty="0"/>
          </a:p>
        </p:txBody>
      </p:sp>
      <p:sp>
        <p:nvSpPr>
          <p:cNvPr id="71" name="Text 56"/>
          <p:cNvSpPr txBox="1"/>
          <p:nvPr/>
        </p:nvSpPr>
        <p:spPr>
          <a:xfrm>
            <a:off x="4062222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agent called which tool, with what</a:t>
            </a:r>
            <a:endParaRPr lang="en-US" sz="700" dirty="0"/>
          </a:p>
        </p:txBody>
      </p:sp>
      <p:sp>
        <p:nvSpPr>
          <p:cNvPr id="72" name="Text 57"/>
          <p:cNvSpPr txBox="1"/>
          <p:nvPr/>
        </p:nvSpPr>
        <p:spPr>
          <a:xfrm>
            <a:off x="4062222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loops and token thresholds</a:t>
            </a:r>
            <a:endParaRPr lang="en-US" sz="700" dirty="0"/>
          </a:p>
        </p:txBody>
      </p:sp>
      <p:sp>
        <p:nvSpPr>
          <p:cNvPr id="73" name="Text 58"/>
          <p:cNvSpPr txBox="1"/>
          <p:nvPr/>
        </p:nvSpPr>
        <p:spPr>
          <a:xfrm>
            <a:off x="4062222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tool or data access; kill switch</a:t>
            </a:r>
            <a:endParaRPr lang="en-US" sz="700" dirty="0"/>
          </a:p>
        </p:txBody>
      </p:sp>
      <p:sp>
        <p:nvSpPr>
          <p:cNvPr id="74" name="Text 59"/>
          <p:cNvSpPr txBox="1"/>
          <p:nvPr/>
        </p:nvSpPr>
        <p:spPr>
          <a:xfrm>
            <a:off x="4062222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 agent and MCP call chains</a:t>
            </a:r>
            <a:endParaRPr lang="en-US" sz="700" dirty="0"/>
          </a:p>
        </p:txBody>
      </p:sp>
      <p:sp>
        <p:nvSpPr>
          <p:cNvPr id="75" name="Text 60"/>
          <p:cNvSpPr txBox="1"/>
          <p:nvPr/>
        </p:nvSpPr>
        <p:spPr>
          <a:xfrm>
            <a:off x="5370957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Documents, chunks, embeddings per answer</a:t>
            </a:r>
            <a:endParaRPr lang="en-US" sz="700" dirty="0"/>
          </a:p>
        </p:txBody>
      </p:sp>
      <p:sp>
        <p:nvSpPr>
          <p:cNvPr id="76" name="Text 61"/>
          <p:cNvSpPr txBox="1"/>
          <p:nvPr/>
        </p:nvSpPr>
        <p:spPr>
          <a:xfrm>
            <a:off x="5370957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query audit trail</a:t>
            </a:r>
            <a:endParaRPr lang="en-US" sz="700" dirty="0"/>
          </a:p>
        </p:txBody>
      </p:sp>
      <p:sp>
        <p:nvSpPr>
          <p:cNvPr id="77" name="Text 62"/>
          <p:cNvSpPr txBox="1"/>
          <p:nvPr/>
        </p:nvSpPr>
        <p:spPr>
          <a:xfrm>
            <a:off x="5370957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content vs user entitlement</a:t>
            </a:r>
            <a:endParaRPr lang="en-US" sz="700" dirty="0"/>
          </a:p>
        </p:txBody>
      </p:sp>
      <p:sp>
        <p:nvSpPr>
          <p:cNvPr id="78" name="Text 63"/>
          <p:cNvSpPr txBox="1"/>
          <p:nvPr/>
        </p:nvSpPr>
        <p:spPr>
          <a:xfrm>
            <a:off x="5370957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Stale, missing, or unindexed sources</a:t>
            </a:r>
            <a:endParaRPr lang="en-US" sz="700" dirty="0"/>
          </a:p>
        </p:txBody>
      </p:sp>
      <p:sp>
        <p:nvSpPr>
          <p:cNvPr id="79" name="Text 64"/>
          <p:cNvSpPr txBox="1"/>
          <p:nvPr/>
        </p:nvSpPr>
        <p:spPr>
          <a:xfrm>
            <a:off x="6679692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scores and hallucination rate</a:t>
            </a:r>
            <a:endParaRPr lang="en-US" sz="700" dirty="0"/>
          </a:p>
        </p:txBody>
      </p:sp>
      <p:sp>
        <p:nvSpPr>
          <p:cNvPr id="80" name="Text 65"/>
          <p:cNvSpPr txBox="1"/>
          <p:nvPr/>
        </p:nvSpPr>
        <p:spPr>
          <a:xfrm>
            <a:off x="6679692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prompt, and index version changes</a:t>
            </a:r>
            <a:endParaRPr lang="en-US" sz="700" dirty="0"/>
          </a:p>
        </p:txBody>
      </p:sp>
      <p:sp>
        <p:nvSpPr>
          <p:cNvPr id="81" name="Text 66"/>
          <p:cNvSpPr txBox="1"/>
          <p:nvPr/>
        </p:nvSpPr>
        <p:spPr>
          <a:xfrm>
            <a:off x="6679692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model conformance; user feedback</a:t>
            </a:r>
            <a:endParaRPr lang="en-US" sz="700" dirty="0"/>
          </a:p>
        </p:txBody>
      </p:sp>
      <p:sp>
        <p:nvSpPr>
          <p:cNvPr id="82" name="Text 67"/>
          <p:cNvSpPr txBox="1"/>
          <p:nvPr/>
        </p:nvSpPr>
        <p:spPr>
          <a:xfrm>
            <a:off x="6679692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against retrieved content</a:t>
            </a:r>
            <a:endParaRPr lang="en-US" sz="700" dirty="0"/>
          </a:p>
        </p:txBody>
      </p:sp>
      <p:sp>
        <p:nvSpPr>
          <p:cNvPr id="83" name="Text 68"/>
          <p:cNvSpPr txBox="1"/>
          <p:nvPr/>
        </p:nvSpPr>
        <p:spPr>
          <a:xfrm>
            <a:off x="7988427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and spend per use case and user</a:t>
            </a:r>
            <a:endParaRPr lang="en-US" sz="700" dirty="0"/>
          </a:p>
        </p:txBody>
      </p:sp>
      <p:sp>
        <p:nvSpPr>
          <p:cNvPr id="84" name="Text 69"/>
          <p:cNvSpPr txBox="1"/>
          <p:nvPr/>
        </p:nvSpPr>
        <p:spPr>
          <a:xfrm>
            <a:off x="7988427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errors, availability</a:t>
            </a:r>
            <a:endParaRPr lang="en-US" sz="700" dirty="0"/>
          </a:p>
        </p:txBody>
      </p:sp>
      <p:sp>
        <p:nvSpPr>
          <p:cNvPr id="85" name="Text 70"/>
          <p:cNvSpPr txBox="1"/>
          <p:nvPr/>
        </p:nvSpPr>
        <p:spPr>
          <a:xfrm>
            <a:off x="7988427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SLA and quota tracking</a:t>
            </a:r>
            <a:endParaRPr lang="en-US" sz="700" dirty="0"/>
          </a:p>
        </p:txBody>
      </p:sp>
      <p:sp>
        <p:nvSpPr>
          <p:cNvPr id="86" name="Text 71"/>
          <p:cNvSpPr txBox="1"/>
          <p:nvPr/>
        </p:nvSpPr>
        <p:spPr>
          <a:xfrm>
            <a:off x="7988427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rate limit headroom</a:t>
            </a:r>
            <a:endParaRPr lang="en-US" sz="700" dirty="0"/>
          </a:p>
        </p:txBody>
      </p:sp>
      <p:sp>
        <p:nvSpPr>
          <p:cNvPr id="87" name="Text 72"/>
          <p:cNvSpPr txBox="1"/>
          <p:nvPr/>
        </p:nvSpPr>
        <p:spPr>
          <a:xfrm>
            <a:off x="9297162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Exfiltration and secret exposure attempts</a:t>
            </a:r>
            <a:endParaRPr lang="en-US" sz="700" dirty="0"/>
          </a:p>
        </p:txBody>
      </p:sp>
      <p:sp>
        <p:nvSpPr>
          <p:cNvPr id="88" name="Text 73"/>
          <p:cNvSpPr txBox="1"/>
          <p:nvPr/>
        </p:nvSpPr>
        <p:spPr>
          <a:xfrm>
            <a:off x="9297162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Anomalous access; malicious tool calls</a:t>
            </a:r>
            <a:endParaRPr lang="en-US" sz="700" dirty="0"/>
          </a:p>
        </p:txBody>
      </p:sp>
      <p:sp>
        <p:nvSpPr>
          <p:cNvPr id="89" name="Text 74"/>
          <p:cNvSpPr txBox="1"/>
          <p:nvPr/>
        </p:nvSpPr>
        <p:spPr>
          <a:xfrm>
            <a:off x="9297162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plugin provenance; SIEM feed</a:t>
            </a:r>
            <a:endParaRPr lang="en-US" sz="700" dirty="0"/>
          </a:p>
        </p:txBody>
      </p:sp>
      <p:sp>
        <p:nvSpPr>
          <p:cNvPr id="90" name="Text 75"/>
          <p:cNvSpPr txBox="1"/>
          <p:nvPr/>
        </p:nvSpPr>
        <p:spPr>
          <a:xfrm>
            <a:off x="9297162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LLM apps: security event feeds</a:t>
            </a:r>
            <a:endParaRPr lang="en-US" sz="700" dirty="0"/>
          </a:p>
        </p:txBody>
      </p:sp>
      <p:sp>
        <p:nvSpPr>
          <p:cNvPr id="91" name="Text 76"/>
          <p:cNvSpPr txBox="1"/>
          <p:nvPr/>
        </p:nvSpPr>
        <p:spPr>
          <a:xfrm>
            <a:off x="10605897" y="1956816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record of every interaction</a:t>
            </a:r>
            <a:endParaRPr lang="en-US" sz="700" dirty="0"/>
          </a:p>
        </p:txBody>
      </p:sp>
      <p:sp>
        <p:nvSpPr>
          <p:cNvPr id="92" name="Text 77"/>
          <p:cNvSpPr txBox="1"/>
          <p:nvPr/>
        </p:nvSpPr>
        <p:spPr>
          <a:xfrm>
            <a:off x="10605897" y="2340864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control action recorded</a:t>
            </a:r>
            <a:endParaRPr lang="en-US" sz="700" dirty="0"/>
          </a:p>
        </p:txBody>
      </p:sp>
      <p:sp>
        <p:nvSpPr>
          <p:cNvPr id="93" name="Text 78"/>
          <p:cNvSpPr txBox="1"/>
          <p:nvPr/>
        </p:nvSpPr>
        <p:spPr>
          <a:xfrm>
            <a:off x="10605897" y="2724912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Retention; regulator ready reporting</a:t>
            </a:r>
            <a:endParaRPr lang="en-US" sz="700" dirty="0"/>
          </a:p>
        </p:txBody>
      </p:sp>
      <p:sp>
        <p:nvSpPr>
          <p:cNvPr id="94" name="Text 79"/>
          <p:cNvSpPr txBox="1"/>
          <p:nvPr/>
        </p:nvSpPr>
        <p:spPr>
          <a:xfrm>
            <a:off x="10605897" y="3108960"/>
            <a:ext cx="1253871" cy="347472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txBody>
          <a:bodyPr wrap="square" lIns="508" tIns="508" rIns="508" bIns="508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documentation and evidence</a:t>
            </a:r>
            <a:endParaRPr lang="en-US" sz="700" dirty="0"/>
          </a:p>
        </p:txBody>
      </p:sp>
      <p:sp>
        <p:nvSpPr>
          <p:cNvPr id="95" name="Shape 80"/>
          <p:cNvSpPr/>
          <p:nvPr/>
        </p:nvSpPr>
        <p:spPr>
          <a:xfrm>
            <a:off x="1417320" y="3529584"/>
            <a:ext cx="10469880" cy="0"/>
          </a:xfrm>
          <a:prstGeom prst="line">
            <a:avLst/>
          </a:prstGeom>
          <a:noFill/>
          <a:ln w="19050">
            <a:solidFill>
              <a:srgbClr val="1F4E9C"/>
            </a:solidFill>
            <a:prstDash val="dash"/>
          </a:ln>
        </p:spPr>
      </p:sp>
      <p:sp>
        <p:nvSpPr>
          <p:cNvPr id="96" name="Text 81"/>
          <p:cNvSpPr txBox="1"/>
          <p:nvPr/>
        </p:nvSpPr>
        <p:spPr>
          <a:xfrm>
            <a:off x="1444752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CNB scoped usage metadata: agents, creators, activity by CNB population.</a:t>
            </a:r>
            <a:endParaRPr lang="en-US" sz="750" dirty="0"/>
          </a:p>
        </p:txBody>
      </p:sp>
      <p:sp>
        <p:nvSpPr>
          <p:cNvPr id="97" name="Text 82"/>
          <p:cNvSpPr txBox="1"/>
          <p:nvPr/>
        </p:nvSpPr>
        <p:spPr>
          <a:xfrm>
            <a:off x="2753487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guardrail events and injection detections; aggregated prompt topics for CNB users.</a:t>
            </a:r>
            <a:endParaRPr lang="en-US" sz="750" dirty="0"/>
          </a:p>
        </p:txBody>
      </p:sp>
      <p:sp>
        <p:nvSpPr>
          <p:cNvPr id="98" name="Text 83"/>
          <p:cNvSpPr txBox="1"/>
          <p:nvPr/>
        </p:nvSpPr>
        <p:spPr>
          <a:xfrm>
            <a:off x="4062222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Pro agent registry: tools, connectors, data sources, owners; tool call traces.</a:t>
            </a:r>
            <a:endParaRPr lang="en-US" sz="750" dirty="0"/>
          </a:p>
        </p:txBody>
      </p:sp>
      <p:sp>
        <p:nvSpPr>
          <p:cNvPr id="99" name="Text 84"/>
          <p:cNvSpPr txBox="1"/>
          <p:nvPr/>
        </p:nvSpPr>
        <p:spPr>
          <a:xfrm>
            <a:off x="5370957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traces per query: knowledge base, documents, chunks, embedding model, index version, scores; query audit.</a:t>
            </a:r>
            <a:endParaRPr lang="en-US" sz="750" dirty="0"/>
          </a:p>
        </p:txBody>
      </p:sp>
      <p:sp>
        <p:nvSpPr>
          <p:cNvPr id="100" name="Text 85"/>
          <p:cNvSpPr txBox="1"/>
          <p:nvPr/>
        </p:nvSpPr>
        <p:spPr>
          <a:xfrm>
            <a:off x="6679692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results for CNB agents; model and prompt version history.</a:t>
            </a:r>
            <a:endParaRPr lang="en-US" sz="750" dirty="0"/>
          </a:p>
        </p:txBody>
      </p:sp>
      <p:sp>
        <p:nvSpPr>
          <p:cNvPr id="101" name="Text 86"/>
          <p:cNvSpPr txBox="1"/>
          <p:nvPr/>
        </p:nvSpPr>
        <p:spPr>
          <a:xfrm>
            <a:off x="7988427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app gateway telemetry for CNB integrations: tokens, latency, errors, model version.</a:t>
            </a:r>
            <a:endParaRPr lang="en-US" sz="750" dirty="0"/>
          </a:p>
        </p:txBody>
      </p:sp>
      <p:sp>
        <p:nvSpPr>
          <p:cNvPr id="102" name="Text 87"/>
          <p:cNvSpPr txBox="1"/>
          <p:nvPr/>
        </p:nvSpPr>
        <p:spPr>
          <a:xfrm>
            <a:off x="9297162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injection and DLP detections; model allowlist changes; platform incidents.</a:t>
            </a:r>
            <a:endParaRPr lang="en-US" sz="750" dirty="0"/>
          </a:p>
        </p:txBody>
      </p:sp>
      <p:sp>
        <p:nvSpPr>
          <p:cNvPr id="103" name="Text 88"/>
          <p:cNvSpPr txBox="1"/>
          <p:nvPr/>
        </p:nvSpPr>
        <p:spPr>
          <a:xfrm>
            <a:off x="10605897" y="3602736"/>
            <a:ext cx="1253871" cy="82296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 at CNB cadence; alert forwarding; escalation path (kill switch for Assist Pro).</a:t>
            </a:r>
            <a:endParaRPr lang="en-US" sz="750" dirty="0"/>
          </a:p>
        </p:txBody>
      </p:sp>
      <p:sp>
        <p:nvSpPr>
          <p:cNvPr id="104" name="Text 89"/>
          <p:cNvSpPr txBox="1"/>
          <p:nvPr/>
        </p:nvSpPr>
        <p:spPr>
          <a:xfrm>
            <a:off x="1463040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</a:t>
            </a:r>
            <a:endParaRPr lang="en-US" sz="700" dirty="0"/>
          </a:p>
        </p:txBody>
      </p:sp>
      <p:sp>
        <p:nvSpPr>
          <p:cNvPr id="105" name="Text 90"/>
          <p:cNvSpPr txBox="1"/>
          <p:nvPr/>
        </p:nvSpPr>
        <p:spPr>
          <a:xfrm>
            <a:off x="1463040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</a:t>
            </a:r>
            <a:endParaRPr lang="en-US" sz="700" dirty="0"/>
          </a:p>
        </p:txBody>
      </p:sp>
      <p:sp>
        <p:nvSpPr>
          <p:cNvPr id="106" name="Text 91"/>
          <p:cNvSpPr txBox="1"/>
          <p:nvPr/>
        </p:nvSpPr>
        <p:spPr>
          <a:xfrm>
            <a:off x="1463040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Zscaler (confirm)</a:t>
            </a:r>
            <a:endParaRPr lang="en-US" sz="700" dirty="0"/>
          </a:p>
        </p:txBody>
      </p:sp>
      <p:sp>
        <p:nvSpPr>
          <p:cNvPr id="107" name="Text 92"/>
          <p:cNvSpPr txBox="1"/>
          <p:nvPr/>
        </p:nvSpPr>
        <p:spPr>
          <a:xfrm>
            <a:off x="1463040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usage views</a:t>
            </a:r>
            <a:endParaRPr lang="en-US" sz="700" dirty="0"/>
          </a:p>
        </p:txBody>
      </p:sp>
      <p:sp>
        <p:nvSpPr>
          <p:cNvPr id="108" name="Text 93"/>
          <p:cNvSpPr txBox="1"/>
          <p:nvPr/>
        </p:nvSpPr>
        <p:spPr>
          <a:xfrm>
            <a:off x="2771775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</a:t>
            </a:r>
            <a:endParaRPr lang="en-US" sz="700" dirty="0"/>
          </a:p>
        </p:txBody>
      </p:sp>
      <p:sp>
        <p:nvSpPr>
          <p:cNvPr id="109" name="Text 94"/>
          <p:cNvSpPr txBox="1"/>
          <p:nvPr/>
        </p:nvSpPr>
        <p:spPr>
          <a:xfrm>
            <a:off x="2771775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 policies</a:t>
            </a:r>
            <a:endParaRPr lang="en-US" sz="700" dirty="0"/>
          </a:p>
        </p:txBody>
      </p:sp>
      <p:sp>
        <p:nvSpPr>
          <p:cNvPr id="110" name="Text 95"/>
          <p:cNvSpPr txBox="1"/>
          <p:nvPr/>
        </p:nvSpPr>
        <p:spPr>
          <a:xfrm>
            <a:off x="2771775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Content Safety</a:t>
            </a:r>
            <a:endParaRPr lang="en-US" sz="700" dirty="0"/>
          </a:p>
        </p:txBody>
      </p:sp>
      <p:sp>
        <p:nvSpPr>
          <p:cNvPr id="111" name="Text 96"/>
          <p:cNvSpPr txBox="1"/>
          <p:nvPr/>
        </p:nvSpPr>
        <p:spPr>
          <a:xfrm>
            <a:off x="2771775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(confirm modules)</a:t>
            </a:r>
            <a:endParaRPr lang="en-US" sz="700" dirty="0"/>
          </a:p>
        </p:txBody>
      </p:sp>
      <p:sp>
        <p:nvSpPr>
          <p:cNvPr id="112" name="Text 97"/>
          <p:cNvSpPr txBox="1"/>
          <p:nvPr/>
        </p:nvSpPr>
        <p:spPr>
          <a:xfrm>
            <a:off x="4080510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MCP endpoints</a:t>
            </a:r>
            <a:endParaRPr lang="en-US" sz="700" dirty="0"/>
          </a:p>
        </p:txBody>
      </p:sp>
      <p:sp>
        <p:nvSpPr>
          <p:cNvPr id="113" name="Text 98"/>
          <p:cNvSpPr txBox="1"/>
          <p:nvPr/>
        </p:nvSpPr>
        <p:spPr>
          <a:xfrm>
            <a:off x="4080510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LLM token policies</a:t>
            </a:r>
            <a:endParaRPr lang="en-US" sz="700" dirty="0"/>
          </a:p>
        </p:txBody>
      </p:sp>
      <p:sp>
        <p:nvSpPr>
          <p:cNvPr id="114" name="Text 99"/>
          <p:cNvSpPr txBox="1"/>
          <p:nvPr/>
        </p:nvSpPr>
        <p:spPr>
          <a:xfrm>
            <a:off x="4080510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switch runbook</a:t>
            </a:r>
            <a:endParaRPr lang="en-US" sz="700" dirty="0"/>
          </a:p>
        </p:txBody>
      </p:sp>
      <p:sp>
        <p:nvSpPr>
          <p:cNvPr id="115" name="Text 100"/>
          <p:cNvSpPr txBox="1"/>
          <p:nvPr/>
        </p:nvSpPr>
        <p:spPr>
          <a:xfrm>
            <a:off x="4080510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API Management</a:t>
            </a:r>
            <a:endParaRPr lang="en-US" sz="700" dirty="0"/>
          </a:p>
        </p:txBody>
      </p:sp>
      <p:sp>
        <p:nvSpPr>
          <p:cNvPr id="116" name="Text 101"/>
          <p:cNvSpPr txBox="1"/>
          <p:nvPr/>
        </p:nvSpPr>
        <p:spPr>
          <a:xfrm>
            <a:off x="5389245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ACCESS_HISTORY</a:t>
            </a:r>
            <a:endParaRPr lang="en-US" sz="700" dirty="0"/>
          </a:p>
        </p:txBody>
      </p:sp>
      <p:sp>
        <p:nvSpPr>
          <p:cNvPr id="117" name="Text 102"/>
          <p:cNvSpPr txBox="1"/>
          <p:nvPr/>
        </p:nvSpPr>
        <p:spPr>
          <a:xfrm>
            <a:off x="5389245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retrieval spans</a:t>
            </a:r>
            <a:endParaRPr lang="en-US" sz="700" dirty="0"/>
          </a:p>
        </p:txBody>
      </p:sp>
      <p:sp>
        <p:nvSpPr>
          <p:cNvPr id="118" name="Text 103"/>
          <p:cNvSpPr txBox="1"/>
          <p:nvPr/>
        </p:nvSpPr>
        <p:spPr>
          <a:xfrm>
            <a:off x="5389245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query log</a:t>
            </a:r>
            <a:endParaRPr lang="en-US" sz="700" dirty="0"/>
          </a:p>
        </p:txBody>
      </p:sp>
      <p:sp>
        <p:nvSpPr>
          <p:cNvPr id="119" name="Text 104"/>
          <p:cNvSpPr txBox="1"/>
          <p:nvPr/>
        </p:nvSpPr>
        <p:spPr>
          <a:xfrm>
            <a:off x="5389245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Observability</a:t>
            </a:r>
            <a:endParaRPr lang="en-US" sz="700" dirty="0"/>
          </a:p>
        </p:txBody>
      </p:sp>
      <p:sp>
        <p:nvSpPr>
          <p:cNvPr id="120" name="Text 105"/>
          <p:cNvSpPr txBox="1"/>
          <p:nvPr/>
        </p:nvSpPr>
        <p:spPr>
          <a:xfrm>
            <a:off x="6697980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AI Observability</a:t>
            </a:r>
            <a:endParaRPr lang="en-US" sz="700" dirty="0"/>
          </a:p>
        </p:txBody>
      </p:sp>
      <p:sp>
        <p:nvSpPr>
          <p:cNvPr id="121" name="Text 106"/>
          <p:cNvSpPr txBox="1"/>
          <p:nvPr/>
        </p:nvSpPr>
        <p:spPr>
          <a:xfrm>
            <a:off x="6697980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evaluations</a:t>
            </a:r>
            <a:endParaRPr lang="en-US" sz="700" dirty="0"/>
          </a:p>
        </p:txBody>
      </p:sp>
      <p:sp>
        <p:nvSpPr>
          <p:cNvPr id="122" name="Text 107"/>
          <p:cNvSpPr txBox="1"/>
          <p:nvPr/>
        </p:nvSpPr>
        <p:spPr>
          <a:xfrm>
            <a:off x="6697980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self hosted</a:t>
            </a:r>
            <a:endParaRPr lang="en-US" sz="700" dirty="0"/>
          </a:p>
        </p:txBody>
      </p:sp>
      <p:sp>
        <p:nvSpPr>
          <p:cNvPr id="123" name="Text 108"/>
          <p:cNvSpPr txBox="1"/>
          <p:nvPr/>
        </p:nvSpPr>
        <p:spPr>
          <a:xfrm>
            <a:off x="6697980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Evals hosted</a:t>
            </a:r>
            <a:endParaRPr lang="en-US" sz="700" dirty="0"/>
          </a:p>
        </p:txBody>
      </p:sp>
      <p:sp>
        <p:nvSpPr>
          <p:cNvPr id="124" name="Text 109"/>
          <p:cNvSpPr txBox="1"/>
          <p:nvPr/>
        </p:nvSpPr>
        <p:spPr>
          <a:xfrm>
            <a:off x="8006715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</a:t>
            </a:r>
            <a:endParaRPr lang="en-US" sz="700" dirty="0"/>
          </a:p>
        </p:txBody>
      </p:sp>
      <p:sp>
        <p:nvSpPr>
          <p:cNvPr id="125" name="Text 110"/>
          <p:cNvSpPr txBox="1"/>
          <p:nvPr/>
        </p:nvSpPr>
        <p:spPr>
          <a:xfrm>
            <a:off x="8006715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monitors</a:t>
            </a:r>
            <a:endParaRPr lang="en-US" sz="700" dirty="0"/>
          </a:p>
        </p:txBody>
      </p:sp>
      <p:sp>
        <p:nvSpPr>
          <p:cNvPr id="126" name="Text 111"/>
          <p:cNvSpPr txBox="1"/>
          <p:nvPr/>
        </p:nvSpPr>
        <p:spPr>
          <a:xfrm>
            <a:off x="8006715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Insights</a:t>
            </a:r>
            <a:endParaRPr lang="en-US" sz="700" dirty="0"/>
          </a:p>
        </p:txBody>
      </p:sp>
      <p:sp>
        <p:nvSpPr>
          <p:cNvPr id="127" name="Text 112"/>
          <p:cNvSpPr txBox="1"/>
          <p:nvPr/>
        </p:nvSpPr>
        <p:spPr>
          <a:xfrm>
            <a:off x="8006715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analytics</a:t>
            </a:r>
            <a:endParaRPr lang="en-US" sz="700" dirty="0"/>
          </a:p>
        </p:txBody>
      </p:sp>
      <p:sp>
        <p:nvSpPr>
          <p:cNvPr id="128" name="Text 113"/>
          <p:cNvSpPr txBox="1"/>
          <p:nvPr/>
        </p:nvSpPr>
        <p:spPr>
          <a:xfrm>
            <a:off x="9315450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DLP</a:t>
            </a:r>
            <a:endParaRPr lang="en-US" sz="700" dirty="0"/>
          </a:p>
        </p:txBody>
      </p:sp>
      <p:sp>
        <p:nvSpPr>
          <p:cNvPr id="129" name="Text 114"/>
          <p:cNvSpPr txBox="1"/>
          <p:nvPr/>
        </p:nvSpPr>
        <p:spPr>
          <a:xfrm>
            <a:off x="9315450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conditional access</a:t>
            </a:r>
            <a:endParaRPr lang="en-US" sz="700" dirty="0"/>
          </a:p>
        </p:txBody>
      </p:sp>
      <p:sp>
        <p:nvSpPr>
          <p:cNvPr id="130" name="Text 115"/>
          <p:cNvSpPr txBox="1"/>
          <p:nvPr/>
        </p:nvSpPr>
        <p:spPr>
          <a:xfrm>
            <a:off x="9315450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Armor policies</a:t>
            </a:r>
            <a:endParaRPr lang="en-US" sz="700" dirty="0"/>
          </a:p>
        </p:txBody>
      </p:sp>
      <p:sp>
        <p:nvSpPr>
          <p:cNvPr id="131" name="Text 116"/>
          <p:cNvSpPr txBox="1"/>
          <p:nvPr/>
        </p:nvSpPr>
        <p:spPr>
          <a:xfrm>
            <a:off x="9315450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feed (confirm)</a:t>
            </a:r>
            <a:endParaRPr lang="en-US" sz="700" dirty="0"/>
          </a:p>
        </p:txBody>
      </p:sp>
      <p:sp>
        <p:nvSpPr>
          <p:cNvPr id="132" name="Text 117"/>
          <p:cNvSpPr txBox="1"/>
          <p:nvPr/>
        </p:nvSpPr>
        <p:spPr>
          <a:xfrm>
            <a:off x="10624185" y="4535424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audit views</a:t>
            </a:r>
            <a:endParaRPr lang="en-US" sz="700" dirty="0"/>
          </a:p>
        </p:txBody>
      </p:sp>
      <p:sp>
        <p:nvSpPr>
          <p:cNvPr id="133" name="Text 118"/>
          <p:cNvSpPr txBox="1"/>
          <p:nvPr/>
        </p:nvSpPr>
        <p:spPr>
          <a:xfrm>
            <a:off x="10624185" y="4828032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retention policy</a:t>
            </a:r>
            <a:endParaRPr lang="en-US" sz="700" dirty="0"/>
          </a:p>
        </p:txBody>
      </p:sp>
      <p:sp>
        <p:nvSpPr>
          <p:cNvPr id="134" name="Text 119"/>
          <p:cNvSpPr txBox="1"/>
          <p:nvPr/>
        </p:nvSpPr>
        <p:spPr>
          <a:xfrm>
            <a:off x="10624185" y="5120640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Snowsight or Power BI</a:t>
            </a:r>
            <a:endParaRPr lang="en-US" sz="700" dirty="0"/>
          </a:p>
        </p:txBody>
      </p:sp>
      <p:sp>
        <p:nvSpPr>
          <p:cNvPr id="135" name="Text 120"/>
          <p:cNvSpPr txBox="1"/>
          <p:nvPr/>
        </p:nvSpPr>
        <p:spPr>
          <a:xfrm>
            <a:off x="10624185" y="5413248"/>
            <a:ext cx="1217295" cy="256032"/>
          </a:xfrm>
          <a:prstGeom prst="roundRect">
            <a:avLst>
              <a:gd name="adj" fmla="val 14286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dashboards</a:t>
            </a:r>
            <a:endParaRPr lang="en-US" sz="700" dirty="0"/>
          </a:p>
        </p:txBody>
      </p:sp>
      <p:sp>
        <p:nvSpPr>
          <p:cNvPr id="136" name="Shape 121"/>
          <p:cNvSpPr/>
          <p:nvPr/>
        </p:nvSpPr>
        <p:spPr>
          <a:xfrm>
            <a:off x="1417320" y="5760720"/>
            <a:ext cx="10469880" cy="493776"/>
          </a:xfrm>
          <a:prstGeom prst="roundRect">
            <a:avLst>
              <a:gd name="adj" fmla="val 11111"/>
            </a:avLst>
          </a:prstGeom>
          <a:ln w="12700">
            <a:solidFill>
              <a:srgbClr val="1F4E9C"/>
            </a:solidFill>
            <a:prstDash val="dash"/>
          </a:ln>
        </p:spPr>
      </p:sp>
      <p:sp>
        <p:nvSpPr>
          <p:cNvPr id="137" name="Text 122"/>
          <p:cNvSpPr txBox="1"/>
          <p:nvPr/>
        </p:nvSpPr>
        <p:spPr>
          <a:xfrm>
            <a:off x="1472184" y="5843016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as a Service (IDaaS, Entitlement Engine)</a:t>
            </a:r>
            <a:endParaRPr lang="en-US" sz="750" dirty="0"/>
          </a:p>
        </p:txBody>
      </p:sp>
      <p:sp>
        <p:nvSpPr>
          <p:cNvPr id="138" name="Text 123"/>
          <p:cNvSpPr txBox="1"/>
          <p:nvPr/>
        </p:nvSpPr>
        <p:spPr>
          <a:xfrm>
            <a:off x="3214116" y="5843016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Apigee (API gateway standard)</a:t>
            </a:r>
            <a:endParaRPr lang="en-US" sz="750" dirty="0"/>
          </a:p>
        </p:txBody>
      </p:sp>
      <p:sp>
        <p:nvSpPr>
          <p:cNvPr id="139" name="Text 124"/>
          <p:cNvSpPr txBox="1"/>
          <p:nvPr/>
        </p:nvSpPr>
        <p:spPr>
          <a:xfrm>
            <a:off x="4956048" y="5843016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pipeline (OpenTelemetry, Collector, Snowpipe)</a:t>
            </a:r>
            <a:endParaRPr lang="en-US" sz="750" dirty="0"/>
          </a:p>
        </p:txBody>
      </p:sp>
      <p:sp>
        <p:nvSpPr>
          <p:cNvPr id="140" name="Text 125"/>
          <p:cNvSpPr txBox="1"/>
          <p:nvPr/>
        </p:nvSpPr>
        <p:spPr>
          <a:xfrm>
            <a:off x="6697980" y="5843016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(system of record)</a:t>
            </a:r>
            <a:endParaRPr lang="en-US" sz="750" dirty="0"/>
          </a:p>
        </p:txBody>
      </p:sp>
      <p:sp>
        <p:nvSpPr>
          <p:cNvPr id="141" name="Text 126"/>
          <p:cNvSpPr txBox="1"/>
          <p:nvPr/>
        </p:nvSpPr>
        <p:spPr>
          <a:xfrm>
            <a:off x="8439912" y="5843016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(observability platform)</a:t>
            </a:r>
            <a:endParaRPr lang="en-US" sz="750" dirty="0"/>
          </a:p>
        </p:txBody>
      </p:sp>
      <p:sp>
        <p:nvSpPr>
          <p:cNvPr id="142" name="Text 127"/>
          <p:cNvSpPr txBox="1"/>
          <p:nvPr/>
        </p:nvSpPr>
        <p:spPr>
          <a:xfrm>
            <a:off x="10181844" y="5843016"/>
            <a:ext cx="1650492" cy="329184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LLM Gateway (black box)</a:t>
            </a:r>
            <a:endParaRPr lang="en-US" sz="750" dirty="0"/>
          </a:p>
        </p:txBody>
      </p:sp>
      <p:sp>
        <p:nvSpPr>
          <p:cNvPr id="143" name="Text 128"/>
          <p:cNvSpPr txBox="1"/>
          <p:nvPr/>
        </p:nvSpPr>
        <p:spPr>
          <a:xfrm>
            <a:off x="320040" y="6382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900" dirty="0"/>
          </a:p>
        </p:txBody>
      </p:sp>
      <p:sp>
        <p:nvSpPr>
          <p:cNvPr id="144" name="Text 129"/>
          <p:cNvSpPr txBox="1"/>
          <p:nvPr/>
        </p:nvSpPr>
        <p:spPr>
          <a:xfrm>
            <a:off x="1417320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7030A0"/>
          </a:solidFill>
          <a:ln w="6350">
            <a:solidFill>
              <a:srgbClr val="7030A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750" dirty="0"/>
          </a:p>
        </p:txBody>
      </p:sp>
      <p:sp>
        <p:nvSpPr>
          <p:cNvPr id="145" name="Text 130"/>
          <p:cNvSpPr txBox="1"/>
          <p:nvPr/>
        </p:nvSpPr>
        <p:spPr>
          <a:xfrm>
            <a:off x="2715768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C00000"/>
          </a:solidFill>
          <a:ln w="6350">
            <a:solidFill>
              <a:srgbClr val="C00000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Sunset or not selected</a:t>
            </a:r>
            <a:endParaRPr lang="en-US" sz="750" dirty="0"/>
          </a:p>
        </p:txBody>
      </p:sp>
      <p:sp>
        <p:nvSpPr>
          <p:cNvPr id="146" name="Text 131"/>
          <p:cNvSpPr txBox="1"/>
          <p:nvPr/>
        </p:nvSpPr>
        <p:spPr>
          <a:xfrm>
            <a:off x="4014216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3A3A3A"/>
          </a:solidFill>
          <a:ln w="6350">
            <a:solidFill>
              <a:srgbClr val="3A3A3A"/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</a:t>
            </a:r>
            <a:endParaRPr lang="en-US" sz="750" dirty="0"/>
          </a:p>
        </p:txBody>
      </p:sp>
      <p:sp>
        <p:nvSpPr>
          <p:cNvPr id="147" name="Text 132"/>
          <p:cNvSpPr txBox="1"/>
          <p:nvPr/>
        </p:nvSpPr>
        <p:spPr>
          <a:xfrm>
            <a:off x="5312664" y="6382512"/>
            <a:ext cx="1188720" cy="237744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9525">
            <a:solidFill>
              <a:srgbClr val="7F7F7F"/>
            </a:solidFill>
            <a:prstDash val="dash"/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provided</a:t>
            </a:r>
            <a:endParaRPr lang="en-US" sz="750" dirty="0"/>
          </a:p>
        </p:txBody>
      </p:sp>
      <p:sp>
        <p:nvSpPr>
          <p:cNvPr id="148" name="Text 133"/>
          <p:cNvSpPr txBox="1"/>
          <p:nvPr/>
        </p:nvSpPr>
        <p:spPr>
          <a:xfrm>
            <a:off x="9281160" y="638251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hosted LLM applications are observed through vendor audit exports, identity, and data side access records.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Monitoring and Observability: Proposed Target State, Conceptual View</dc:title>
  <dc:subject>PptxGenJS Presentation</dc:subject>
  <dc:creator>PptxGenJS</dc:creator>
  <cp:lastModifiedBy>PptxGenJS</cp:lastModifiedBy>
  <cp:revision>1</cp:revision>
  <dcterms:created xsi:type="dcterms:W3CDTF">2026-09-25T14:27:10Z</dcterms:created>
  <dcterms:modified xsi:type="dcterms:W3CDTF">2026-09-25T14:27:10Z</dcterms:modified>
</cp:coreProperties>
</file>