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419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09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Monitoring and Observability: Proposed Target State, Conceptual View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7315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731520"/>
            <a:ext cx="1005840" cy="804672"/>
          </a:xfrm>
          <a:prstGeom prst="roundRect">
            <a:avLst>
              <a:gd name="adj" fmla="val 6818"/>
            </a:avLst>
          </a:prstGeom>
          <a:solidFill>
            <a:srgbClr val="E7E6E6"/>
          </a:solidFill>
          <a:ln w="6350">
            <a:solidFill>
              <a:srgbClr val="E7E6E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 in Scope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17320" y="731520"/>
            <a:ext cx="10469880" cy="804672"/>
          </a:xfrm>
          <a:prstGeom prst="roundRect">
            <a:avLst>
              <a:gd name="adj" fmla="val 6818"/>
            </a:avLst>
          </a:prstGeom>
          <a:solidFill>
            <a:srgbClr val="F9F9F9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435608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Assist Pro</a:t>
            </a:r>
            <a:endParaRPr lang="en-US" sz="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848" y="10424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35608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RBC gateway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2240983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AgilLink</a:t>
            </a:r>
            <a:endParaRPr lang="en-US" sz="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223" y="104241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40983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RBC gateway</a:t>
            </a:r>
            <a:endParaRPr lang="en-US" sz="650" dirty="0"/>
          </a:p>
        </p:txBody>
      </p:sp>
      <p:sp>
        <p:nvSpPr>
          <p:cNvPr id="12" name="Text 8"/>
          <p:cNvSpPr txBox="1"/>
          <p:nvPr/>
        </p:nvSpPr>
        <p:spPr>
          <a:xfrm>
            <a:off x="3046359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Rovo AI</a:t>
            </a:r>
            <a:endParaRPr lang="en-US" sz="7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3598" y="104241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46359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RBC gateway</a:t>
            </a:r>
            <a:endParaRPr lang="en-US" sz="650" dirty="0"/>
          </a:p>
        </p:txBody>
      </p:sp>
      <p:sp>
        <p:nvSpPr>
          <p:cNvPr id="15" name="Text 10"/>
          <p:cNvSpPr txBox="1"/>
          <p:nvPr/>
        </p:nvSpPr>
        <p:spPr>
          <a:xfrm>
            <a:off x="3851734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</a:t>
            </a:r>
            <a:endParaRPr lang="en-US" sz="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8974" y="104241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851734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RBC gateway</a:t>
            </a:r>
            <a:endParaRPr lang="en-US" sz="650" dirty="0"/>
          </a:p>
        </p:txBody>
      </p:sp>
      <p:sp>
        <p:nvSpPr>
          <p:cNvPr id="18" name="Text 12"/>
          <p:cNvSpPr txBox="1"/>
          <p:nvPr/>
        </p:nvSpPr>
        <p:spPr>
          <a:xfrm>
            <a:off x="4657110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</a:t>
            </a:r>
            <a:endParaRPr lang="en-US" sz="7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4349" y="1042416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657110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650" dirty="0"/>
          </a:p>
        </p:txBody>
      </p:sp>
      <p:sp>
        <p:nvSpPr>
          <p:cNvPr id="21" name="Text 14"/>
          <p:cNvSpPr txBox="1"/>
          <p:nvPr/>
        </p:nvSpPr>
        <p:spPr>
          <a:xfrm>
            <a:off x="5462485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nCino Banking Advisor</a:t>
            </a:r>
            <a:endParaRPr lang="en-US" sz="7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9725" y="1042416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462485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650" dirty="0"/>
          </a:p>
        </p:txBody>
      </p:sp>
      <p:sp>
        <p:nvSpPr>
          <p:cNvPr id="24" name="Text 16"/>
          <p:cNvSpPr txBox="1"/>
          <p:nvPr/>
        </p:nvSpPr>
        <p:spPr>
          <a:xfrm>
            <a:off x="6267860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Emburse</a:t>
            </a:r>
            <a:endParaRPr lang="en-US" sz="7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1042416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267860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650" dirty="0"/>
          </a:p>
        </p:txBody>
      </p:sp>
      <p:sp>
        <p:nvSpPr>
          <p:cNvPr id="27" name="Text 18"/>
          <p:cNvSpPr txBox="1"/>
          <p:nvPr/>
        </p:nvSpPr>
        <p:spPr>
          <a:xfrm>
            <a:off x="7073236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(EDD)</a:t>
            </a:r>
            <a:endParaRPr lang="en-US" sz="7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20475" y="1042416"/>
            <a:ext cx="274320" cy="27432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073236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650" dirty="0"/>
          </a:p>
        </p:txBody>
      </p:sp>
      <p:sp>
        <p:nvSpPr>
          <p:cNvPr id="30" name="Text 20"/>
          <p:cNvSpPr txBox="1"/>
          <p:nvPr/>
        </p:nvSpPr>
        <p:spPr>
          <a:xfrm>
            <a:off x="7878611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7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5851" y="1042416"/>
            <a:ext cx="274320" cy="27432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878611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tenant</a:t>
            </a:r>
            <a:endParaRPr lang="en-US" sz="650" dirty="0"/>
          </a:p>
        </p:txBody>
      </p:sp>
      <p:sp>
        <p:nvSpPr>
          <p:cNvPr id="33" name="Text 22"/>
          <p:cNvSpPr txBox="1"/>
          <p:nvPr/>
        </p:nvSpPr>
        <p:spPr>
          <a:xfrm>
            <a:off x="8683986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7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31226" y="1042416"/>
            <a:ext cx="274320" cy="27432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683986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</a:t>
            </a:r>
            <a:endParaRPr lang="en-US" sz="650" dirty="0"/>
          </a:p>
        </p:txBody>
      </p:sp>
      <p:sp>
        <p:nvSpPr>
          <p:cNvPr id="36" name="Text 24"/>
          <p:cNvSpPr txBox="1"/>
          <p:nvPr/>
        </p:nvSpPr>
        <p:spPr>
          <a:xfrm>
            <a:off x="9489362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</a:t>
            </a:r>
            <a:endParaRPr lang="en-US" sz="700" dirty="0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36602" y="1042416"/>
            <a:ext cx="274320" cy="27432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489362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evaluation</a:t>
            </a:r>
            <a:endParaRPr lang="en-US" sz="650" dirty="0"/>
          </a:p>
        </p:txBody>
      </p:sp>
      <p:sp>
        <p:nvSpPr>
          <p:cNvPr id="39" name="Text 26"/>
          <p:cNvSpPr txBox="1"/>
          <p:nvPr/>
        </p:nvSpPr>
        <p:spPr>
          <a:xfrm>
            <a:off x="10294737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Assist</a:t>
            </a:r>
            <a:endParaRPr lang="en-US" sz="7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1977" y="1042416"/>
            <a:ext cx="274320" cy="27432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10294737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650" dirty="0"/>
          </a:p>
        </p:txBody>
      </p:sp>
      <p:sp>
        <p:nvSpPr>
          <p:cNvPr id="42" name="Text 28"/>
          <p:cNvSpPr txBox="1"/>
          <p:nvPr/>
        </p:nvSpPr>
        <p:spPr>
          <a:xfrm>
            <a:off x="11100113" y="768096"/>
            <a:ext cx="768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Omilia Voice Biometrics</a:t>
            </a:r>
            <a:endParaRPr lang="en-US" sz="700" dirty="0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47352" y="1042416"/>
            <a:ext cx="274320" cy="274320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11100113" y="1335024"/>
            <a:ext cx="7687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confirm, non LLM</a:t>
            </a:r>
            <a:endParaRPr lang="en-US" sz="650" dirty="0"/>
          </a:p>
        </p:txBody>
      </p:sp>
      <p:sp>
        <p:nvSpPr>
          <p:cNvPr id="45" name="Shape 30"/>
          <p:cNvSpPr/>
          <p:nvPr/>
        </p:nvSpPr>
        <p:spPr>
          <a:xfrm>
            <a:off x="10285593" y="749808"/>
            <a:ext cx="1583319" cy="768096"/>
          </a:xfrm>
          <a:prstGeom prst="roundRect">
            <a:avLst>
              <a:gd name="adj" fmla="val 5952"/>
            </a:avLst>
          </a:prstGeom>
          <a:ln w="12700">
            <a:solidFill>
              <a:srgbClr val="C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1"/>
          <p:cNvSpPr/>
          <p:nvPr/>
        </p:nvSpPr>
        <p:spPr>
          <a:xfrm>
            <a:off x="274320" y="1572768"/>
            <a:ext cx="1051560" cy="4663440"/>
          </a:xfrm>
          <a:prstGeom prst="roundRect">
            <a:avLst>
              <a:gd name="adj" fmla="val 6957"/>
            </a:avLst>
          </a:prstGeom>
          <a:ln w="12700">
            <a:solidFill>
              <a:srgbClr val="1F4E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2"/>
          <p:cNvSpPr txBox="1"/>
          <p:nvPr/>
        </p:nvSpPr>
        <p:spPr>
          <a:xfrm>
            <a:off x="292608" y="1627632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Chain</a:t>
            </a:r>
            <a:endParaRPr lang="en-US" sz="850" dirty="0"/>
          </a:p>
        </p:txBody>
      </p:sp>
      <p:sp>
        <p:nvSpPr>
          <p:cNvPr id="48" name="Text 33"/>
          <p:cNvSpPr txBox="1"/>
          <p:nvPr/>
        </p:nvSpPr>
        <p:spPr>
          <a:xfrm>
            <a:off x="384048" y="1938528"/>
            <a:ext cx="402336" cy="841248"/>
          </a:xfrm>
          <a:prstGeom prst="roundRect">
            <a:avLst>
              <a:gd name="adj" fmla="val 13636"/>
            </a:avLst>
          </a:prstGeom>
          <a:solidFill>
            <a:srgbClr val="E7E6E6"/>
          </a:solidFill>
          <a:ln w="6350">
            <a:solidFill>
              <a:srgbClr val="E7E6E6"/>
            </a:solidFill>
          </a:ln>
        </p:spPr>
        <p:txBody>
          <a:bodyPr vert="vert270"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gateway path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700" dirty="0"/>
          </a:p>
        </p:txBody>
      </p:sp>
      <p:sp>
        <p:nvSpPr>
          <p:cNvPr id="49" name="Text 34"/>
          <p:cNvSpPr txBox="1"/>
          <p:nvPr/>
        </p:nvSpPr>
        <p:spPr>
          <a:xfrm>
            <a:off x="384048" y="2852928"/>
            <a:ext cx="402336" cy="841248"/>
          </a:xfrm>
          <a:prstGeom prst="roundRect">
            <a:avLst>
              <a:gd name="adj" fmla="val 13636"/>
            </a:avLst>
          </a:prstGeom>
          <a:solidFill>
            <a:srgbClr val="E7E6E6"/>
          </a:solidFill>
          <a:ln w="6350">
            <a:solidFill>
              <a:srgbClr val="E7E6E6"/>
            </a:solidFill>
          </a:ln>
        </p:spPr>
        <p:txBody>
          <a:bodyPr vert="vert270"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 built on Foundry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tools</a:t>
            </a:r>
            <a:endParaRPr lang="en-US" sz="700" dirty="0"/>
          </a:p>
        </p:txBody>
      </p:sp>
      <p:sp>
        <p:nvSpPr>
          <p:cNvPr id="50" name="Shape 35"/>
          <p:cNvSpPr/>
          <p:nvPr/>
        </p:nvSpPr>
        <p:spPr>
          <a:xfrm>
            <a:off x="877824" y="2103120"/>
            <a:ext cx="384048" cy="512064"/>
          </a:xfrm>
          <a:prstGeom prst="rightArrow">
            <a:avLst/>
          </a:prstGeom>
          <a:solidFill>
            <a:srgbClr val="1F4E9C"/>
          </a:solidFill>
          <a:ln w="6350">
            <a:solidFill>
              <a:srgbClr val="1F4E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6"/>
          <p:cNvSpPr txBox="1"/>
          <p:nvPr/>
        </p:nvSpPr>
        <p:spPr>
          <a:xfrm>
            <a:off x="320040" y="3977640"/>
            <a:ext cx="411480" cy="155448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52" name="Text 37"/>
          <p:cNvSpPr txBox="1"/>
          <p:nvPr/>
        </p:nvSpPr>
        <p:spPr>
          <a:xfrm>
            <a:off x="320040" y="5577840"/>
            <a:ext cx="411480" cy="676656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750" dirty="0"/>
          </a:p>
        </p:txBody>
      </p:sp>
      <p:sp>
        <p:nvSpPr>
          <p:cNvPr id="53" name="Text 38"/>
          <p:cNvSpPr txBox="1"/>
          <p:nvPr/>
        </p:nvSpPr>
        <p:spPr>
          <a:xfrm>
            <a:off x="1417320" y="1627632"/>
            <a:ext cx="1550561" cy="411480"/>
          </a:xfrm>
          <a:prstGeom prst="rect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850" dirty="0"/>
          </a:p>
        </p:txBody>
      </p:sp>
      <p:sp>
        <p:nvSpPr>
          <p:cNvPr id="54" name="Text 39"/>
          <p:cNvSpPr txBox="1"/>
          <p:nvPr/>
        </p:nvSpPr>
        <p:spPr>
          <a:xfrm>
            <a:off x="2858153" y="1627632"/>
            <a:ext cx="1550561" cy="411480"/>
          </a:xfrm>
          <a:prstGeom prst="chevron">
            <a:avLst/>
          </a:prstGeom>
          <a:solidFill>
            <a:srgbClr val="5B9BD5"/>
          </a:solidFill>
          <a:ln w="9525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Control</a:t>
            </a:r>
            <a:endParaRPr lang="en-US" sz="850" dirty="0"/>
          </a:p>
        </p:txBody>
      </p:sp>
      <p:sp>
        <p:nvSpPr>
          <p:cNvPr id="55" name="Text 40"/>
          <p:cNvSpPr txBox="1"/>
          <p:nvPr/>
        </p:nvSpPr>
        <p:spPr>
          <a:xfrm>
            <a:off x="4353850" y="1627632"/>
            <a:ext cx="1550561" cy="411480"/>
          </a:xfrm>
          <a:prstGeom prst="chevron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Redact</a:t>
            </a:r>
            <a:endParaRPr lang="en-US" sz="850" dirty="0"/>
          </a:p>
        </p:txBody>
      </p:sp>
      <p:sp>
        <p:nvSpPr>
          <p:cNvPr id="56" name="Text 41"/>
          <p:cNvSpPr txBox="1"/>
          <p:nvPr/>
        </p:nvSpPr>
        <p:spPr>
          <a:xfrm>
            <a:off x="5849547" y="1627632"/>
            <a:ext cx="1550561" cy="411480"/>
          </a:xfrm>
          <a:prstGeom prst="chevron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Retain</a:t>
            </a:r>
            <a:endParaRPr lang="en-US" sz="850" dirty="0"/>
          </a:p>
        </p:txBody>
      </p:sp>
      <p:sp>
        <p:nvSpPr>
          <p:cNvPr id="57" name="Text 42"/>
          <p:cNvSpPr txBox="1"/>
          <p:nvPr/>
        </p:nvSpPr>
        <p:spPr>
          <a:xfrm>
            <a:off x="7345245" y="1627632"/>
            <a:ext cx="1550561" cy="411480"/>
          </a:xfrm>
          <a:prstGeom prst="chevron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&amp; Evaluate</a:t>
            </a:r>
            <a:endParaRPr lang="en-US" sz="850" dirty="0"/>
          </a:p>
        </p:txBody>
      </p:sp>
      <p:sp>
        <p:nvSpPr>
          <p:cNvPr id="58" name="Text 43"/>
          <p:cNvSpPr txBox="1"/>
          <p:nvPr/>
        </p:nvSpPr>
        <p:spPr>
          <a:xfrm>
            <a:off x="8840942" y="1627632"/>
            <a:ext cx="1550561" cy="411480"/>
          </a:xfrm>
          <a:prstGeom prst="chevron">
            <a:avLst/>
          </a:prstGeom>
          <a:solidFill>
            <a:srgbClr val="5B9BD5"/>
          </a:solidFill>
          <a:ln w="9525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&amp; Act</a:t>
            </a:r>
            <a:endParaRPr lang="en-US" sz="850" dirty="0"/>
          </a:p>
        </p:txBody>
      </p:sp>
      <p:sp>
        <p:nvSpPr>
          <p:cNvPr id="59" name="Text 44"/>
          <p:cNvSpPr txBox="1"/>
          <p:nvPr/>
        </p:nvSpPr>
        <p:spPr>
          <a:xfrm>
            <a:off x="10336639" y="1627632"/>
            <a:ext cx="1550561" cy="411480"/>
          </a:xfrm>
          <a:prstGeom prst="chevron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Report</a:t>
            </a:r>
            <a:endParaRPr lang="en-US" sz="850" dirty="0"/>
          </a:p>
        </p:txBody>
      </p:sp>
      <p:sp>
        <p:nvSpPr>
          <p:cNvPr id="60" name="Text 45"/>
          <p:cNvSpPr txBox="1"/>
          <p:nvPr/>
        </p:nvSpPr>
        <p:spPr>
          <a:xfrm>
            <a:off x="1444752" y="212140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GenAI spans for every model and tool call</a:t>
            </a:r>
            <a:endParaRPr lang="en-US" sz="750" dirty="0"/>
          </a:p>
        </p:txBody>
      </p:sp>
      <p:sp>
        <p:nvSpPr>
          <p:cNvPr id="61" name="Text 46"/>
          <p:cNvSpPr txBox="1"/>
          <p:nvPr/>
        </p:nvSpPr>
        <p:spPr>
          <a:xfrm>
            <a:off x="1444752" y="253288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audit exports (standard enterprise feeds)</a:t>
            </a:r>
            <a:endParaRPr lang="en-US" sz="750" dirty="0"/>
          </a:p>
        </p:txBody>
      </p:sp>
      <p:sp>
        <p:nvSpPr>
          <p:cNvPr id="62" name="Text 47"/>
          <p:cNvSpPr txBox="1"/>
          <p:nvPr/>
        </p:nvSpPr>
        <p:spPr>
          <a:xfrm>
            <a:off x="1444752" y="294436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feeds: metadata, gateway telemetry for CNB apps</a:t>
            </a:r>
            <a:endParaRPr lang="en-US" sz="750" dirty="0"/>
          </a:p>
        </p:txBody>
      </p:sp>
      <p:sp>
        <p:nvSpPr>
          <p:cNvPr id="63" name="Text 48"/>
          <p:cNvSpPr txBox="1"/>
          <p:nvPr/>
        </p:nvSpPr>
        <p:spPr>
          <a:xfrm>
            <a:off x="1444752" y="335584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Copilot audit; Claude Code OTLP</a:t>
            </a:r>
            <a:endParaRPr lang="en-US" sz="750" dirty="0"/>
          </a:p>
        </p:txBody>
      </p:sp>
      <p:sp>
        <p:nvSpPr>
          <p:cNvPr id="64" name="Text 49"/>
          <p:cNvSpPr txBox="1"/>
          <p:nvPr/>
        </p:nvSpPr>
        <p:spPr>
          <a:xfrm>
            <a:off x="2940449" y="212140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in front of CNB built model calls and CNB MCP tools</a:t>
            </a:r>
            <a:endParaRPr lang="en-US" sz="750" dirty="0"/>
          </a:p>
        </p:txBody>
      </p:sp>
      <p:sp>
        <p:nvSpPr>
          <p:cNvPr id="65" name="Text 50"/>
          <p:cNvSpPr txBox="1"/>
          <p:nvPr/>
        </p:nvSpPr>
        <p:spPr>
          <a:xfrm>
            <a:off x="2940449" y="253288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quotas and prompt token limits per app</a:t>
            </a:r>
            <a:endParaRPr lang="en-US" sz="750" dirty="0"/>
          </a:p>
        </p:txBody>
      </p:sp>
      <p:sp>
        <p:nvSpPr>
          <p:cNvPr id="66" name="Text 51"/>
          <p:cNvSpPr txBox="1"/>
          <p:nvPr/>
        </p:nvSpPr>
        <p:spPr>
          <a:xfrm>
            <a:off x="2940449" y="294436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Armor: prompt injection, jailbreak, sensitive data</a:t>
            </a:r>
            <a:endParaRPr lang="en-US" sz="750" dirty="0"/>
          </a:p>
        </p:txBody>
      </p:sp>
      <p:sp>
        <p:nvSpPr>
          <p:cNvPr id="67" name="Text 52"/>
          <p:cNvSpPr txBox="1"/>
          <p:nvPr/>
        </p:nvSpPr>
        <p:spPr>
          <a:xfrm>
            <a:off x="2940449" y="335584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allowlists; caller, tool, or server disable</a:t>
            </a:r>
            <a:endParaRPr lang="en-US" sz="750" dirty="0"/>
          </a:p>
        </p:txBody>
      </p:sp>
      <p:sp>
        <p:nvSpPr>
          <p:cNvPr id="68" name="Text 53"/>
          <p:cNvSpPr txBox="1"/>
          <p:nvPr/>
        </p:nvSpPr>
        <p:spPr>
          <a:xfrm>
            <a:off x="4436146" y="212140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fleet receives OTLP and audit pulls</a:t>
            </a:r>
            <a:endParaRPr lang="en-US" sz="750" dirty="0"/>
          </a:p>
        </p:txBody>
      </p:sp>
      <p:sp>
        <p:nvSpPr>
          <p:cNvPr id="69" name="Text 54"/>
          <p:cNvSpPr txBox="1"/>
          <p:nvPr/>
        </p:nvSpPr>
        <p:spPr>
          <a:xfrm>
            <a:off x="4436146" y="253288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allowlist; keyed hashing of user IDs</a:t>
            </a:r>
            <a:endParaRPr lang="en-US" sz="750" dirty="0"/>
          </a:p>
        </p:txBody>
      </p:sp>
      <p:sp>
        <p:nvSpPr>
          <p:cNvPr id="70" name="Text 55"/>
          <p:cNvSpPr txBox="1"/>
          <p:nvPr/>
        </p:nvSpPr>
        <p:spPr>
          <a:xfrm>
            <a:off x="4436146" y="294436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sampling keeps errors and policy events</a:t>
            </a:r>
            <a:endParaRPr lang="en-US" sz="750" dirty="0"/>
          </a:p>
        </p:txBody>
      </p:sp>
      <p:sp>
        <p:nvSpPr>
          <p:cNvPr id="71" name="Text 56"/>
          <p:cNvSpPr txBox="1"/>
          <p:nvPr/>
        </p:nvSpPr>
        <p:spPr>
          <a:xfrm>
            <a:off x="4436146" y="335584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with CNB population and use case</a:t>
            </a:r>
            <a:endParaRPr lang="en-US" sz="750" dirty="0"/>
          </a:p>
        </p:txBody>
      </p:sp>
      <p:sp>
        <p:nvSpPr>
          <p:cNvPr id="72" name="Text 57"/>
          <p:cNvSpPr txBox="1"/>
          <p:nvPr/>
        </p:nvSpPr>
        <p:spPr>
          <a:xfrm>
            <a:off x="5931843" y="212140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hot path, retention in weeks</a:t>
            </a:r>
            <a:endParaRPr lang="en-US" sz="750" dirty="0"/>
          </a:p>
        </p:txBody>
      </p:sp>
      <p:sp>
        <p:nvSpPr>
          <p:cNvPr id="73" name="Text 58"/>
          <p:cNvSpPr txBox="1"/>
          <p:nvPr/>
        </p:nvSpPr>
        <p:spPr>
          <a:xfrm>
            <a:off x="5931843" y="253288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system of record, records schedule</a:t>
            </a:r>
            <a:endParaRPr lang="en-US" sz="750" dirty="0"/>
          </a:p>
        </p:txBody>
      </p:sp>
      <p:sp>
        <p:nvSpPr>
          <p:cNvPr id="74" name="Text 59"/>
          <p:cNvSpPr txBox="1"/>
          <p:nvPr/>
        </p:nvSpPr>
        <p:spPr>
          <a:xfrm>
            <a:off x="5931843" y="294436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joins: ACCESS_HISTORY, employee mapping</a:t>
            </a:r>
            <a:endParaRPr lang="en-US" sz="750" dirty="0"/>
          </a:p>
        </p:txBody>
      </p:sp>
      <p:sp>
        <p:nvSpPr>
          <p:cNvPr id="75" name="Text 60"/>
          <p:cNvSpPr txBox="1"/>
          <p:nvPr/>
        </p:nvSpPr>
        <p:spPr>
          <a:xfrm>
            <a:off x="5931843" y="335584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and completions only where opted in</a:t>
            </a:r>
            <a:endParaRPr lang="en-US" sz="750" dirty="0"/>
          </a:p>
        </p:txBody>
      </p:sp>
      <p:sp>
        <p:nvSpPr>
          <p:cNvPr id="76" name="Text 61"/>
          <p:cNvSpPr txBox="1"/>
          <p:nvPr/>
        </p:nvSpPr>
        <p:spPr>
          <a:xfrm>
            <a:off x="7427541" y="212140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 case latency, errors, tokens, cost</a:t>
            </a:r>
            <a:endParaRPr lang="en-US" sz="750" dirty="0"/>
          </a:p>
        </p:txBody>
      </p:sp>
      <p:sp>
        <p:nvSpPr>
          <p:cNvPr id="77" name="Text 62"/>
          <p:cNvSpPr txBox="1"/>
          <p:nvPr/>
        </p:nvSpPr>
        <p:spPr>
          <a:xfrm>
            <a:off x="7427541" y="253288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and live evaluations, quality floors</a:t>
            </a:r>
            <a:endParaRPr lang="en-US" sz="750" dirty="0"/>
          </a:p>
        </p:txBody>
      </p:sp>
      <p:sp>
        <p:nvSpPr>
          <p:cNvPr id="78" name="Text 63"/>
          <p:cNvSpPr txBox="1"/>
          <p:nvPr/>
        </p:nvSpPr>
        <p:spPr>
          <a:xfrm>
            <a:off x="7427541" y="294436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review and model allowlist conformance</a:t>
            </a:r>
            <a:endParaRPr lang="en-US" sz="750" dirty="0"/>
          </a:p>
        </p:txBody>
      </p:sp>
      <p:sp>
        <p:nvSpPr>
          <p:cNvPr id="79" name="Text 64"/>
          <p:cNvSpPr txBox="1"/>
          <p:nvPr/>
        </p:nvSpPr>
        <p:spPr>
          <a:xfrm>
            <a:off x="7427541" y="335584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LLM apps: usage and outcome metrics only</a:t>
            </a:r>
            <a:endParaRPr lang="en-US" sz="750" dirty="0"/>
          </a:p>
        </p:txBody>
      </p:sp>
      <p:sp>
        <p:nvSpPr>
          <p:cNvPr id="80" name="Text 65"/>
          <p:cNvSpPr txBox="1"/>
          <p:nvPr/>
        </p:nvSpPr>
        <p:spPr>
          <a:xfrm>
            <a:off x="8923238" y="212140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Monitors: token spend, tool anomalies, quality floor</a:t>
            </a:r>
            <a:endParaRPr lang="en-US" sz="750" dirty="0"/>
          </a:p>
        </p:txBody>
      </p:sp>
      <p:sp>
        <p:nvSpPr>
          <p:cNvPr id="81" name="Text 66"/>
          <p:cNvSpPr txBox="1"/>
          <p:nvPr/>
        </p:nvSpPr>
        <p:spPr>
          <a:xfrm>
            <a:off x="8923238" y="253288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call paging and tickets by severity</a:t>
            </a:r>
            <a:endParaRPr lang="en-US" sz="750" dirty="0"/>
          </a:p>
        </p:txBody>
      </p:sp>
      <p:sp>
        <p:nvSpPr>
          <p:cNvPr id="82" name="Text 67"/>
          <p:cNvSpPr txBox="1"/>
          <p:nvPr/>
        </p:nvSpPr>
        <p:spPr>
          <a:xfrm>
            <a:off x="8923238" y="294436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runbook by class</a:t>
            </a:r>
            <a:endParaRPr lang="en-US" sz="750" dirty="0"/>
          </a:p>
        </p:txBody>
      </p:sp>
      <p:sp>
        <p:nvSpPr>
          <p:cNvPr id="83" name="Text 68"/>
          <p:cNvSpPr txBox="1"/>
          <p:nvPr/>
        </p:nvSpPr>
        <p:spPr>
          <a:xfrm>
            <a:off x="8923238" y="335584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to RBC for Assist Pro</a:t>
            </a:r>
            <a:endParaRPr lang="en-US" sz="750" dirty="0"/>
          </a:p>
        </p:txBody>
      </p:sp>
      <p:sp>
        <p:nvSpPr>
          <p:cNvPr id="84" name="Text 69"/>
          <p:cNvSpPr txBox="1"/>
          <p:nvPr/>
        </p:nvSpPr>
        <p:spPr>
          <a:xfrm>
            <a:off x="10418935" y="212140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Compliance audit views</a:t>
            </a:r>
            <a:endParaRPr lang="en-US" sz="750" dirty="0"/>
          </a:p>
        </p:txBody>
      </p:sp>
      <p:sp>
        <p:nvSpPr>
          <p:cNvPr id="85" name="Text 70"/>
          <p:cNvSpPr txBox="1"/>
          <p:nvPr/>
        </p:nvSpPr>
        <p:spPr>
          <a:xfrm>
            <a:off x="10418935" y="253288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action recorded</a:t>
            </a:r>
            <a:endParaRPr lang="en-US" sz="750" dirty="0"/>
          </a:p>
        </p:txBody>
      </p:sp>
      <p:sp>
        <p:nvSpPr>
          <p:cNvPr id="86" name="Text 71"/>
          <p:cNvSpPr txBox="1"/>
          <p:nvPr/>
        </p:nvSpPr>
        <p:spPr>
          <a:xfrm>
            <a:off x="10418935" y="294436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reporting under RBC operating model</a:t>
            </a:r>
            <a:endParaRPr lang="en-US" sz="750" dirty="0"/>
          </a:p>
        </p:txBody>
      </p:sp>
      <p:sp>
        <p:nvSpPr>
          <p:cNvPr id="87" name="Text 72"/>
          <p:cNvSpPr txBox="1"/>
          <p:nvPr/>
        </p:nvSpPr>
        <p:spPr>
          <a:xfrm>
            <a:off x="10418935" y="3355848"/>
            <a:ext cx="1440833" cy="37490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mapping (separate deliverable)</a:t>
            </a:r>
            <a:endParaRPr lang="en-US" sz="750" dirty="0"/>
          </a:p>
        </p:txBody>
      </p:sp>
      <p:sp>
        <p:nvSpPr>
          <p:cNvPr id="88" name="Shape 73"/>
          <p:cNvSpPr/>
          <p:nvPr/>
        </p:nvSpPr>
        <p:spPr>
          <a:xfrm>
            <a:off x="1417320" y="3803904"/>
            <a:ext cx="10469880" cy="0"/>
          </a:xfrm>
          <a:prstGeom prst="line">
            <a:avLst/>
          </a:prstGeom>
          <a:noFill/>
          <a:ln w="19050">
            <a:solidFill>
              <a:srgbClr val="1F4E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74"/>
          <p:cNvSpPr txBox="1"/>
          <p:nvPr/>
        </p:nvSpPr>
        <p:spPr>
          <a:xfrm>
            <a:off x="1481328" y="389534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SDKs</a:t>
            </a:r>
            <a:endParaRPr lang="en-US" sz="750" dirty="0"/>
          </a:p>
        </p:txBody>
      </p:sp>
      <p:sp>
        <p:nvSpPr>
          <p:cNvPr id="90" name="Text 75"/>
          <p:cNvSpPr txBox="1"/>
          <p:nvPr/>
        </p:nvSpPr>
        <p:spPr>
          <a:xfrm>
            <a:off x="1481328" y="4183380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semantic conventions</a:t>
            </a:r>
            <a:endParaRPr lang="en-US" sz="750" dirty="0"/>
          </a:p>
        </p:txBody>
      </p:sp>
      <p:sp>
        <p:nvSpPr>
          <p:cNvPr id="91" name="Text 76"/>
          <p:cNvSpPr txBox="1"/>
          <p:nvPr/>
        </p:nvSpPr>
        <p:spPr>
          <a:xfrm>
            <a:off x="1481328" y="4471416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audit exports</a:t>
            </a:r>
            <a:endParaRPr lang="en-US" sz="750" dirty="0"/>
          </a:p>
        </p:txBody>
      </p:sp>
      <p:sp>
        <p:nvSpPr>
          <p:cNvPr id="92" name="Text 77"/>
          <p:cNvSpPr txBox="1"/>
          <p:nvPr/>
        </p:nvSpPr>
        <p:spPr>
          <a:xfrm>
            <a:off x="1481328" y="4759452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</a:t>
            </a:r>
            <a:endParaRPr lang="en-US" sz="750" dirty="0"/>
          </a:p>
        </p:txBody>
      </p:sp>
      <p:sp>
        <p:nvSpPr>
          <p:cNvPr id="93" name="Text 78"/>
          <p:cNvSpPr txBox="1"/>
          <p:nvPr/>
        </p:nvSpPr>
        <p:spPr>
          <a:xfrm>
            <a:off x="1481328" y="5047488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telemetry</a:t>
            </a:r>
            <a:endParaRPr lang="en-US" sz="750" dirty="0"/>
          </a:p>
        </p:txBody>
      </p:sp>
      <p:sp>
        <p:nvSpPr>
          <p:cNvPr id="94" name="Text 79"/>
          <p:cNvSpPr txBox="1"/>
          <p:nvPr/>
        </p:nvSpPr>
        <p:spPr>
          <a:xfrm>
            <a:off x="1481328" y="533552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gateway feed</a:t>
            </a:r>
            <a:endParaRPr lang="en-US" sz="750" dirty="0"/>
          </a:p>
        </p:txBody>
      </p:sp>
      <p:sp>
        <p:nvSpPr>
          <p:cNvPr id="95" name="Text 80"/>
          <p:cNvSpPr txBox="1"/>
          <p:nvPr/>
        </p:nvSpPr>
        <p:spPr>
          <a:xfrm>
            <a:off x="2977025" y="389534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</a:t>
            </a:r>
            <a:endParaRPr lang="en-US" sz="750" dirty="0"/>
          </a:p>
        </p:txBody>
      </p:sp>
      <p:sp>
        <p:nvSpPr>
          <p:cNvPr id="96" name="Text 81"/>
          <p:cNvSpPr txBox="1"/>
          <p:nvPr/>
        </p:nvSpPr>
        <p:spPr>
          <a:xfrm>
            <a:off x="2977025" y="4183380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LLM token policies</a:t>
            </a:r>
            <a:endParaRPr lang="en-US" sz="750" dirty="0"/>
          </a:p>
        </p:txBody>
      </p:sp>
      <p:sp>
        <p:nvSpPr>
          <p:cNvPr id="97" name="Text 82"/>
          <p:cNvSpPr txBox="1"/>
          <p:nvPr/>
        </p:nvSpPr>
        <p:spPr>
          <a:xfrm>
            <a:off x="2977025" y="4471416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Armor policies</a:t>
            </a:r>
            <a:endParaRPr lang="en-US" sz="750" dirty="0"/>
          </a:p>
        </p:txBody>
      </p:sp>
      <p:sp>
        <p:nvSpPr>
          <p:cNvPr id="98" name="Text 83"/>
          <p:cNvSpPr txBox="1"/>
          <p:nvPr/>
        </p:nvSpPr>
        <p:spPr>
          <a:xfrm>
            <a:off x="2977025" y="4759452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MCP endpoints</a:t>
            </a:r>
            <a:endParaRPr lang="en-US" sz="750" dirty="0"/>
          </a:p>
        </p:txBody>
      </p:sp>
      <p:sp>
        <p:nvSpPr>
          <p:cNvPr id="99" name="Text 84"/>
          <p:cNvSpPr txBox="1"/>
          <p:nvPr/>
        </p:nvSpPr>
        <p:spPr>
          <a:xfrm>
            <a:off x="2977025" y="5047488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750" dirty="0"/>
          </a:p>
        </p:txBody>
      </p:sp>
      <p:sp>
        <p:nvSpPr>
          <p:cNvPr id="100" name="Text 85"/>
          <p:cNvSpPr txBox="1"/>
          <p:nvPr/>
        </p:nvSpPr>
        <p:spPr>
          <a:xfrm>
            <a:off x="2977025" y="533552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</a:t>
            </a:r>
            <a:endParaRPr lang="en-US" sz="750" dirty="0"/>
          </a:p>
        </p:txBody>
      </p:sp>
      <p:sp>
        <p:nvSpPr>
          <p:cNvPr id="101" name="Text 86"/>
          <p:cNvSpPr txBox="1"/>
          <p:nvPr/>
        </p:nvSpPr>
        <p:spPr>
          <a:xfrm>
            <a:off x="4472722" y="389534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fleet</a:t>
            </a:r>
            <a:endParaRPr lang="en-US" sz="750" dirty="0"/>
          </a:p>
        </p:txBody>
      </p:sp>
      <p:sp>
        <p:nvSpPr>
          <p:cNvPr id="102" name="Text 87"/>
          <p:cNvSpPr txBox="1"/>
          <p:nvPr/>
        </p:nvSpPr>
        <p:spPr>
          <a:xfrm>
            <a:off x="4472722" y="4183380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and hashing</a:t>
            </a:r>
            <a:endParaRPr lang="en-US" sz="750" dirty="0"/>
          </a:p>
        </p:txBody>
      </p:sp>
      <p:sp>
        <p:nvSpPr>
          <p:cNvPr id="103" name="Text 88"/>
          <p:cNvSpPr txBox="1"/>
          <p:nvPr/>
        </p:nvSpPr>
        <p:spPr>
          <a:xfrm>
            <a:off x="4472722" y="4471416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sampling</a:t>
            </a:r>
            <a:endParaRPr lang="en-US" sz="750" dirty="0"/>
          </a:p>
        </p:txBody>
      </p:sp>
      <p:sp>
        <p:nvSpPr>
          <p:cNvPr id="104" name="Text 89"/>
          <p:cNvSpPr txBox="1"/>
          <p:nvPr/>
        </p:nvSpPr>
        <p:spPr>
          <a:xfrm>
            <a:off x="4472722" y="4759452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and Snowpipe</a:t>
            </a:r>
            <a:endParaRPr lang="en-US" sz="750" dirty="0"/>
          </a:p>
        </p:txBody>
      </p:sp>
      <p:sp>
        <p:nvSpPr>
          <p:cNvPr id="105" name="Text 90"/>
          <p:cNvSpPr txBox="1"/>
          <p:nvPr/>
        </p:nvSpPr>
        <p:spPr>
          <a:xfrm>
            <a:off x="5968419" y="389534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750" dirty="0"/>
          </a:p>
        </p:txBody>
      </p:sp>
      <p:sp>
        <p:nvSpPr>
          <p:cNvPr id="106" name="Text 91"/>
          <p:cNvSpPr txBox="1"/>
          <p:nvPr/>
        </p:nvSpPr>
        <p:spPr>
          <a:xfrm>
            <a:off x="5968419" y="4183380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750" dirty="0"/>
          </a:p>
        </p:txBody>
      </p:sp>
      <p:sp>
        <p:nvSpPr>
          <p:cNvPr id="107" name="Text 92"/>
          <p:cNvSpPr txBox="1"/>
          <p:nvPr/>
        </p:nvSpPr>
        <p:spPr>
          <a:xfrm>
            <a:off x="5968419" y="4471416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</a:t>
            </a:r>
            <a:endParaRPr lang="en-US" sz="750" dirty="0"/>
          </a:p>
        </p:txBody>
      </p:sp>
      <p:sp>
        <p:nvSpPr>
          <p:cNvPr id="108" name="Text 93"/>
          <p:cNvSpPr txBox="1"/>
          <p:nvPr/>
        </p:nvSpPr>
        <p:spPr>
          <a:xfrm>
            <a:off x="5968419" y="4759452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schema</a:t>
            </a:r>
            <a:endParaRPr lang="en-US" sz="750" dirty="0"/>
          </a:p>
        </p:txBody>
      </p:sp>
      <p:sp>
        <p:nvSpPr>
          <p:cNvPr id="109" name="Text 94"/>
          <p:cNvSpPr txBox="1"/>
          <p:nvPr/>
        </p:nvSpPr>
        <p:spPr>
          <a:xfrm>
            <a:off x="7464117" y="389534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dashboards</a:t>
            </a:r>
            <a:endParaRPr lang="en-US" sz="750" dirty="0"/>
          </a:p>
        </p:txBody>
      </p:sp>
      <p:sp>
        <p:nvSpPr>
          <p:cNvPr id="110" name="Text 95"/>
          <p:cNvSpPr txBox="1"/>
          <p:nvPr/>
        </p:nvSpPr>
        <p:spPr>
          <a:xfrm>
            <a:off x="7464117" y="4183380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Observability</a:t>
            </a:r>
            <a:endParaRPr lang="en-US" sz="750" dirty="0"/>
          </a:p>
        </p:txBody>
      </p:sp>
      <p:sp>
        <p:nvSpPr>
          <p:cNvPr id="111" name="Text 96"/>
          <p:cNvSpPr txBox="1"/>
          <p:nvPr/>
        </p:nvSpPr>
        <p:spPr>
          <a:xfrm>
            <a:off x="7464117" y="4471416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Observability</a:t>
            </a:r>
            <a:endParaRPr lang="en-US" sz="750" dirty="0"/>
          </a:p>
        </p:txBody>
      </p:sp>
      <p:sp>
        <p:nvSpPr>
          <p:cNvPr id="112" name="Text 97"/>
          <p:cNvSpPr txBox="1"/>
          <p:nvPr/>
        </p:nvSpPr>
        <p:spPr>
          <a:xfrm>
            <a:off x="7464117" y="4759452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self hosted</a:t>
            </a:r>
            <a:endParaRPr lang="en-US" sz="750" dirty="0"/>
          </a:p>
        </p:txBody>
      </p:sp>
      <p:sp>
        <p:nvSpPr>
          <p:cNvPr id="113" name="Text 98"/>
          <p:cNvSpPr txBox="1"/>
          <p:nvPr/>
        </p:nvSpPr>
        <p:spPr>
          <a:xfrm>
            <a:off x="7464117" y="5047488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 hosted</a:t>
            </a:r>
            <a:endParaRPr lang="en-US" sz="750" dirty="0"/>
          </a:p>
        </p:txBody>
      </p:sp>
      <p:sp>
        <p:nvSpPr>
          <p:cNvPr id="114" name="Text 99"/>
          <p:cNvSpPr txBox="1"/>
          <p:nvPr/>
        </p:nvSpPr>
        <p:spPr>
          <a:xfrm>
            <a:off x="7464117" y="533552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Evals and Pantheon</a:t>
            </a:r>
            <a:endParaRPr lang="en-US" sz="750" dirty="0"/>
          </a:p>
        </p:txBody>
      </p:sp>
      <p:sp>
        <p:nvSpPr>
          <p:cNvPr id="115" name="Text 100"/>
          <p:cNvSpPr txBox="1"/>
          <p:nvPr/>
        </p:nvSpPr>
        <p:spPr>
          <a:xfrm>
            <a:off x="8959814" y="389534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monitors</a:t>
            </a:r>
            <a:endParaRPr lang="en-US" sz="750" dirty="0"/>
          </a:p>
        </p:txBody>
      </p:sp>
      <p:sp>
        <p:nvSpPr>
          <p:cNvPr id="116" name="Text 101"/>
          <p:cNvSpPr txBox="1"/>
          <p:nvPr/>
        </p:nvSpPr>
        <p:spPr>
          <a:xfrm>
            <a:off x="8959814" y="4183380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(confirm)</a:t>
            </a:r>
            <a:endParaRPr lang="en-US" sz="750" dirty="0"/>
          </a:p>
        </p:txBody>
      </p:sp>
      <p:sp>
        <p:nvSpPr>
          <p:cNvPr id="117" name="Text 102"/>
          <p:cNvSpPr txBox="1"/>
          <p:nvPr/>
        </p:nvSpPr>
        <p:spPr>
          <a:xfrm>
            <a:off x="8959814" y="4471416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runbook</a:t>
            </a:r>
            <a:endParaRPr lang="en-US" sz="750" dirty="0"/>
          </a:p>
        </p:txBody>
      </p:sp>
      <p:sp>
        <p:nvSpPr>
          <p:cNvPr id="118" name="Text 103"/>
          <p:cNvSpPr txBox="1"/>
          <p:nvPr/>
        </p:nvSpPr>
        <p:spPr>
          <a:xfrm>
            <a:off x="8959814" y="4759452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policy actions</a:t>
            </a:r>
            <a:endParaRPr lang="en-US" sz="750" dirty="0"/>
          </a:p>
        </p:txBody>
      </p:sp>
      <p:sp>
        <p:nvSpPr>
          <p:cNvPr id="119" name="Text 104"/>
          <p:cNvSpPr txBox="1"/>
          <p:nvPr/>
        </p:nvSpPr>
        <p:spPr>
          <a:xfrm>
            <a:off x="8959814" y="5047488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conditional access</a:t>
            </a:r>
            <a:endParaRPr lang="en-US" sz="750" dirty="0"/>
          </a:p>
        </p:txBody>
      </p:sp>
      <p:sp>
        <p:nvSpPr>
          <p:cNvPr id="120" name="Text 105"/>
          <p:cNvSpPr txBox="1"/>
          <p:nvPr/>
        </p:nvSpPr>
        <p:spPr>
          <a:xfrm>
            <a:off x="8959814" y="533552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escalation path</a:t>
            </a:r>
            <a:endParaRPr lang="en-US" sz="750" dirty="0"/>
          </a:p>
        </p:txBody>
      </p:sp>
      <p:sp>
        <p:nvSpPr>
          <p:cNvPr id="121" name="Text 106"/>
          <p:cNvSpPr txBox="1"/>
          <p:nvPr/>
        </p:nvSpPr>
        <p:spPr>
          <a:xfrm>
            <a:off x="10455511" y="3895344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audit views</a:t>
            </a:r>
            <a:endParaRPr lang="en-US" sz="750" dirty="0"/>
          </a:p>
        </p:txBody>
      </p:sp>
      <p:sp>
        <p:nvSpPr>
          <p:cNvPr id="122" name="Text 107"/>
          <p:cNvSpPr txBox="1"/>
          <p:nvPr/>
        </p:nvSpPr>
        <p:spPr>
          <a:xfrm>
            <a:off x="10455511" y="4183380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ACCESS_HISTORY joins</a:t>
            </a:r>
            <a:endParaRPr lang="en-US" sz="750" dirty="0"/>
          </a:p>
        </p:txBody>
      </p:sp>
      <p:sp>
        <p:nvSpPr>
          <p:cNvPr id="123" name="Text 108"/>
          <p:cNvSpPr txBox="1"/>
          <p:nvPr/>
        </p:nvSpPr>
        <p:spPr>
          <a:xfrm>
            <a:off x="10455511" y="4471416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 or Power BI</a:t>
            </a:r>
            <a:endParaRPr lang="en-US" sz="750" dirty="0"/>
          </a:p>
        </p:txBody>
      </p:sp>
      <p:sp>
        <p:nvSpPr>
          <p:cNvPr id="124" name="Text 109"/>
          <p:cNvSpPr txBox="1"/>
          <p:nvPr/>
        </p:nvSpPr>
        <p:spPr>
          <a:xfrm>
            <a:off x="10455511" y="4759452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audit</a:t>
            </a:r>
            <a:endParaRPr lang="en-US" sz="750" dirty="0"/>
          </a:p>
        </p:txBody>
      </p:sp>
      <p:sp>
        <p:nvSpPr>
          <p:cNvPr id="125" name="Text 110"/>
          <p:cNvSpPr txBox="1"/>
          <p:nvPr/>
        </p:nvSpPr>
        <p:spPr>
          <a:xfrm>
            <a:off x="10455511" y="5047488"/>
            <a:ext cx="1367681" cy="246888"/>
          </a:xfrm>
          <a:prstGeom prst="roundRect">
            <a:avLst>
              <a:gd name="adj" fmla="val 14815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management reporting</a:t>
            </a:r>
            <a:endParaRPr lang="en-US" sz="750" dirty="0"/>
          </a:p>
        </p:txBody>
      </p:sp>
      <p:sp>
        <p:nvSpPr>
          <p:cNvPr id="126" name="Shape 111"/>
          <p:cNvSpPr/>
          <p:nvPr/>
        </p:nvSpPr>
        <p:spPr>
          <a:xfrm>
            <a:off x="1417320" y="5705856"/>
            <a:ext cx="10469880" cy="530352"/>
          </a:xfrm>
          <a:prstGeom prst="roundRect">
            <a:avLst>
              <a:gd name="adj" fmla="val 10345"/>
            </a:avLst>
          </a:prstGeom>
          <a:ln w="12700">
            <a:solidFill>
              <a:srgbClr val="1F4E9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12"/>
          <p:cNvSpPr txBox="1"/>
          <p:nvPr/>
        </p:nvSpPr>
        <p:spPr>
          <a:xfrm>
            <a:off x="1472184" y="5806440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as a Service (IDaaS, Entitlement Engine)</a:t>
            </a:r>
            <a:endParaRPr lang="en-US" sz="750" dirty="0"/>
          </a:p>
        </p:txBody>
      </p:sp>
      <p:sp>
        <p:nvSpPr>
          <p:cNvPr id="128" name="Text 113"/>
          <p:cNvSpPr txBox="1"/>
          <p:nvPr/>
        </p:nvSpPr>
        <p:spPr>
          <a:xfrm>
            <a:off x="3214116" y="5806440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(API gateway standard)</a:t>
            </a:r>
            <a:endParaRPr lang="en-US" sz="750" dirty="0"/>
          </a:p>
        </p:txBody>
      </p:sp>
      <p:sp>
        <p:nvSpPr>
          <p:cNvPr id="129" name="Text 114"/>
          <p:cNvSpPr txBox="1"/>
          <p:nvPr/>
        </p:nvSpPr>
        <p:spPr>
          <a:xfrm>
            <a:off x="4956048" y="5806440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(system of record)</a:t>
            </a:r>
            <a:endParaRPr lang="en-US" sz="750" dirty="0"/>
          </a:p>
        </p:txBody>
      </p:sp>
      <p:sp>
        <p:nvSpPr>
          <p:cNvPr id="130" name="Text 115"/>
          <p:cNvSpPr txBox="1"/>
          <p:nvPr/>
        </p:nvSpPr>
        <p:spPr>
          <a:xfrm>
            <a:off x="6697980" y="5806440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(observability platform)</a:t>
            </a:r>
            <a:endParaRPr lang="en-US" sz="750" dirty="0"/>
          </a:p>
        </p:txBody>
      </p:sp>
      <p:sp>
        <p:nvSpPr>
          <p:cNvPr id="131" name="Text 116"/>
          <p:cNvSpPr txBox="1"/>
          <p:nvPr/>
        </p:nvSpPr>
        <p:spPr>
          <a:xfrm>
            <a:off x="8439912" y="5806440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(telemetry standard)</a:t>
            </a:r>
            <a:endParaRPr lang="en-US" sz="750" dirty="0"/>
          </a:p>
        </p:txBody>
      </p:sp>
      <p:sp>
        <p:nvSpPr>
          <p:cNvPr id="132" name="Text 117"/>
          <p:cNvSpPr txBox="1"/>
          <p:nvPr/>
        </p:nvSpPr>
        <p:spPr>
          <a:xfrm>
            <a:off x="10181844" y="5806440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LLM Gateway (black box)</a:t>
            </a:r>
            <a:endParaRPr lang="en-US" sz="750" dirty="0"/>
          </a:p>
        </p:txBody>
      </p:sp>
      <p:sp>
        <p:nvSpPr>
          <p:cNvPr id="133" name="Text 118"/>
          <p:cNvSpPr txBox="1"/>
          <p:nvPr/>
        </p:nvSpPr>
        <p:spPr>
          <a:xfrm>
            <a:off x="320040" y="6382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134" name="Text 119"/>
          <p:cNvSpPr txBox="1"/>
          <p:nvPr/>
        </p:nvSpPr>
        <p:spPr>
          <a:xfrm>
            <a:off x="1417320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1F4E9C"/>
          </a:solidFill>
          <a:ln w="6350">
            <a:solidFill>
              <a:srgbClr val="1F4E9C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stage</a:t>
            </a:r>
            <a:endParaRPr lang="en-US" sz="750" dirty="0"/>
          </a:p>
        </p:txBody>
      </p:sp>
      <p:sp>
        <p:nvSpPr>
          <p:cNvPr id="135" name="Text 120"/>
          <p:cNvSpPr txBox="1"/>
          <p:nvPr/>
        </p:nvSpPr>
        <p:spPr>
          <a:xfrm>
            <a:off x="2715768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stage</a:t>
            </a:r>
            <a:endParaRPr lang="en-US" sz="750" dirty="0"/>
          </a:p>
        </p:txBody>
      </p:sp>
      <p:sp>
        <p:nvSpPr>
          <p:cNvPr id="136" name="Text 121"/>
          <p:cNvSpPr txBox="1"/>
          <p:nvPr/>
        </p:nvSpPr>
        <p:spPr>
          <a:xfrm>
            <a:off x="4014216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137" name="Text 122"/>
          <p:cNvSpPr txBox="1"/>
          <p:nvPr/>
        </p:nvSpPr>
        <p:spPr>
          <a:xfrm>
            <a:off x="5312664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or not selected</a:t>
            </a:r>
            <a:endParaRPr lang="en-US" sz="750" dirty="0"/>
          </a:p>
        </p:txBody>
      </p:sp>
      <p:sp>
        <p:nvSpPr>
          <p:cNvPr id="138" name="Text 123"/>
          <p:cNvSpPr txBox="1"/>
          <p:nvPr/>
        </p:nvSpPr>
        <p:spPr>
          <a:xfrm>
            <a:off x="6611112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750" dirty="0"/>
          </a:p>
        </p:txBody>
      </p:sp>
      <p:sp>
        <p:nvSpPr>
          <p:cNvPr id="139" name="Text 124"/>
          <p:cNvSpPr txBox="1"/>
          <p:nvPr/>
        </p:nvSpPr>
        <p:spPr>
          <a:xfrm>
            <a:off x="7909560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provided</a:t>
            </a:r>
            <a:endParaRPr lang="en-US" sz="750" dirty="0"/>
          </a:p>
        </p:txBody>
      </p:sp>
      <p:sp>
        <p:nvSpPr>
          <p:cNvPr id="140" name="Text 125"/>
          <p:cNvSpPr txBox="1"/>
          <p:nvPr/>
        </p:nvSpPr>
        <p:spPr>
          <a:xfrm>
            <a:off x="9235440" y="6355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 applications are observed through vendor audit exports, identity, and data side access records.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507</Words>
  <Application>Microsoft Office PowerPoint</Application>
  <PresentationFormat>Widescreen</PresentationFormat>
  <Paragraphs>123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Monitoring and Observability: Proposed Target State, Conceptual View</dc:title>
  <dc:subject>PptxGenJS Presentation</dc:subject>
  <dc:creator>Muntaser Syed</dc:creator>
  <cp:lastModifiedBy>Muntaser Syed</cp:lastModifiedBy>
  <cp:revision>2</cp:revision>
  <dcterms:created xsi:type="dcterms:W3CDTF">2026-09-22T13:41:09Z</dcterms:created>
  <dcterms:modified xsi:type="dcterms:W3CDTF">2026-09-22T13:54:27Z</dcterms:modified>
</cp:coreProperties>
</file>