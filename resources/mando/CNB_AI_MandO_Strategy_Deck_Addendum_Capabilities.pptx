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0" y="0"/>
            <a:ext cx="8348472" cy="6858000"/>
          </a:xfrm>
          <a:prstGeom prst="rect">
            <a:avLst/>
          </a:prstGeom>
          <a:solidFill>
            <a:srgbClr val="E9EEF3"/>
          </a:solidFill>
          <a:ln w="12700">
            <a:solidFill>
              <a:srgbClr val="E9EEF3"/>
            </a:solidFill>
            <a:prstDash val="solid"/>
          </a:ln>
        </p:spPr>
      </p:sp>
      <p:pic>
        <p:nvPicPr>
          <p:cNvPr id="3"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4" name="Text 1"/>
          <p:cNvSpPr txBox="1"/>
          <p:nvPr/>
        </p:nvSpPr>
        <p:spPr>
          <a:xfrm>
            <a:off x="548640" y="2377440"/>
            <a:ext cx="3200400" cy="822960"/>
          </a:xfrm>
          <a:prstGeom prst="rect">
            <a:avLst/>
          </a:prstGeom>
          <a:noFill/>
          <a:ln/>
        </p:spPr>
        <p:txBody>
          <a:bodyPr wrap="square" lIns="0" tIns="0" rIns="0" bIns="0" rtlCol="0" anchor="ctr"/>
          <a:lstStyle/>
          <a:p>
            <a:pPr indent="0" marL="0">
              <a:buNone/>
            </a:pPr>
            <a:r>
              <a:rPr lang="en-US" sz="3600" dirty="0">
                <a:solidFill>
                  <a:srgbClr val="2E6DB4"/>
                </a:solidFill>
                <a:latin typeface="Arial" pitchFamily="34" charset="0"/>
                <a:ea typeface="Arial" pitchFamily="34" charset="-122"/>
                <a:cs typeface="Arial" pitchFamily="34" charset="-120"/>
              </a:rPr>
              <a:t>Addendum</a:t>
            </a:r>
            <a:endParaRPr lang="en-US" sz="3600" dirty="0"/>
          </a:p>
        </p:txBody>
      </p:sp>
      <p:sp>
        <p:nvSpPr>
          <p:cNvPr id="5" name="Text 2"/>
          <p:cNvSpPr txBox="1"/>
          <p:nvPr/>
        </p:nvSpPr>
        <p:spPr>
          <a:xfrm>
            <a:off x="548640" y="3200400"/>
            <a:ext cx="3200400" cy="1097280"/>
          </a:xfrm>
          <a:prstGeom prst="rect">
            <a:avLst/>
          </a:prstGeom>
          <a:noFill/>
          <a:ln/>
        </p:spPr>
        <p:txBody>
          <a:bodyPr wrap="square" lIns="0" tIns="0" rIns="0" bIns="0" rtlCol="0" anchor="t"/>
          <a:lstStyle/>
          <a:p>
            <a:pPr indent="0" marL="0">
              <a:buNone/>
            </a:pPr>
            <a:r>
              <a:rPr lang="en-US" sz="1800" dirty="0">
                <a:solidFill>
                  <a:srgbClr val="333333"/>
                </a:solidFill>
                <a:latin typeface="Arial" pitchFamily="34" charset="0"/>
                <a:ea typeface="Arial" pitchFamily="34" charset="-122"/>
                <a:cs typeface="Arial" pitchFamily="34" charset="-120"/>
              </a:rPr>
              <a:t>Capability Breakdown, Coverage by Tool, and Controls</a:t>
            </a:r>
            <a:endParaRPr lang="en-US" sz="1800" dirty="0"/>
          </a:p>
        </p:txBody>
      </p:sp>
      <p:sp>
        <p:nvSpPr>
          <p:cNvPr id="6" name="Text 3"/>
          <p:cNvSpPr txBox="1"/>
          <p:nvPr/>
        </p:nvSpPr>
        <p:spPr>
          <a:xfrm>
            <a:off x="548640" y="4389120"/>
            <a:ext cx="3200400" cy="1188720"/>
          </a:xfrm>
          <a:prstGeom prst="rect">
            <a:avLst/>
          </a:prstGeom>
          <a:noFill/>
          <a:ln/>
        </p:spPr>
        <p:txBody>
          <a:bodyPr wrap="square" lIns="0" tIns="0" rIns="0" bIns="0" rtlCol="0" anchor="t"/>
          <a:lstStyle/>
          <a:p>
            <a:pPr indent="0" marL="0">
              <a:buNone/>
            </a:pPr>
            <a:r>
              <a:rPr lang="en-US" sz="1100" i="1" dirty="0">
                <a:solidFill>
                  <a:srgbClr val="595959"/>
                </a:solidFill>
                <a:latin typeface="Arial" pitchFamily="34" charset="0"/>
                <a:ea typeface="Arial" pitchFamily="34" charset="-122"/>
                <a:cs typeface="Arial" pitchFamily="34" charset="-120"/>
              </a:rPr>
              <a:t>Capabilities exist across every version; the versions are generations of maturity. Some sub-capabilities cannot exist before V3 and are written down now.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400" dirty="0">
                <a:solidFill>
                  <a:srgbClr val="2E6DB4"/>
                </a:solidFill>
                <a:latin typeface="Arial" pitchFamily="34" charset="0"/>
                <a:ea typeface="Arial" pitchFamily="34" charset="-122"/>
                <a:cs typeface="Arial" pitchFamily="34" charset="-120"/>
              </a:rPr>
              <a:t>Capability Breakdown: Capabilities and Sub-capabilities</a:t>
            </a:r>
            <a:endParaRPr lang="en-US" sz="24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The overall page: a logical breakdown at a granularity that can be assigned to tools and controls</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sp>
        <p:nvSpPr>
          <p:cNvPr id="6" name="Shape 3"/>
          <p:cNvSpPr/>
          <p:nvPr/>
        </p:nvSpPr>
        <p:spPr>
          <a:xfrm>
            <a:off x="457200" y="1371600"/>
            <a:ext cx="1362456" cy="384048"/>
          </a:xfrm>
          <a:prstGeom prst="rect">
            <a:avLst/>
          </a:prstGeom>
          <a:solidFill>
            <a:srgbClr val="5B9BD5"/>
          </a:solidFill>
          <a:ln w="12700">
            <a:solidFill>
              <a:srgbClr val="5B9BD5"/>
            </a:solidFill>
            <a:prstDash val="solid"/>
          </a:ln>
        </p:spPr>
      </p:sp>
      <p:sp>
        <p:nvSpPr>
          <p:cNvPr id="7" name="Text 4"/>
          <p:cNvSpPr txBox="1"/>
          <p:nvPr/>
        </p:nvSpPr>
        <p:spPr>
          <a:xfrm>
            <a:off x="502920" y="1371600"/>
            <a:ext cx="1271016"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Usage and Access</a:t>
            </a:r>
            <a:endParaRPr lang="en-US" sz="950" dirty="0"/>
          </a:p>
        </p:txBody>
      </p:sp>
      <p:sp>
        <p:nvSpPr>
          <p:cNvPr id="8" name="Text 5"/>
          <p:cNvSpPr txBox="1"/>
          <p:nvPr/>
        </p:nvSpPr>
        <p:spPr>
          <a:xfrm>
            <a:off x="457200" y="1801368"/>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1.1 Application usage inventory: who uses which AI app, and how much</a:t>
            </a:r>
            <a:endParaRPr lang="en-US" sz="750" dirty="0"/>
          </a:p>
        </p:txBody>
      </p:sp>
      <p:sp>
        <p:nvSpPr>
          <p:cNvPr id="9" name="Text 6"/>
          <p:cNvSpPr txBox="1"/>
          <p:nvPr/>
        </p:nvSpPr>
        <p:spPr>
          <a:xfrm>
            <a:off x="457200" y="2368296"/>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1.2 User and session attribution on every interaction</a:t>
            </a:r>
            <a:endParaRPr lang="en-US" sz="750" dirty="0"/>
          </a:p>
        </p:txBody>
      </p:sp>
      <p:sp>
        <p:nvSpPr>
          <p:cNvPr id="10" name="Text 7"/>
          <p:cNvSpPr txBox="1"/>
          <p:nvPr/>
        </p:nvSpPr>
        <p:spPr>
          <a:xfrm>
            <a:off x="457200" y="2935224"/>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1.3 Entitlement and CNB population scoping</a:t>
            </a:r>
            <a:endParaRPr lang="en-US" sz="750" dirty="0"/>
          </a:p>
        </p:txBody>
      </p:sp>
      <p:sp>
        <p:nvSpPr>
          <p:cNvPr id="11" name="Text 8"/>
          <p:cNvSpPr txBox="1"/>
          <p:nvPr/>
        </p:nvSpPr>
        <p:spPr>
          <a:xfrm>
            <a:off x="457200" y="3502152"/>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1.4 Shadow AI and unsanctioned tool detection</a:t>
            </a:r>
            <a:endParaRPr lang="en-US" sz="750" dirty="0"/>
          </a:p>
        </p:txBody>
      </p:sp>
      <p:sp>
        <p:nvSpPr>
          <p:cNvPr id="12" name="Text 9"/>
          <p:cNvSpPr txBox="1"/>
          <p:nvPr/>
        </p:nvSpPr>
        <p:spPr>
          <a:xfrm>
            <a:off x="457200" y="4069080"/>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1.5 Access actions: conditional access, temporary suspension*, agent deletion*</a:t>
            </a:r>
            <a:endParaRPr lang="en-US" sz="750" dirty="0"/>
          </a:p>
        </p:txBody>
      </p:sp>
      <p:sp>
        <p:nvSpPr>
          <p:cNvPr id="13" name="Shape 10"/>
          <p:cNvSpPr/>
          <p:nvPr/>
        </p:nvSpPr>
        <p:spPr>
          <a:xfrm>
            <a:off x="1869948" y="1371600"/>
            <a:ext cx="1362456" cy="384048"/>
          </a:xfrm>
          <a:prstGeom prst="rect">
            <a:avLst/>
          </a:prstGeom>
          <a:solidFill>
            <a:srgbClr val="1F3864"/>
          </a:solidFill>
          <a:ln w="12700">
            <a:solidFill>
              <a:srgbClr val="1F3864"/>
            </a:solidFill>
            <a:prstDash val="solid"/>
          </a:ln>
        </p:spPr>
      </p:sp>
      <p:sp>
        <p:nvSpPr>
          <p:cNvPr id="14" name="Text 11"/>
          <p:cNvSpPr txBox="1"/>
          <p:nvPr/>
        </p:nvSpPr>
        <p:spPr>
          <a:xfrm>
            <a:off x="1915668" y="1371600"/>
            <a:ext cx="1271016"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Prompts and Content</a:t>
            </a:r>
            <a:endParaRPr lang="en-US" sz="950" dirty="0"/>
          </a:p>
        </p:txBody>
      </p:sp>
      <p:sp>
        <p:nvSpPr>
          <p:cNvPr id="15" name="Text 12"/>
          <p:cNvSpPr txBox="1"/>
          <p:nvPr/>
        </p:nvSpPr>
        <p:spPr>
          <a:xfrm>
            <a:off x="1869948" y="1801368"/>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2.1 Interaction logging*: prompt, response, tools called, associated user</a:t>
            </a:r>
            <a:endParaRPr lang="en-US" sz="750" dirty="0"/>
          </a:p>
        </p:txBody>
      </p:sp>
      <p:sp>
        <p:nvSpPr>
          <p:cNvPr id="16" name="Text 13"/>
          <p:cNvSpPr txBox="1"/>
          <p:nvPr/>
        </p:nvSpPr>
        <p:spPr>
          <a:xfrm>
            <a:off x="1869948" y="2368296"/>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2.2 Key word and toxic combination matching*</a:t>
            </a:r>
            <a:endParaRPr lang="en-US" sz="750" dirty="0"/>
          </a:p>
        </p:txBody>
      </p:sp>
      <p:sp>
        <p:nvSpPr>
          <p:cNvPr id="17" name="Text 14"/>
          <p:cNvSpPr txBox="1"/>
          <p:nvPr/>
        </p:nvSpPr>
        <p:spPr>
          <a:xfrm>
            <a:off x="1869948" y="2935224"/>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2.3 Semantic and sentiment analysis*</a:t>
            </a:r>
            <a:endParaRPr lang="en-US" sz="750" dirty="0"/>
          </a:p>
        </p:txBody>
      </p:sp>
      <p:sp>
        <p:nvSpPr>
          <p:cNvPr id="18" name="Text 15"/>
          <p:cNvSpPr txBox="1"/>
          <p:nvPr/>
        </p:nvSpPr>
        <p:spPr>
          <a:xfrm>
            <a:off x="1869948" y="3502152"/>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2.4 Injection, jailbreak, and sensitive data detection</a:t>
            </a:r>
            <a:endParaRPr lang="en-US" sz="750" dirty="0"/>
          </a:p>
        </p:txBody>
      </p:sp>
      <p:sp>
        <p:nvSpPr>
          <p:cNvPr id="19" name="Text 16"/>
          <p:cNvSpPr txBox="1"/>
          <p:nvPr/>
        </p:nvSpPr>
        <p:spPr>
          <a:xfrm>
            <a:off x="1869948" y="4069080"/>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2.5 New pattern identification*</a:t>
            </a:r>
            <a:endParaRPr lang="en-US" sz="750" dirty="0"/>
          </a:p>
        </p:txBody>
      </p:sp>
      <p:sp>
        <p:nvSpPr>
          <p:cNvPr id="20" name="Text 17"/>
          <p:cNvSpPr txBox="1"/>
          <p:nvPr/>
        </p:nvSpPr>
        <p:spPr>
          <a:xfrm>
            <a:off x="1869948" y="4636008"/>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2.6 In-line warning and real time messaging*</a:t>
            </a:r>
            <a:endParaRPr lang="en-US" sz="750" dirty="0"/>
          </a:p>
        </p:txBody>
      </p:sp>
      <p:sp>
        <p:nvSpPr>
          <p:cNvPr id="21" name="Text 18"/>
          <p:cNvSpPr txBox="1"/>
          <p:nvPr/>
        </p:nvSpPr>
        <p:spPr>
          <a:xfrm>
            <a:off x="1869948" y="5202936"/>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2.7 Real time censoring and blocking*</a:t>
            </a:r>
            <a:endParaRPr lang="en-US" sz="750" dirty="0"/>
          </a:p>
        </p:txBody>
      </p:sp>
      <p:sp>
        <p:nvSpPr>
          <p:cNvPr id="22" name="Shape 19"/>
          <p:cNvSpPr/>
          <p:nvPr/>
        </p:nvSpPr>
        <p:spPr>
          <a:xfrm>
            <a:off x="3282696" y="1371600"/>
            <a:ext cx="1362456" cy="384048"/>
          </a:xfrm>
          <a:prstGeom prst="rect">
            <a:avLst/>
          </a:prstGeom>
          <a:solidFill>
            <a:srgbClr val="1F3864"/>
          </a:solidFill>
          <a:ln w="12700">
            <a:solidFill>
              <a:srgbClr val="1F3864"/>
            </a:solidFill>
            <a:prstDash val="solid"/>
          </a:ln>
        </p:spPr>
      </p:sp>
      <p:sp>
        <p:nvSpPr>
          <p:cNvPr id="23" name="Text 20"/>
          <p:cNvSpPr txBox="1"/>
          <p:nvPr/>
        </p:nvSpPr>
        <p:spPr>
          <a:xfrm>
            <a:off x="3328416" y="1371600"/>
            <a:ext cx="1271016"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Agents and Tool Calls</a:t>
            </a:r>
            <a:endParaRPr lang="en-US" sz="950" dirty="0"/>
          </a:p>
        </p:txBody>
      </p:sp>
      <p:sp>
        <p:nvSpPr>
          <p:cNvPr id="24" name="Text 21"/>
          <p:cNvSpPr txBox="1"/>
          <p:nvPr/>
        </p:nvSpPr>
        <p:spPr>
          <a:xfrm>
            <a:off x="3282696" y="1801368"/>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3.1 Tool call logging with user attribution</a:t>
            </a:r>
            <a:endParaRPr lang="en-US" sz="750" dirty="0"/>
          </a:p>
        </p:txBody>
      </p:sp>
      <p:sp>
        <p:nvSpPr>
          <p:cNvPr id="25" name="Text 22"/>
          <p:cNvSpPr txBox="1"/>
          <p:nvPr/>
        </p:nvSpPr>
        <p:spPr>
          <a:xfrm>
            <a:off x="3282696" y="2368296"/>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3.2 Agent registry and ownership (agent builder*)</a:t>
            </a:r>
            <a:endParaRPr lang="en-US" sz="750" dirty="0"/>
          </a:p>
        </p:txBody>
      </p:sp>
      <p:sp>
        <p:nvSpPr>
          <p:cNvPr id="26" name="Text 23"/>
          <p:cNvSpPr txBox="1"/>
          <p:nvPr/>
        </p:nvSpPr>
        <p:spPr>
          <a:xfrm>
            <a:off x="3282696" y="2935224"/>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3.3 Token metering and thresholds</a:t>
            </a:r>
            <a:endParaRPr lang="en-US" sz="750" dirty="0"/>
          </a:p>
        </p:txBody>
      </p:sp>
      <p:sp>
        <p:nvSpPr>
          <p:cNvPr id="27" name="Text 24"/>
          <p:cNvSpPr txBox="1"/>
          <p:nvPr/>
        </p:nvSpPr>
        <p:spPr>
          <a:xfrm>
            <a:off x="3282696" y="3502152"/>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3.4 Tool allowlists and authorization</a:t>
            </a:r>
            <a:endParaRPr lang="en-US" sz="750" dirty="0"/>
          </a:p>
        </p:txBody>
      </p:sp>
      <p:sp>
        <p:nvSpPr>
          <p:cNvPr id="28" name="Text 25"/>
          <p:cNvSpPr txBox="1"/>
          <p:nvPr/>
        </p:nvSpPr>
        <p:spPr>
          <a:xfrm>
            <a:off x="3282696" y="4069080"/>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3.5 In-line termination: the kill switch</a:t>
            </a:r>
            <a:endParaRPr lang="en-US" sz="750" dirty="0"/>
          </a:p>
        </p:txBody>
      </p:sp>
      <p:sp>
        <p:nvSpPr>
          <p:cNvPr id="29" name="Text 26"/>
          <p:cNvSpPr txBox="1"/>
          <p:nvPr/>
        </p:nvSpPr>
        <p:spPr>
          <a:xfrm>
            <a:off x="3282696" y="4636008"/>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3.6 Agent to agent and MCP chain tracing</a:t>
            </a:r>
            <a:endParaRPr lang="en-US" sz="750" dirty="0"/>
          </a:p>
        </p:txBody>
      </p:sp>
      <p:sp>
        <p:nvSpPr>
          <p:cNvPr id="30" name="Shape 27"/>
          <p:cNvSpPr/>
          <p:nvPr/>
        </p:nvSpPr>
        <p:spPr>
          <a:xfrm>
            <a:off x="4695444" y="1371600"/>
            <a:ext cx="1362456" cy="384048"/>
          </a:xfrm>
          <a:prstGeom prst="rect">
            <a:avLst/>
          </a:prstGeom>
          <a:solidFill>
            <a:srgbClr val="1F3864"/>
          </a:solidFill>
          <a:ln w="12700">
            <a:solidFill>
              <a:srgbClr val="1F3864"/>
            </a:solidFill>
            <a:prstDash val="solid"/>
          </a:ln>
        </p:spPr>
      </p:sp>
      <p:sp>
        <p:nvSpPr>
          <p:cNvPr id="31" name="Text 28"/>
          <p:cNvSpPr txBox="1"/>
          <p:nvPr/>
        </p:nvSpPr>
        <p:spPr>
          <a:xfrm>
            <a:off x="4741164" y="1371600"/>
            <a:ext cx="1271016"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Retrieval and Data (RAG)</a:t>
            </a:r>
            <a:endParaRPr lang="en-US" sz="950" dirty="0"/>
          </a:p>
        </p:txBody>
      </p:sp>
      <p:sp>
        <p:nvSpPr>
          <p:cNvPr id="32" name="Text 29"/>
          <p:cNvSpPr txBox="1"/>
          <p:nvPr/>
        </p:nvSpPr>
        <p:spPr>
          <a:xfrm>
            <a:off x="4695444" y="1801368"/>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4.1 Retrieval traces: documents, chunks, embeddings, scores</a:t>
            </a:r>
            <a:endParaRPr lang="en-US" sz="750" dirty="0"/>
          </a:p>
        </p:txBody>
      </p:sp>
      <p:sp>
        <p:nvSpPr>
          <p:cNvPr id="33" name="Text 30"/>
          <p:cNvSpPr txBox="1"/>
          <p:nvPr/>
        </p:nvSpPr>
        <p:spPr>
          <a:xfrm>
            <a:off x="4695444" y="2368296"/>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4.2 Retrieval query audit</a:t>
            </a:r>
            <a:endParaRPr lang="en-US" sz="750" dirty="0"/>
          </a:p>
        </p:txBody>
      </p:sp>
      <p:sp>
        <p:nvSpPr>
          <p:cNvPr id="34" name="Text 31"/>
          <p:cNvSpPr txBox="1"/>
          <p:nvPr/>
        </p:nvSpPr>
        <p:spPr>
          <a:xfrm>
            <a:off x="4695444" y="2935224"/>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4.3 Data access records</a:t>
            </a:r>
            <a:endParaRPr lang="en-US" sz="750" dirty="0"/>
          </a:p>
        </p:txBody>
      </p:sp>
      <p:sp>
        <p:nvSpPr>
          <p:cNvPr id="35" name="Text 32"/>
          <p:cNvSpPr txBox="1"/>
          <p:nvPr/>
        </p:nvSpPr>
        <p:spPr>
          <a:xfrm>
            <a:off x="4695444" y="3502152"/>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4.4 Entitlement check on retrieved content</a:t>
            </a:r>
            <a:endParaRPr lang="en-US" sz="750" dirty="0"/>
          </a:p>
        </p:txBody>
      </p:sp>
      <p:sp>
        <p:nvSpPr>
          <p:cNvPr id="36" name="Text 33"/>
          <p:cNvSpPr txBox="1"/>
          <p:nvPr/>
        </p:nvSpPr>
        <p:spPr>
          <a:xfrm>
            <a:off x="4695444" y="4069080"/>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4.5 Index and embedding version tracking</a:t>
            </a:r>
            <a:endParaRPr lang="en-US" sz="750" dirty="0"/>
          </a:p>
        </p:txBody>
      </p:sp>
      <p:sp>
        <p:nvSpPr>
          <p:cNvPr id="37" name="Shape 34"/>
          <p:cNvSpPr/>
          <p:nvPr/>
        </p:nvSpPr>
        <p:spPr>
          <a:xfrm>
            <a:off x="6108192" y="1371600"/>
            <a:ext cx="1362456" cy="384048"/>
          </a:xfrm>
          <a:prstGeom prst="rect">
            <a:avLst/>
          </a:prstGeom>
          <a:solidFill>
            <a:srgbClr val="5B9BD5"/>
          </a:solidFill>
          <a:ln w="12700">
            <a:solidFill>
              <a:srgbClr val="5B9BD5"/>
            </a:solidFill>
            <a:prstDash val="solid"/>
          </a:ln>
        </p:spPr>
      </p:sp>
      <p:sp>
        <p:nvSpPr>
          <p:cNvPr id="38" name="Text 35"/>
          <p:cNvSpPr txBox="1"/>
          <p:nvPr/>
        </p:nvSpPr>
        <p:spPr>
          <a:xfrm>
            <a:off x="6153912" y="1371600"/>
            <a:ext cx="1271016"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Quality and Drift</a:t>
            </a:r>
            <a:endParaRPr lang="en-US" sz="950" dirty="0"/>
          </a:p>
        </p:txBody>
      </p:sp>
      <p:sp>
        <p:nvSpPr>
          <p:cNvPr id="39" name="Text 36"/>
          <p:cNvSpPr txBox="1"/>
          <p:nvPr/>
        </p:nvSpPr>
        <p:spPr>
          <a:xfrm>
            <a:off x="6108192" y="1801368"/>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5.1 Evaluation baselines and scores</a:t>
            </a:r>
            <a:endParaRPr lang="en-US" sz="750" dirty="0"/>
          </a:p>
        </p:txBody>
      </p:sp>
      <p:sp>
        <p:nvSpPr>
          <p:cNvPr id="40" name="Text 37"/>
          <p:cNvSpPr txBox="1"/>
          <p:nvPr/>
        </p:nvSpPr>
        <p:spPr>
          <a:xfrm>
            <a:off x="6108192" y="2368296"/>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5.2 Verification of AI output*</a:t>
            </a:r>
            <a:endParaRPr lang="en-US" sz="750" dirty="0"/>
          </a:p>
        </p:txBody>
      </p:sp>
      <p:sp>
        <p:nvSpPr>
          <p:cNvPr id="41" name="Text 38"/>
          <p:cNvSpPr txBox="1"/>
          <p:nvPr/>
        </p:nvSpPr>
        <p:spPr>
          <a:xfrm>
            <a:off x="6108192" y="2935224"/>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5.3 Session review* and user review*</a:t>
            </a:r>
            <a:endParaRPr lang="en-US" sz="750" dirty="0"/>
          </a:p>
        </p:txBody>
      </p:sp>
      <p:sp>
        <p:nvSpPr>
          <p:cNvPr id="42" name="Text 39"/>
          <p:cNvSpPr txBox="1"/>
          <p:nvPr/>
        </p:nvSpPr>
        <p:spPr>
          <a:xfrm>
            <a:off x="6108192" y="3502152"/>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5.4 Adversarial review*</a:t>
            </a:r>
            <a:endParaRPr lang="en-US" sz="750" dirty="0"/>
          </a:p>
        </p:txBody>
      </p:sp>
      <p:sp>
        <p:nvSpPr>
          <p:cNvPr id="43" name="Text 40"/>
          <p:cNvSpPr txBox="1"/>
          <p:nvPr/>
        </p:nvSpPr>
        <p:spPr>
          <a:xfrm>
            <a:off x="6108192" y="4069080"/>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5.5 Drift and version change detection</a:t>
            </a:r>
            <a:endParaRPr lang="en-US" sz="750" dirty="0"/>
          </a:p>
        </p:txBody>
      </p:sp>
      <p:sp>
        <p:nvSpPr>
          <p:cNvPr id="44" name="Text 41"/>
          <p:cNvSpPr txBox="1"/>
          <p:nvPr/>
        </p:nvSpPr>
        <p:spPr>
          <a:xfrm>
            <a:off x="6108192" y="4636008"/>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5.6 Sustainability review*</a:t>
            </a:r>
            <a:endParaRPr lang="en-US" sz="750" dirty="0"/>
          </a:p>
        </p:txBody>
      </p:sp>
      <p:sp>
        <p:nvSpPr>
          <p:cNvPr id="45" name="Shape 42"/>
          <p:cNvSpPr/>
          <p:nvPr/>
        </p:nvSpPr>
        <p:spPr>
          <a:xfrm>
            <a:off x="7520940" y="1371600"/>
            <a:ext cx="1362456" cy="384048"/>
          </a:xfrm>
          <a:prstGeom prst="rect">
            <a:avLst/>
          </a:prstGeom>
          <a:solidFill>
            <a:srgbClr val="5B9BD5"/>
          </a:solidFill>
          <a:ln w="12700">
            <a:solidFill>
              <a:srgbClr val="5B9BD5"/>
            </a:solidFill>
            <a:prstDash val="solid"/>
          </a:ln>
        </p:spPr>
      </p:sp>
      <p:sp>
        <p:nvSpPr>
          <p:cNvPr id="46" name="Text 43"/>
          <p:cNvSpPr txBox="1"/>
          <p:nvPr/>
        </p:nvSpPr>
        <p:spPr>
          <a:xfrm>
            <a:off x="7566660" y="1371600"/>
            <a:ext cx="1271016"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Cost and Performance</a:t>
            </a:r>
            <a:endParaRPr lang="en-US" sz="950" dirty="0"/>
          </a:p>
        </p:txBody>
      </p:sp>
      <p:sp>
        <p:nvSpPr>
          <p:cNvPr id="47" name="Text 44"/>
          <p:cNvSpPr txBox="1"/>
          <p:nvPr/>
        </p:nvSpPr>
        <p:spPr>
          <a:xfrm>
            <a:off x="7520940" y="1801368"/>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6.1 Token and spend attribution</a:t>
            </a:r>
            <a:endParaRPr lang="en-US" sz="750" dirty="0"/>
          </a:p>
        </p:txBody>
      </p:sp>
      <p:sp>
        <p:nvSpPr>
          <p:cNvPr id="48" name="Text 45"/>
          <p:cNvSpPr txBox="1"/>
          <p:nvPr/>
        </p:nvSpPr>
        <p:spPr>
          <a:xfrm>
            <a:off x="7520940" y="2368296"/>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6.2 Latency, error, and availability monitoring</a:t>
            </a:r>
            <a:endParaRPr lang="en-US" sz="750" dirty="0"/>
          </a:p>
        </p:txBody>
      </p:sp>
      <p:sp>
        <p:nvSpPr>
          <p:cNvPr id="49" name="Text 46"/>
          <p:cNvSpPr txBox="1"/>
          <p:nvPr/>
        </p:nvSpPr>
        <p:spPr>
          <a:xfrm>
            <a:off x="7520940" y="2935224"/>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6.3 Quota and capacity headroom</a:t>
            </a:r>
            <a:endParaRPr lang="en-US" sz="750" dirty="0"/>
          </a:p>
        </p:txBody>
      </p:sp>
      <p:sp>
        <p:nvSpPr>
          <p:cNvPr id="50" name="Text 47"/>
          <p:cNvSpPr txBox="1"/>
          <p:nvPr/>
        </p:nvSpPr>
        <p:spPr>
          <a:xfrm>
            <a:off x="7520940" y="3502152"/>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6.4 Vendor SLA tracking</a:t>
            </a:r>
            <a:endParaRPr lang="en-US" sz="750" dirty="0"/>
          </a:p>
        </p:txBody>
      </p:sp>
      <p:sp>
        <p:nvSpPr>
          <p:cNvPr id="51" name="Text 48"/>
          <p:cNvSpPr txBox="1"/>
          <p:nvPr/>
        </p:nvSpPr>
        <p:spPr>
          <a:xfrm>
            <a:off x="7520940" y="4069080"/>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6.5 Cost anomaly detection and throttling</a:t>
            </a:r>
            <a:endParaRPr lang="en-US" sz="750" dirty="0"/>
          </a:p>
        </p:txBody>
      </p:sp>
      <p:sp>
        <p:nvSpPr>
          <p:cNvPr id="52" name="Shape 49"/>
          <p:cNvSpPr/>
          <p:nvPr/>
        </p:nvSpPr>
        <p:spPr>
          <a:xfrm>
            <a:off x="8933688" y="1371600"/>
            <a:ext cx="1362456" cy="384048"/>
          </a:xfrm>
          <a:prstGeom prst="rect">
            <a:avLst/>
          </a:prstGeom>
          <a:solidFill>
            <a:srgbClr val="1F3864"/>
          </a:solidFill>
          <a:ln w="12700">
            <a:solidFill>
              <a:srgbClr val="1F3864"/>
            </a:solidFill>
            <a:prstDash val="solid"/>
          </a:ln>
        </p:spPr>
      </p:sp>
      <p:sp>
        <p:nvSpPr>
          <p:cNvPr id="53" name="Text 50"/>
          <p:cNvSpPr txBox="1"/>
          <p:nvPr/>
        </p:nvSpPr>
        <p:spPr>
          <a:xfrm>
            <a:off x="8979408" y="1371600"/>
            <a:ext cx="1271016"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Security and Threats</a:t>
            </a:r>
            <a:endParaRPr lang="en-US" sz="950" dirty="0"/>
          </a:p>
        </p:txBody>
      </p:sp>
      <p:sp>
        <p:nvSpPr>
          <p:cNvPr id="54" name="Text 51"/>
          <p:cNvSpPr txBox="1"/>
          <p:nvPr/>
        </p:nvSpPr>
        <p:spPr>
          <a:xfrm>
            <a:off x="8933688" y="1801368"/>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7.1 Exfiltration and secret exposure detection</a:t>
            </a:r>
            <a:endParaRPr lang="en-US" sz="750" dirty="0"/>
          </a:p>
        </p:txBody>
      </p:sp>
      <p:sp>
        <p:nvSpPr>
          <p:cNvPr id="55" name="Text 52"/>
          <p:cNvSpPr txBox="1"/>
          <p:nvPr/>
        </p:nvSpPr>
        <p:spPr>
          <a:xfrm>
            <a:off x="8933688" y="2368296"/>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7.2 Anomalous access and malicious tool call detection</a:t>
            </a:r>
            <a:endParaRPr lang="en-US" sz="750" dirty="0"/>
          </a:p>
        </p:txBody>
      </p:sp>
      <p:sp>
        <p:nvSpPr>
          <p:cNvPr id="56" name="Text 53"/>
          <p:cNvSpPr txBox="1"/>
          <p:nvPr/>
        </p:nvSpPr>
        <p:spPr>
          <a:xfrm>
            <a:off x="8933688" y="2935224"/>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7.3 Model and plugin provenance; allowlist conformance</a:t>
            </a:r>
            <a:endParaRPr lang="en-US" sz="750" dirty="0"/>
          </a:p>
        </p:txBody>
      </p:sp>
      <p:sp>
        <p:nvSpPr>
          <p:cNvPr id="57" name="Text 54"/>
          <p:cNvSpPr txBox="1"/>
          <p:nvPr/>
        </p:nvSpPr>
        <p:spPr>
          <a:xfrm>
            <a:off x="8933688" y="3502152"/>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7.4 SIEM integration and incident response</a:t>
            </a:r>
            <a:endParaRPr lang="en-US" sz="750" dirty="0"/>
          </a:p>
        </p:txBody>
      </p:sp>
      <p:sp>
        <p:nvSpPr>
          <p:cNvPr id="58" name="Text 55"/>
          <p:cNvSpPr txBox="1"/>
          <p:nvPr/>
        </p:nvSpPr>
        <p:spPr>
          <a:xfrm>
            <a:off x="8933688" y="4069080"/>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7.5 Vendor LLM security event feeds</a:t>
            </a:r>
            <a:endParaRPr lang="en-US" sz="750" dirty="0"/>
          </a:p>
        </p:txBody>
      </p:sp>
      <p:sp>
        <p:nvSpPr>
          <p:cNvPr id="59" name="Shape 56"/>
          <p:cNvSpPr/>
          <p:nvPr/>
        </p:nvSpPr>
        <p:spPr>
          <a:xfrm>
            <a:off x="10346436" y="1371600"/>
            <a:ext cx="1362456" cy="384048"/>
          </a:xfrm>
          <a:prstGeom prst="rect">
            <a:avLst/>
          </a:prstGeom>
          <a:solidFill>
            <a:srgbClr val="1F3864"/>
          </a:solidFill>
          <a:ln w="12700">
            <a:solidFill>
              <a:srgbClr val="1F3864"/>
            </a:solidFill>
            <a:prstDash val="solid"/>
          </a:ln>
        </p:spPr>
      </p:sp>
      <p:sp>
        <p:nvSpPr>
          <p:cNvPr id="60" name="Text 57"/>
          <p:cNvSpPr txBox="1"/>
          <p:nvPr/>
        </p:nvSpPr>
        <p:spPr>
          <a:xfrm>
            <a:off x="10392156" y="1371600"/>
            <a:ext cx="1271016"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Compliance and Audit</a:t>
            </a:r>
            <a:endParaRPr lang="en-US" sz="950" dirty="0"/>
          </a:p>
        </p:txBody>
      </p:sp>
      <p:sp>
        <p:nvSpPr>
          <p:cNvPr id="61" name="Text 58"/>
          <p:cNvSpPr txBox="1"/>
          <p:nvPr/>
        </p:nvSpPr>
        <p:spPr>
          <a:xfrm>
            <a:off x="10346436" y="1801368"/>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8.1 Redacted interaction and action record</a:t>
            </a:r>
            <a:endParaRPr lang="en-US" sz="750" dirty="0"/>
          </a:p>
        </p:txBody>
      </p:sp>
      <p:sp>
        <p:nvSpPr>
          <p:cNvPr id="62" name="Text 59"/>
          <p:cNvSpPr txBox="1"/>
          <p:nvPr/>
        </p:nvSpPr>
        <p:spPr>
          <a:xfrm>
            <a:off x="10346436" y="2368296"/>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8.2 Report generation* and report review*</a:t>
            </a:r>
            <a:endParaRPr lang="en-US" sz="750" dirty="0"/>
          </a:p>
        </p:txBody>
      </p:sp>
      <p:sp>
        <p:nvSpPr>
          <p:cNvPr id="63" name="Text 60"/>
          <p:cNvSpPr txBox="1"/>
          <p:nvPr/>
        </p:nvSpPr>
        <p:spPr>
          <a:xfrm>
            <a:off x="10346436" y="2935224"/>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8.3 Compliance review* and employee action*</a:t>
            </a:r>
            <a:endParaRPr lang="en-US" sz="750" dirty="0"/>
          </a:p>
        </p:txBody>
      </p:sp>
      <p:sp>
        <p:nvSpPr>
          <p:cNvPr id="64" name="Text 61"/>
          <p:cNvSpPr txBox="1"/>
          <p:nvPr/>
        </p:nvSpPr>
        <p:spPr>
          <a:xfrm>
            <a:off x="10346436" y="3502152"/>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8.4 Escalation notification* and action review*</a:t>
            </a:r>
            <a:endParaRPr lang="en-US" sz="750" dirty="0"/>
          </a:p>
        </p:txBody>
      </p:sp>
      <p:sp>
        <p:nvSpPr>
          <p:cNvPr id="65" name="Text 62"/>
          <p:cNvSpPr txBox="1"/>
          <p:nvPr/>
        </p:nvSpPr>
        <p:spPr>
          <a:xfrm>
            <a:off x="10346436" y="4069080"/>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8.5 Retention and regulator reporting</a:t>
            </a:r>
            <a:endParaRPr lang="en-US" sz="750" dirty="0"/>
          </a:p>
        </p:txBody>
      </p:sp>
      <p:sp>
        <p:nvSpPr>
          <p:cNvPr id="66" name="Text 63"/>
          <p:cNvSpPr txBox="1"/>
          <p:nvPr/>
        </p:nvSpPr>
        <p:spPr>
          <a:xfrm>
            <a:off x="10346436" y="4636008"/>
            <a:ext cx="1362456" cy="530352"/>
          </a:xfrm>
          <a:prstGeom prst="rect">
            <a:avLst/>
          </a:prstGeom>
          <a:solidFill>
            <a:srgbClr val="F7F7F7"/>
          </a:solidFill>
          <a:ln w="6350">
            <a:solidFill>
              <a:srgbClr val="BFBFBF"/>
            </a:solidFill>
          </a:ln>
        </p:spPr>
        <p:txBody>
          <a:bodyPr wrap="square" lIns="508" tIns="508" rIns="508" bIns="508" rtlCol="0" anchor="ctr"/>
          <a:lstStyle/>
          <a:p>
            <a:pPr algn="l" indent="0" marL="0">
              <a:buNone/>
            </a:pPr>
            <a:r>
              <a:rPr lang="en-US" sz="750" dirty="0">
                <a:solidFill>
                  <a:srgbClr val="333333"/>
                </a:solidFill>
                <a:latin typeface="Arial" pitchFamily="34" charset="0"/>
                <a:ea typeface="Arial" pitchFamily="34" charset="-122"/>
                <a:cs typeface="Arial" pitchFamily="34" charset="-120"/>
              </a:rPr>
              <a:t>8.6 Quarterly pattern and framework review*</a:t>
            </a:r>
            <a:endParaRPr lang="en-US" sz="750" dirty="0"/>
          </a:p>
        </p:txBody>
      </p:sp>
      <p:sp>
        <p:nvSpPr>
          <p:cNvPr id="67" name="Text 64"/>
          <p:cNvSpPr txBox="1"/>
          <p:nvPr/>
        </p:nvSpPr>
        <p:spPr>
          <a:xfrm>
            <a:off x="457200" y="5870448"/>
            <a:ext cx="8503920" cy="411480"/>
          </a:xfrm>
          <a:prstGeom prst="rect">
            <a:avLst/>
          </a:prstGeom>
          <a:noFill/>
          <a:ln/>
        </p:spPr>
        <p:txBody>
          <a:bodyPr wrap="square" lIns="0" tIns="0" rIns="0" bIns="0" rtlCol="0" anchor="t"/>
          <a:lstStyle/>
          <a:p>
            <a:pPr indent="0" marL="0">
              <a:buNone/>
            </a:pPr>
            <a:r>
              <a:rPr lang="en-US" sz="850" i="1" dirty="0">
                <a:solidFill>
                  <a:srgbClr val="595959"/>
                </a:solidFill>
                <a:latin typeface="Arial" pitchFamily="34" charset="0"/>
                <a:ea typeface="Arial" pitchFamily="34" charset="-122"/>
                <a:cs typeface="Arial" pitchFamily="34" charset="-120"/>
              </a:rPr>
              <a:t>* component from the Prompt Observability and Monitoring deck. Prompt monitoring stays at one level and covers prompt content, the tools called, and the associated user. IDs are used on the coverage and controls pages.</a:t>
            </a:r>
            <a:endParaRPr lang="en-US" sz="850" dirty="0"/>
          </a:p>
        </p:txBody>
      </p:sp>
      <p:sp>
        <p:nvSpPr>
          <p:cNvPr id="68" name="Shape 65"/>
          <p:cNvSpPr/>
          <p:nvPr/>
        </p:nvSpPr>
        <p:spPr>
          <a:xfrm>
            <a:off x="9098280" y="5907024"/>
            <a:ext cx="228600" cy="164592"/>
          </a:xfrm>
          <a:prstGeom prst="rect">
            <a:avLst/>
          </a:prstGeom>
          <a:solidFill>
            <a:srgbClr val="1F3864"/>
          </a:solidFill>
          <a:ln w="12700">
            <a:solidFill>
              <a:srgbClr val="1F3864"/>
            </a:solidFill>
            <a:prstDash val="solid"/>
          </a:ln>
        </p:spPr>
      </p:sp>
      <p:sp>
        <p:nvSpPr>
          <p:cNvPr id="69" name="Text 66"/>
          <p:cNvSpPr txBox="1"/>
          <p:nvPr/>
        </p:nvSpPr>
        <p:spPr>
          <a:xfrm>
            <a:off x="9372600" y="5870448"/>
            <a:ext cx="1097280" cy="237744"/>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Risk and control</a:t>
            </a:r>
            <a:endParaRPr lang="en-US" sz="850" dirty="0"/>
          </a:p>
        </p:txBody>
      </p:sp>
      <p:sp>
        <p:nvSpPr>
          <p:cNvPr id="70" name="Shape 67"/>
          <p:cNvSpPr/>
          <p:nvPr/>
        </p:nvSpPr>
        <p:spPr>
          <a:xfrm>
            <a:off x="10515600" y="5907024"/>
            <a:ext cx="228600" cy="164592"/>
          </a:xfrm>
          <a:prstGeom prst="rect">
            <a:avLst/>
          </a:prstGeom>
          <a:solidFill>
            <a:srgbClr val="5B9BD5"/>
          </a:solidFill>
          <a:ln w="12700">
            <a:solidFill>
              <a:srgbClr val="5B9BD5"/>
            </a:solidFill>
            <a:prstDash val="solid"/>
          </a:ln>
        </p:spPr>
      </p:sp>
      <p:sp>
        <p:nvSpPr>
          <p:cNvPr id="71" name="Text 68"/>
          <p:cNvSpPr txBox="1"/>
          <p:nvPr/>
        </p:nvSpPr>
        <p:spPr>
          <a:xfrm>
            <a:off x="10789920" y="5870448"/>
            <a:ext cx="914400" cy="237744"/>
          </a:xfrm>
          <a:prstGeom prst="rect">
            <a:avLst/>
          </a:prstGeom>
          <a:noFill/>
          <a:ln/>
        </p:spPr>
        <p:txBody>
          <a:bodyPr wrap="square" lIns="0" tIns="0" rIns="0" bIns="0" rtlCol="0" anchor="ctr"/>
          <a:lstStyle/>
          <a:p>
            <a:pPr indent="0" marL="0">
              <a:buNone/>
            </a:pPr>
            <a:r>
              <a:rPr lang="en-US" sz="850" dirty="0">
                <a:solidFill>
                  <a:srgbClr val="333333"/>
                </a:solidFill>
                <a:latin typeface="Arial" pitchFamily="34" charset="0"/>
                <a:ea typeface="Arial" pitchFamily="34" charset="-122"/>
                <a:cs typeface="Arial" pitchFamily="34" charset="-120"/>
              </a:rPr>
              <a:t>Operational</a:t>
            </a:r>
            <a:endParaRPr lang="en-US" sz="8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800" dirty="0">
                <a:solidFill>
                  <a:srgbClr val="2E6DB4"/>
                </a:solidFill>
                <a:latin typeface="Arial" pitchFamily="34" charset="0"/>
                <a:ea typeface="Arial" pitchFamily="34" charset="-122"/>
                <a:cs typeface="Arial" pitchFamily="34" charset="-120"/>
              </a:rPr>
              <a:t>Coverage by Tool (1 of 2)</a:t>
            </a:r>
            <a:endParaRPr lang="en-US" sz="28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Where coverage exists today and where it does not; draft calls for team review</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4552" cy="914400"/>
        </p:xfrm>
        <a:graphic>
          <a:graphicData uri="http://schemas.openxmlformats.org/drawingml/2006/table">
            <a:tbl>
              <a:tblPr/>
              <a:tblGrid>
                <a:gridCol w="2788920"/>
                <a:gridCol w="713232"/>
                <a:gridCol w="786384"/>
                <a:gridCol w="713232"/>
                <a:gridCol w="786384"/>
                <a:gridCol w="713232"/>
                <a:gridCol w="914400"/>
                <a:gridCol w="786384"/>
                <a:gridCol w="822960"/>
                <a:gridCol w="786384"/>
                <a:gridCol w="822960"/>
                <a:gridCol w="640080"/>
              </a:tblGrid>
              <a:tr h="0">
                <a:tc>
                  <a:txBody>
                    <a:bodyPr/>
                    <a:lstStyle/>
                    <a:p>
                      <a:pPr algn="l" indent="0" marL="0">
                        <a:buNone/>
                      </a:pPr>
                      <a:r>
                        <a:rPr lang="en-US" sz="750" b="1" dirty="0">
                          <a:solidFill>
                            <a:srgbClr val="FFFFFF"/>
                          </a:solidFill>
                          <a:latin typeface="Arial" pitchFamily="34" charset="0"/>
                          <a:ea typeface="Arial" pitchFamily="34" charset="-122"/>
                          <a:cs typeface="Arial" pitchFamily="34" charset="-120"/>
                        </a:rPr>
                        <a:t>Sub-capability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Apigee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OTel pipeline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Datadog</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Snowflake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Foundry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Entra, Purview</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Model Armor</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Vendor exports</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RBC platform</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Coverage 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Earliest</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r>
              <a:tr h="0">
                <a:tc gridSpan="12">
                  <a:txBody>
                    <a:bodyPr/>
                    <a:lstStyle/>
                    <a:p>
                      <a:pPr indent="0" marL="0">
                        <a:buNone/>
                      </a:pPr>
                      <a:r>
                        <a:rPr lang="en-US" sz="750" b="1" dirty="0">
                          <a:solidFill>
                            <a:srgbClr val="FFFFFF"/>
                          </a:solidFill>
                          <a:latin typeface="Arial" pitchFamily="34" charset="0"/>
                          <a:ea typeface="Arial" pitchFamily="34" charset="-122"/>
                          <a:cs typeface="Arial" pitchFamily="34" charset="-120"/>
                        </a:rPr>
                        <a:t>Usage and Access</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B9BD5"/>
                    </a:solidFill>
                  </a:tcPr>
                </a:tc>
                <a:tc hMerge="1">
                  <a:tcPr/>
                </a:tc>
                <a:tc hMerge="1">
                  <a:tcPr/>
                </a:tc>
                <a:tc hMerge="1">
                  <a:tcPr/>
                </a:tc>
                <a:tc hMerge="1">
                  <a:tcPr/>
                </a:tc>
                <a:tc hMerge="1">
                  <a:tcPr/>
                </a:tc>
                <a:tc hMerge="1">
                  <a:tcPr/>
                </a:tc>
                <a:tc hMerge="1">
                  <a:tcPr/>
                </a:tc>
                <a:tc hMerge="1">
                  <a:tcPr/>
                </a:tc>
                <a:tc hMerge="1">
                  <a:tcPr/>
                </a:tc>
                <a:tc hMerge="1">
                  <a:tcPr/>
                </a:tc>
                <a:tc hMerge="1">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1.1 Application usage inventory: who uses which AI app, and how much</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1.2 User and session attribution on every interaction</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1.3 Entitlement and CNB population scoping</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1.4 Shadow AI and unsanctioned tool detection</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1.5 Access actions: conditional access, temporary suspension, agent deletion</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gridSpan="12">
                  <a:txBody>
                    <a:bodyPr/>
                    <a:lstStyle/>
                    <a:p>
                      <a:pPr indent="0" marL="0">
                        <a:buNone/>
                      </a:pPr>
                      <a:r>
                        <a:rPr lang="en-US" sz="750" b="1" dirty="0">
                          <a:solidFill>
                            <a:srgbClr val="FFFFFF"/>
                          </a:solidFill>
                          <a:latin typeface="Arial" pitchFamily="34" charset="0"/>
                          <a:ea typeface="Arial" pitchFamily="34" charset="-122"/>
                          <a:cs typeface="Arial" pitchFamily="34" charset="-120"/>
                        </a:rPr>
                        <a:t>Prompts and Content</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hMerge="1">
                  <a:tcPr/>
                </a:tc>
                <a:tc hMerge="1">
                  <a:tcPr/>
                </a:tc>
                <a:tc hMerge="1">
                  <a:tcPr/>
                </a:tc>
                <a:tc hMerge="1">
                  <a:tcPr/>
                </a:tc>
                <a:tc hMerge="1">
                  <a:tcPr/>
                </a:tc>
                <a:tc hMerge="1">
                  <a:tcPr/>
                </a:tc>
                <a:tc hMerge="1">
                  <a:tcPr/>
                </a:tc>
                <a:tc hMerge="1">
                  <a:tcPr/>
                </a:tc>
                <a:tc hMerge="1">
                  <a:tcPr/>
                </a:tc>
                <a:tc hMerge="1">
                  <a:tcPr/>
                </a:tc>
                <a:tc hMerge="1">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2.1 Interaction logging: prompt, response, tools called, associated user</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2.2 Key word and toxic combination matching</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2.3 Semantic and sentiment analysis</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2.4 Injection, jailbreak, and sensitive data detection</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2.5 New pattern identification</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2.6 In-line warning and real time messaging</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Gap</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B6B6"/>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2.7 Real time censoring and blocking</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Gap</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B6B6"/>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 V3 Assist Pro</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gridSpan="12">
                  <a:txBody>
                    <a:bodyPr/>
                    <a:lstStyle/>
                    <a:p>
                      <a:pPr indent="0" marL="0">
                        <a:buNone/>
                      </a:pPr>
                      <a:r>
                        <a:rPr lang="en-US" sz="750" b="1" dirty="0">
                          <a:solidFill>
                            <a:srgbClr val="FFFFFF"/>
                          </a:solidFill>
                          <a:latin typeface="Arial" pitchFamily="34" charset="0"/>
                          <a:ea typeface="Arial" pitchFamily="34" charset="-122"/>
                          <a:cs typeface="Arial" pitchFamily="34" charset="-120"/>
                        </a:rPr>
                        <a:t>Agents and Tool Calls</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hMerge="1">
                  <a:tcPr/>
                </a:tc>
                <a:tc hMerge="1">
                  <a:tcPr/>
                </a:tc>
                <a:tc hMerge="1">
                  <a:tcPr/>
                </a:tc>
                <a:tc hMerge="1">
                  <a:tcPr/>
                </a:tc>
                <a:tc hMerge="1">
                  <a:tcPr/>
                </a:tc>
                <a:tc hMerge="1">
                  <a:tcPr/>
                </a:tc>
                <a:tc hMerge="1">
                  <a:tcPr/>
                </a:tc>
                <a:tc hMerge="1">
                  <a:tcPr/>
                </a:tc>
                <a:tc hMerge="1">
                  <a:tcPr/>
                </a:tc>
                <a:tc hMerge="1">
                  <a:tcPr/>
                </a:tc>
                <a:tc hMerge="1">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3.1 Tool call logging with user attribution</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3.2 Agent registry and ownership (agent builder)</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3.3 Token metering and thresholds</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3.4 Tool allowlists and authorization</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3.5 In-line termination: the kill switch</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Gap</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B6B6"/>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 V3 Assist Pro</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3.6 Agent to agent and MCP chain tracing</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Gap</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B6B6"/>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gridSpan="12">
                  <a:txBody>
                    <a:bodyPr/>
                    <a:lstStyle/>
                    <a:p>
                      <a:pPr indent="0" marL="0">
                        <a:buNone/>
                      </a:pPr>
                      <a:r>
                        <a:rPr lang="en-US" sz="750" b="1" dirty="0">
                          <a:solidFill>
                            <a:srgbClr val="FFFFFF"/>
                          </a:solidFill>
                          <a:latin typeface="Arial" pitchFamily="34" charset="0"/>
                          <a:ea typeface="Arial" pitchFamily="34" charset="-122"/>
                          <a:cs typeface="Arial" pitchFamily="34" charset="-120"/>
                        </a:rPr>
                        <a:t>Retrieval and Data (RAG)</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hMerge="1">
                  <a:tcPr/>
                </a:tc>
                <a:tc hMerge="1">
                  <a:tcPr/>
                </a:tc>
                <a:tc hMerge="1">
                  <a:tcPr/>
                </a:tc>
                <a:tc hMerge="1">
                  <a:tcPr/>
                </a:tc>
                <a:tc hMerge="1">
                  <a:tcPr/>
                </a:tc>
                <a:tc hMerge="1">
                  <a:tcPr/>
                </a:tc>
                <a:tc hMerge="1">
                  <a:tcPr/>
                </a:tc>
                <a:tc hMerge="1">
                  <a:tcPr/>
                </a:tc>
                <a:tc hMerge="1">
                  <a:tcPr/>
                </a:tc>
                <a:tc hMerge="1">
                  <a:tcPr/>
                </a:tc>
                <a:tc hMerge="1">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4.1 Retrieval traces: documents, chunks, embeddings, scores</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4.2 Retrieval query audit</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4.3 Data access records</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Covered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9D18E"/>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4.4 Entitlement check on retrieved content</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Gap</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B6B6"/>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4.5 Index and embedding version tracking</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Gap</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B6B6"/>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7" name="Shape 3"/>
          <p:cNvSpPr/>
          <p:nvPr/>
        </p:nvSpPr>
        <p:spPr>
          <a:xfrm>
            <a:off x="457200" y="6355080"/>
            <a:ext cx="201168" cy="146304"/>
          </a:xfrm>
          <a:prstGeom prst="rect">
            <a:avLst/>
          </a:prstGeom>
          <a:solidFill>
            <a:srgbClr val="C6E0B4"/>
          </a:solidFill>
          <a:ln w="6350">
            <a:solidFill>
              <a:srgbClr val="7F7F7F"/>
            </a:solidFill>
            <a:prstDash val="solid"/>
          </a:ln>
        </p:spPr>
      </p:sp>
      <p:sp>
        <p:nvSpPr>
          <p:cNvPr id="8" name="Text 4"/>
          <p:cNvSpPr txBox="1"/>
          <p:nvPr/>
        </p:nvSpPr>
        <p:spPr>
          <a:xfrm>
            <a:off x="694944" y="6309360"/>
            <a:ext cx="2743200" cy="237744"/>
          </a:xfrm>
          <a:prstGeom prst="rect">
            <a:avLst/>
          </a:prstGeom>
          <a:noFill/>
          <a:ln/>
        </p:spPr>
        <p:txBody>
          <a:bodyPr wrap="square" lIns="0" tIns="0" rIns="0" bIns="0" rtlCol="0" anchor="ctr"/>
          <a:lstStyle/>
          <a:p>
            <a:pPr indent="0" marL="0">
              <a:buNone/>
            </a:pPr>
            <a:r>
              <a:rPr lang="en-US" sz="750" dirty="0">
                <a:solidFill>
                  <a:srgbClr val="333333"/>
                </a:solidFill>
                <a:latin typeface="Arial" pitchFamily="34" charset="0"/>
                <a:ea typeface="Arial" pitchFamily="34" charset="-122"/>
                <a:cs typeface="Arial" pitchFamily="34" charset="-120"/>
              </a:rPr>
              <a:t>Today: in use at CNB</a:t>
            </a:r>
            <a:endParaRPr lang="en-US" sz="750" dirty="0"/>
          </a:p>
        </p:txBody>
      </p:sp>
      <p:sp>
        <p:nvSpPr>
          <p:cNvPr id="9" name="Shape 5"/>
          <p:cNvSpPr/>
          <p:nvPr/>
        </p:nvSpPr>
        <p:spPr>
          <a:xfrm>
            <a:off x="1865376" y="6355080"/>
            <a:ext cx="201168" cy="146304"/>
          </a:xfrm>
          <a:prstGeom prst="rect">
            <a:avLst/>
          </a:prstGeom>
          <a:solidFill>
            <a:srgbClr val="D6E6F5"/>
          </a:solidFill>
          <a:ln w="6350">
            <a:solidFill>
              <a:srgbClr val="7F7F7F"/>
            </a:solidFill>
            <a:prstDash val="solid"/>
          </a:ln>
        </p:spPr>
      </p:sp>
      <p:sp>
        <p:nvSpPr>
          <p:cNvPr id="10" name="Text 6"/>
          <p:cNvSpPr txBox="1"/>
          <p:nvPr/>
        </p:nvSpPr>
        <p:spPr>
          <a:xfrm>
            <a:off x="2103120" y="6309360"/>
            <a:ext cx="2743200" cy="237744"/>
          </a:xfrm>
          <a:prstGeom prst="rect">
            <a:avLst/>
          </a:prstGeom>
          <a:noFill/>
          <a:ln/>
        </p:spPr>
        <p:txBody>
          <a:bodyPr wrap="square" lIns="0" tIns="0" rIns="0" bIns="0" rtlCol="0" anchor="ctr"/>
          <a:lstStyle/>
          <a:p>
            <a:pPr indent="0" marL="0">
              <a:buNone/>
            </a:pPr>
            <a:r>
              <a:rPr lang="en-US" sz="750" dirty="0">
                <a:solidFill>
                  <a:srgbClr val="333333"/>
                </a:solidFill>
                <a:latin typeface="Arial" pitchFamily="34" charset="0"/>
                <a:ea typeface="Arial" pitchFamily="34" charset="-122"/>
                <a:cs typeface="Arial" pitchFamily="34" charset="-120"/>
              </a:rPr>
              <a:t>Enable: tool in place, configure</a:t>
            </a:r>
            <a:endParaRPr lang="en-US" sz="750" dirty="0"/>
          </a:p>
        </p:txBody>
      </p:sp>
      <p:sp>
        <p:nvSpPr>
          <p:cNvPr id="11" name="Shape 7"/>
          <p:cNvSpPr/>
          <p:nvPr/>
        </p:nvSpPr>
        <p:spPr>
          <a:xfrm>
            <a:off x="3844138" y="6355080"/>
            <a:ext cx="201168" cy="146304"/>
          </a:xfrm>
          <a:prstGeom prst="rect">
            <a:avLst/>
          </a:prstGeom>
          <a:solidFill>
            <a:srgbClr val="E4D7F2"/>
          </a:solidFill>
          <a:ln w="6350">
            <a:solidFill>
              <a:srgbClr val="7F7F7F"/>
            </a:solidFill>
            <a:prstDash val="solid"/>
          </a:ln>
        </p:spPr>
      </p:sp>
      <p:sp>
        <p:nvSpPr>
          <p:cNvPr id="12" name="Text 8"/>
          <p:cNvSpPr txBox="1"/>
          <p:nvPr/>
        </p:nvSpPr>
        <p:spPr>
          <a:xfrm>
            <a:off x="4081882" y="6309360"/>
            <a:ext cx="2743200" cy="237744"/>
          </a:xfrm>
          <a:prstGeom prst="rect">
            <a:avLst/>
          </a:prstGeom>
          <a:noFill/>
          <a:ln/>
        </p:spPr>
        <p:txBody>
          <a:bodyPr wrap="square" lIns="0" tIns="0" rIns="0" bIns="0" rtlCol="0" anchor="ctr"/>
          <a:lstStyle/>
          <a:p>
            <a:pPr indent="0" marL="0">
              <a:buNone/>
            </a:pPr>
            <a:r>
              <a:rPr lang="en-US" sz="750" dirty="0">
                <a:solidFill>
                  <a:srgbClr val="333333"/>
                </a:solidFill>
                <a:latin typeface="Arial" pitchFamily="34" charset="0"/>
                <a:ea typeface="Arial" pitchFamily="34" charset="-122"/>
                <a:cs typeface="Arial" pitchFamily="34" charset="-120"/>
              </a:rPr>
              <a:t>Build: new component</a:t>
            </a:r>
            <a:endParaRPr lang="en-US" sz="750" dirty="0"/>
          </a:p>
        </p:txBody>
      </p:sp>
      <p:sp>
        <p:nvSpPr>
          <p:cNvPr id="13" name="Shape 9"/>
          <p:cNvSpPr/>
          <p:nvPr/>
        </p:nvSpPr>
        <p:spPr>
          <a:xfrm>
            <a:off x="5252314" y="6355080"/>
            <a:ext cx="201168" cy="146304"/>
          </a:xfrm>
          <a:prstGeom prst="rect">
            <a:avLst/>
          </a:prstGeom>
          <a:solidFill>
            <a:srgbClr val="E7E6E6"/>
          </a:solidFill>
          <a:ln w="6350">
            <a:solidFill>
              <a:srgbClr val="7F7F7F"/>
            </a:solidFill>
            <a:prstDash val="solid"/>
          </a:ln>
        </p:spPr>
      </p:sp>
      <p:sp>
        <p:nvSpPr>
          <p:cNvPr id="14" name="Text 10"/>
          <p:cNvSpPr txBox="1"/>
          <p:nvPr/>
        </p:nvSpPr>
        <p:spPr>
          <a:xfrm>
            <a:off x="5490058" y="6309360"/>
            <a:ext cx="2743200" cy="237744"/>
          </a:xfrm>
          <a:prstGeom prst="rect">
            <a:avLst/>
          </a:prstGeom>
          <a:noFill/>
          <a:ln/>
        </p:spPr>
        <p:txBody>
          <a:bodyPr wrap="square" lIns="0" tIns="0" rIns="0" bIns="0" rtlCol="0" anchor="ctr"/>
          <a:lstStyle/>
          <a:p>
            <a:pPr indent="0" marL="0">
              <a:buNone/>
            </a:pPr>
            <a:r>
              <a:rPr lang="en-US" sz="750" dirty="0">
                <a:solidFill>
                  <a:srgbClr val="333333"/>
                </a:solidFill>
                <a:latin typeface="Arial" pitchFamily="34" charset="0"/>
                <a:ea typeface="Arial" pitchFamily="34" charset="-122"/>
                <a:cs typeface="Arial" pitchFamily="34" charset="-120"/>
              </a:rPr>
              <a:t>RBC: Assist Pro path depends on an RBC capability</a:t>
            </a:r>
            <a:endParaRPr lang="en-US" sz="750" dirty="0"/>
          </a:p>
        </p:txBody>
      </p:sp>
      <p:sp>
        <p:nvSpPr>
          <p:cNvPr id="15" name="Shape 11"/>
          <p:cNvSpPr/>
          <p:nvPr/>
        </p:nvSpPr>
        <p:spPr>
          <a:xfrm>
            <a:off x="8039405" y="6355080"/>
            <a:ext cx="201168" cy="146304"/>
          </a:xfrm>
          <a:prstGeom prst="rect">
            <a:avLst/>
          </a:prstGeom>
          <a:solidFill>
            <a:srgbClr val="A9D18E"/>
          </a:solidFill>
          <a:ln w="6350">
            <a:solidFill>
              <a:srgbClr val="7F7F7F"/>
            </a:solidFill>
            <a:prstDash val="solid"/>
          </a:ln>
        </p:spPr>
      </p:sp>
      <p:sp>
        <p:nvSpPr>
          <p:cNvPr id="16" name="Text 12"/>
          <p:cNvSpPr txBox="1"/>
          <p:nvPr/>
        </p:nvSpPr>
        <p:spPr>
          <a:xfrm>
            <a:off x="8277149" y="6309360"/>
            <a:ext cx="2743200" cy="237744"/>
          </a:xfrm>
          <a:prstGeom prst="rect">
            <a:avLst/>
          </a:prstGeom>
          <a:noFill/>
          <a:ln/>
        </p:spPr>
        <p:txBody>
          <a:bodyPr wrap="square" lIns="0" tIns="0" rIns="0" bIns="0" rtlCol="0" anchor="ctr"/>
          <a:lstStyle/>
          <a:p>
            <a:pPr indent="0" marL="0">
              <a:buNone/>
            </a:pPr>
            <a:r>
              <a:rPr lang="en-US" sz="750" dirty="0">
                <a:solidFill>
                  <a:srgbClr val="333333"/>
                </a:solidFill>
                <a:latin typeface="Arial" pitchFamily="34" charset="0"/>
                <a:ea typeface="Arial" pitchFamily="34" charset="-122"/>
                <a:cs typeface="Arial" pitchFamily="34" charset="-120"/>
              </a:rPr>
              <a:t>Covered</a:t>
            </a:r>
            <a:endParaRPr lang="en-US" sz="750" dirty="0"/>
          </a:p>
        </p:txBody>
      </p:sp>
      <p:sp>
        <p:nvSpPr>
          <p:cNvPr id="17" name="Shape 13"/>
          <p:cNvSpPr/>
          <p:nvPr/>
        </p:nvSpPr>
        <p:spPr>
          <a:xfrm>
            <a:off x="8829446" y="6355080"/>
            <a:ext cx="201168" cy="146304"/>
          </a:xfrm>
          <a:prstGeom prst="rect">
            <a:avLst/>
          </a:prstGeom>
          <a:solidFill>
            <a:srgbClr val="FFE699"/>
          </a:solidFill>
          <a:ln w="6350">
            <a:solidFill>
              <a:srgbClr val="7F7F7F"/>
            </a:solidFill>
            <a:prstDash val="solid"/>
          </a:ln>
        </p:spPr>
      </p:sp>
      <p:sp>
        <p:nvSpPr>
          <p:cNvPr id="18" name="Text 14"/>
          <p:cNvSpPr txBox="1"/>
          <p:nvPr/>
        </p:nvSpPr>
        <p:spPr>
          <a:xfrm>
            <a:off x="9067190" y="6309360"/>
            <a:ext cx="2743200" cy="237744"/>
          </a:xfrm>
          <a:prstGeom prst="rect">
            <a:avLst/>
          </a:prstGeom>
          <a:noFill/>
          <a:ln/>
        </p:spPr>
        <p:txBody>
          <a:bodyPr wrap="square" lIns="0" tIns="0" rIns="0" bIns="0" rtlCol="0" anchor="ctr"/>
          <a:lstStyle/>
          <a:p>
            <a:pPr indent="0" marL="0">
              <a:buNone/>
            </a:pPr>
            <a:r>
              <a:rPr lang="en-US" sz="750" dirty="0">
                <a:solidFill>
                  <a:srgbClr val="333333"/>
                </a:solidFill>
                <a:latin typeface="Arial" pitchFamily="34" charset="0"/>
                <a:ea typeface="Arial" pitchFamily="34" charset="-122"/>
                <a:cs typeface="Arial" pitchFamily="34" charset="-120"/>
              </a:rPr>
              <a:t>Partial</a:t>
            </a:r>
            <a:endParaRPr lang="en-US" sz="750" dirty="0"/>
          </a:p>
        </p:txBody>
      </p:sp>
      <p:sp>
        <p:nvSpPr>
          <p:cNvPr id="19" name="Shape 15"/>
          <p:cNvSpPr/>
          <p:nvPr/>
        </p:nvSpPr>
        <p:spPr>
          <a:xfrm>
            <a:off x="9619488" y="6355080"/>
            <a:ext cx="201168" cy="146304"/>
          </a:xfrm>
          <a:prstGeom prst="rect">
            <a:avLst/>
          </a:prstGeom>
          <a:solidFill>
            <a:srgbClr val="F4B6B6"/>
          </a:solidFill>
          <a:ln w="6350">
            <a:solidFill>
              <a:srgbClr val="7F7F7F"/>
            </a:solidFill>
            <a:prstDash val="solid"/>
          </a:ln>
        </p:spPr>
      </p:sp>
      <p:sp>
        <p:nvSpPr>
          <p:cNvPr id="20" name="Text 16"/>
          <p:cNvSpPr txBox="1"/>
          <p:nvPr/>
        </p:nvSpPr>
        <p:spPr>
          <a:xfrm>
            <a:off x="9857232" y="6309360"/>
            <a:ext cx="2743200" cy="237744"/>
          </a:xfrm>
          <a:prstGeom prst="rect">
            <a:avLst/>
          </a:prstGeom>
          <a:noFill/>
          <a:ln/>
        </p:spPr>
        <p:txBody>
          <a:bodyPr wrap="square" lIns="0" tIns="0" rIns="0" bIns="0" rtlCol="0" anchor="ctr"/>
          <a:lstStyle/>
          <a:p>
            <a:pPr indent="0" marL="0">
              <a:buNone/>
            </a:pPr>
            <a:r>
              <a:rPr lang="en-US" sz="750" dirty="0">
                <a:solidFill>
                  <a:srgbClr val="333333"/>
                </a:solidFill>
                <a:latin typeface="Arial" pitchFamily="34" charset="0"/>
                <a:ea typeface="Arial" pitchFamily="34" charset="-122"/>
                <a:cs typeface="Arial" pitchFamily="34" charset="-120"/>
              </a:rPr>
              <a:t>Gap</a:t>
            </a:r>
            <a:endParaRPr lang="en-US" sz="7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800" dirty="0">
                <a:solidFill>
                  <a:srgbClr val="2E6DB4"/>
                </a:solidFill>
                <a:latin typeface="Arial" pitchFamily="34" charset="0"/>
                <a:ea typeface="Arial" pitchFamily="34" charset="-122"/>
                <a:cs typeface="Arial" pitchFamily="34" charset="-120"/>
              </a:rPr>
              <a:t>Coverage by Tool (2 of 2)</a:t>
            </a:r>
            <a:endParaRPr lang="en-US" sz="28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Where coverage exists today and where it does not; draft calls for team review</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4552" cy="914400"/>
        </p:xfrm>
        <a:graphic>
          <a:graphicData uri="http://schemas.openxmlformats.org/drawingml/2006/table">
            <a:tbl>
              <a:tblPr/>
              <a:tblGrid>
                <a:gridCol w="2788920"/>
                <a:gridCol w="713232"/>
                <a:gridCol w="786384"/>
                <a:gridCol w="713232"/>
                <a:gridCol w="786384"/>
                <a:gridCol w="713232"/>
                <a:gridCol w="914400"/>
                <a:gridCol w="786384"/>
                <a:gridCol w="822960"/>
                <a:gridCol w="786384"/>
                <a:gridCol w="822960"/>
                <a:gridCol w="640080"/>
              </a:tblGrid>
              <a:tr h="0">
                <a:tc>
                  <a:txBody>
                    <a:bodyPr/>
                    <a:lstStyle/>
                    <a:p>
                      <a:pPr algn="l" indent="0" marL="0">
                        <a:buNone/>
                      </a:pPr>
                      <a:r>
                        <a:rPr lang="en-US" sz="750" b="1" dirty="0">
                          <a:solidFill>
                            <a:srgbClr val="FFFFFF"/>
                          </a:solidFill>
                          <a:latin typeface="Arial" pitchFamily="34" charset="0"/>
                          <a:ea typeface="Arial" pitchFamily="34" charset="-122"/>
                          <a:cs typeface="Arial" pitchFamily="34" charset="-120"/>
                        </a:rPr>
                        <a:t>Sub-capability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Apigee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OTel pipeline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Datadog</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Snowflake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Foundry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Entra, Purview</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Model Armor</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Vendor exports</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RBC platform</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Coverage 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algn="ctr" indent="0" marL="0">
                        <a:buNone/>
                      </a:pPr>
                      <a:r>
                        <a:rPr lang="en-US" sz="750" b="1" dirty="0">
                          <a:solidFill>
                            <a:srgbClr val="FFFFFF"/>
                          </a:solidFill>
                          <a:latin typeface="Arial" pitchFamily="34" charset="0"/>
                          <a:ea typeface="Arial" pitchFamily="34" charset="-122"/>
                          <a:cs typeface="Arial" pitchFamily="34" charset="-120"/>
                        </a:rPr>
                        <a:t>Earliest</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r>
              <a:tr h="0">
                <a:tc gridSpan="12">
                  <a:txBody>
                    <a:bodyPr/>
                    <a:lstStyle/>
                    <a:p>
                      <a:pPr indent="0" marL="0">
                        <a:buNone/>
                      </a:pPr>
                      <a:r>
                        <a:rPr lang="en-US" sz="750" b="1" dirty="0">
                          <a:solidFill>
                            <a:srgbClr val="FFFFFF"/>
                          </a:solidFill>
                          <a:latin typeface="Arial" pitchFamily="34" charset="0"/>
                          <a:ea typeface="Arial" pitchFamily="34" charset="-122"/>
                          <a:cs typeface="Arial" pitchFamily="34" charset="-120"/>
                        </a:rPr>
                        <a:t>Quality and Drift</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B9BD5"/>
                    </a:solidFill>
                  </a:tcPr>
                </a:tc>
                <a:tc hMerge="1">
                  <a:tcPr/>
                </a:tc>
                <a:tc hMerge="1">
                  <a:tcPr/>
                </a:tc>
                <a:tc hMerge="1">
                  <a:tcPr/>
                </a:tc>
                <a:tc hMerge="1">
                  <a:tcPr/>
                </a:tc>
                <a:tc hMerge="1">
                  <a:tcPr/>
                </a:tc>
                <a:tc hMerge="1">
                  <a:tcPr/>
                </a:tc>
                <a:tc hMerge="1">
                  <a:tcPr/>
                </a:tc>
                <a:tc hMerge="1">
                  <a:tcPr/>
                </a:tc>
                <a:tc hMerge="1">
                  <a:tcPr/>
                </a:tc>
                <a:tc hMerge="1">
                  <a:tcPr/>
                </a:tc>
                <a:tc hMerge="1">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5.1 Evaluation baselines and scores</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5.2 Verification of AI output</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5.3 Session review and user review</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5.4 Adversarial review</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Gap</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B6B6"/>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V3</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5.5 Drift and version change detection</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5.6 Sustainability review</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Gap</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B6B6"/>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V3</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gridSpan="12">
                  <a:txBody>
                    <a:bodyPr/>
                    <a:lstStyle/>
                    <a:p>
                      <a:pPr indent="0" marL="0">
                        <a:buNone/>
                      </a:pPr>
                      <a:r>
                        <a:rPr lang="en-US" sz="750" b="1" dirty="0">
                          <a:solidFill>
                            <a:srgbClr val="FFFFFF"/>
                          </a:solidFill>
                          <a:latin typeface="Arial" pitchFamily="34" charset="0"/>
                          <a:ea typeface="Arial" pitchFamily="34" charset="-122"/>
                          <a:cs typeface="Arial" pitchFamily="34" charset="-120"/>
                        </a:rPr>
                        <a:t>Cost and Performance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B9BD5"/>
                    </a:solidFill>
                  </a:tcPr>
                </a:tc>
                <a:tc hMerge="1">
                  <a:tcPr/>
                </a:tc>
                <a:tc hMerge="1">
                  <a:tcPr/>
                </a:tc>
                <a:tc hMerge="1">
                  <a:tcPr/>
                </a:tc>
                <a:tc hMerge="1">
                  <a:tcPr/>
                </a:tc>
                <a:tc hMerge="1">
                  <a:tcPr/>
                </a:tc>
                <a:tc hMerge="1">
                  <a:tcPr/>
                </a:tc>
                <a:tc hMerge="1">
                  <a:tcPr/>
                </a:tc>
                <a:tc hMerge="1">
                  <a:tcPr/>
                </a:tc>
                <a:tc hMerge="1">
                  <a:tcPr/>
                </a:tc>
                <a:tc hMerge="1">
                  <a:tcPr/>
                </a:tc>
                <a:tc hMerge="1">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6.1 Token and spend attribution</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6.2 Latency, error, and availability monitoring</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Covered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9D18E"/>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6.3 Quota and capacity headroom</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6.4 Vendor SLA tracking</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6.5 Cost anomaly detection and throttling</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Gap</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B6B6"/>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V3</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gridSpan="12">
                  <a:txBody>
                    <a:bodyPr/>
                    <a:lstStyle/>
                    <a:p>
                      <a:pPr indent="0" marL="0">
                        <a:buNone/>
                      </a:pPr>
                      <a:r>
                        <a:rPr lang="en-US" sz="750" b="1" dirty="0">
                          <a:solidFill>
                            <a:srgbClr val="FFFFFF"/>
                          </a:solidFill>
                          <a:latin typeface="Arial" pitchFamily="34" charset="0"/>
                          <a:ea typeface="Arial" pitchFamily="34" charset="-122"/>
                          <a:cs typeface="Arial" pitchFamily="34" charset="-120"/>
                        </a:rPr>
                        <a:t>Security and Threats</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hMerge="1">
                  <a:tcPr/>
                </a:tc>
                <a:tc hMerge="1">
                  <a:tcPr/>
                </a:tc>
                <a:tc hMerge="1">
                  <a:tcPr/>
                </a:tc>
                <a:tc hMerge="1">
                  <a:tcPr/>
                </a:tc>
                <a:tc hMerge="1">
                  <a:tcPr/>
                </a:tc>
                <a:tc hMerge="1">
                  <a:tcPr/>
                </a:tc>
                <a:tc hMerge="1">
                  <a:tcPr/>
                </a:tc>
                <a:tc hMerge="1">
                  <a:tcPr/>
                </a:tc>
                <a:tc hMerge="1">
                  <a:tcPr/>
                </a:tc>
                <a:tc hMerge="1">
                  <a:tcPr/>
                </a:tc>
                <a:tc hMerge="1">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7.1 Exfiltration and secret exposure detection</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7.2 Anomalous access and malicious tool call detection</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7.3 Model and plugin provenance; allowlist conformance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Gap</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B6B6"/>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7.4 SIEM integration and incident response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7.5 Vendor LLM security event feeds</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Covered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9D18E"/>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gridSpan="12">
                  <a:txBody>
                    <a:bodyPr/>
                    <a:lstStyle/>
                    <a:p>
                      <a:pPr indent="0" marL="0">
                        <a:buNone/>
                      </a:pPr>
                      <a:r>
                        <a:rPr lang="en-US" sz="750" b="1" dirty="0">
                          <a:solidFill>
                            <a:srgbClr val="FFFFFF"/>
                          </a:solidFill>
                          <a:latin typeface="Arial" pitchFamily="34" charset="0"/>
                          <a:ea typeface="Arial" pitchFamily="34" charset="-122"/>
                          <a:cs typeface="Arial" pitchFamily="34" charset="-120"/>
                        </a:rPr>
                        <a:t>Compliance and Audit</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hMerge="1">
                  <a:tcPr/>
                </a:tc>
                <a:tc hMerge="1">
                  <a:tcPr/>
                </a:tc>
                <a:tc hMerge="1">
                  <a:tcPr/>
                </a:tc>
                <a:tc hMerge="1">
                  <a:tcPr/>
                </a:tc>
                <a:tc hMerge="1">
                  <a:tcPr/>
                </a:tc>
                <a:tc hMerge="1">
                  <a:tcPr/>
                </a:tc>
                <a:tc hMerge="1">
                  <a:tcPr/>
                </a:tc>
                <a:tc hMerge="1">
                  <a:tcPr/>
                </a:tc>
                <a:tc hMerge="1">
                  <a:tcPr/>
                </a:tc>
                <a:tc hMerge="1">
                  <a:tcPr/>
                </a:tc>
                <a:tc hMerge="1">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8.1 Redacted interaction and action record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8.2 Report generation and report review</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8.3 Compliance review and employee action</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8.4 Escalation notification and action review</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Enable</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V2</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8.5 Retention and regulator reporting</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Today</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6E0B4"/>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Covered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9D18E"/>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algn="l" indent="0" marL="0">
                        <a:buNone/>
                      </a:pPr>
                      <a:r>
                        <a:rPr lang="en-US" sz="750" dirty="0">
                          <a:solidFill>
                            <a:srgbClr val="333333"/>
                          </a:solidFill>
                          <a:latin typeface="Arial" pitchFamily="34" charset="0"/>
                          <a:ea typeface="Arial" pitchFamily="34" charset="-122"/>
                          <a:cs typeface="Arial" pitchFamily="34" charset="-120"/>
                        </a:rPr>
                        <a:t>8.6 Quarterly pattern and framework review</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Build</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4D7F2"/>
                    </a:solidFill>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RBC</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7E6E6"/>
                    </a:solidFill>
                  </a:tcPr>
                </a:tc>
                <a:tc>
                  <a:txBody>
                    <a:bodyPr/>
                    <a:lstStyle/>
                    <a:p>
                      <a:pPr algn="ctr" indent="0" marL="0">
                        <a:buNone/>
                      </a:pPr>
                      <a:r>
                        <a:rPr lang="en-US" sz="750" b="1" dirty="0">
                          <a:solidFill>
                            <a:srgbClr val="333333"/>
                          </a:solidFill>
                          <a:latin typeface="Arial" pitchFamily="34" charset="0"/>
                          <a:ea typeface="Arial" pitchFamily="34" charset="-122"/>
                          <a:cs typeface="Arial" pitchFamily="34" charset="-120"/>
                        </a:rPr>
                        <a:t>Partial</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ctr" indent="0" marL="0">
                        <a:buNone/>
                      </a:pPr>
                      <a:r>
                        <a:rPr lang="en-US" sz="750" dirty="0">
                          <a:solidFill>
                            <a:srgbClr val="333333"/>
                          </a:solidFill>
                          <a:latin typeface="Arial" pitchFamily="34" charset="0"/>
                          <a:ea typeface="Arial" pitchFamily="34" charset="-122"/>
                          <a:cs typeface="Arial" pitchFamily="34" charset="-120"/>
                        </a:rPr>
                        <a:t>V1</a:t>
                      </a:r>
                      <a:endParaRPr lang="en-US" sz="750" dirty="0">
                        <a:latin typeface="Arial" charset="0"/>
                        <a:ea typeface="Arial" charset="0"/>
                        <a:cs typeface="Arial" charset="0"/>
                      </a:endParaRPr>
                    </a:p>
                  </a:txBody>
                  <a:tcPr marL="18288" marR="18288" marT="18288" marB="18288"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7" name="Shape 3"/>
          <p:cNvSpPr/>
          <p:nvPr/>
        </p:nvSpPr>
        <p:spPr>
          <a:xfrm>
            <a:off x="457200" y="6355080"/>
            <a:ext cx="201168" cy="146304"/>
          </a:xfrm>
          <a:prstGeom prst="rect">
            <a:avLst/>
          </a:prstGeom>
          <a:solidFill>
            <a:srgbClr val="C6E0B4"/>
          </a:solidFill>
          <a:ln w="6350">
            <a:solidFill>
              <a:srgbClr val="7F7F7F"/>
            </a:solidFill>
            <a:prstDash val="solid"/>
          </a:ln>
        </p:spPr>
      </p:sp>
      <p:sp>
        <p:nvSpPr>
          <p:cNvPr id="8" name="Text 4"/>
          <p:cNvSpPr txBox="1"/>
          <p:nvPr/>
        </p:nvSpPr>
        <p:spPr>
          <a:xfrm>
            <a:off x="694944" y="6309360"/>
            <a:ext cx="2743200" cy="237744"/>
          </a:xfrm>
          <a:prstGeom prst="rect">
            <a:avLst/>
          </a:prstGeom>
          <a:noFill/>
          <a:ln/>
        </p:spPr>
        <p:txBody>
          <a:bodyPr wrap="square" lIns="0" tIns="0" rIns="0" bIns="0" rtlCol="0" anchor="ctr"/>
          <a:lstStyle/>
          <a:p>
            <a:pPr indent="0" marL="0">
              <a:buNone/>
            </a:pPr>
            <a:r>
              <a:rPr lang="en-US" sz="750" dirty="0">
                <a:solidFill>
                  <a:srgbClr val="333333"/>
                </a:solidFill>
                <a:latin typeface="Arial" pitchFamily="34" charset="0"/>
                <a:ea typeface="Arial" pitchFamily="34" charset="-122"/>
                <a:cs typeface="Arial" pitchFamily="34" charset="-120"/>
              </a:rPr>
              <a:t>Today: in use at CNB</a:t>
            </a:r>
            <a:endParaRPr lang="en-US" sz="750" dirty="0"/>
          </a:p>
        </p:txBody>
      </p:sp>
      <p:sp>
        <p:nvSpPr>
          <p:cNvPr id="9" name="Shape 5"/>
          <p:cNvSpPr/>
          <p:nvPr/>
        </p:nvSpPr>
        <p:spPr>
          <a:xfrm>
            <a:off x="1865376" y="6355080"/>
            <a:ext cx="201168" cy="146304"/>
          </a:xfrm>
          <a:prstGeom prst="rect">
            <a:avLst/>
          </a:prstGeom>
          <a:solidFill>
            <a:srgbClr val="D6E6F5"/>
          </a:solidFill>
          <a:ln w="6350">
            <a:solidFill>
              <a:srgbClr val="7F7F7F"/>
            </a:solidFill>
            <a:prstDash val="solid"/>
          </a:ln>
        </p:spPr>
      </p:sp>
      <p:sp>
        <p:nvSpPr>
          <p:cNvPr id="10" name="Text 6"/>
          <p:cNvSpPr txBox="1"/>
          <p:nvPr/>
        </p:nvSpPr>
        <p:spPr>
          <a:xfrm>
            <a:off x="2103120" y="6309360"/>
            <a:ext cx="2743200" cy="237744"/>
          </a:xfrm>
          <a:prstGeom prst="rect">
            <a:avLst/>
          </a:prstGeom>
          <a:noFill/>
          <a:ln/>
        </p:spPr>
        <p:txBody>
          <a:bodyPr wrap="square" lIns="0" tIns="0" rIns="0" bIns="0" rtlCol="0" anchor="ctr"/>
          <a:lstStyle/>
          <a:p>
            <a:pPr indent="0" marL="0">
              <a:buNone/>
            </a:pPr>
            <a:r>
              <a:rPr lang="en-US" sz="750" dirty="0">
                <a:solidFill>
                  <a:srgbClr val="333333"/>
                </a:solidFill>
                <a:latin typeface="Arial" pitchFamily="34" charset="0"/>
                <a:ea typeface="Arial" pitchFamily="34" charset="-122"/>
                <a:cs typeface="Arial" pitchFamily="34" charset="-120"/>
              </a:rPr>
              <a:t>Enable: tool in place, configure</a:t>
            </a:r>
            <a:endParaRPr lang="en-US" sz="750" dirty="0"/>
          </a:p>
        </p:txBody>
      </p:sp>
      <p:sp>
        <p:nvSpPr>
          <p:cNvPr id="11" name="Shape 7"/>
          <p:cNvSpPr/>
          <p:nvPr/>
        </p:nvSpPr>
        <p:spPr>
          <a:xfrm>
            <a:off x="3844138" y="6355080"/>
            <a:ext cx="201168" cy="146304"/>
          </a:xfrm>
          <a:prstGeom prst="rect">
            <a:avLst/>
          </a:prstGeom>
          <a:solidFill>
            <a:srgbClr val="E4D7F2"/>
          </a:solidFill>
          <a:ln w="6350">
            <a:solidFill>
              <a:srgbClr val="7F7F7F"/>
            </a:solidFill>
            <a:prstDash val="solid"/>
          </a:ln>
        </p:spPr>
      </p:sp>
      <p:sp>
        <p:nvSpPr>
          <p:cNvPr id="12" name="Text 8"/>
          <p:cNvSpPr txBox="1"/>
          <p:nvPr/>
        </p:nvSpPr>
        <p:spPr>
          <a:xfrm>
            <a:off x="4081882" y="6309360"/>
            <a:ext cx="2743200" cy="237744"/>
          </a:xfrm>
          <a:prstGeom prst="rect">
            <a:avLst/>
          </a:prstGeom>
          <a:noFill/>
          <a:ln/>
        </p:spPr>
        <p:txBody>
          <a:bodyPr wrap="square" lIns="0" tIns="0" rIns="0" bIns="0" rtlCol="0" anchor="ctr"/>
          <a:lstStyle/>
          <a:p>
            <a:pPr indent="0" marL="0">
              <a:buNone/>
            </a:pPr>
            <a:r>
              <a:rPr lang="en-US" sz="750" dirty="0">
                <a:solidFill>
                  <a:srgbClr val="333333"/>
                </a:solidFill>
                <a:latin typeface="Arial" pitchFamily="34" charset="0"/>
                <a:ea typeface="Arial" pitchFamily="34" charset="-122"/>
                <a:cs typeface="Arial" pitchFamily="34" charset="-120"/>
              </a:rPr>
              <a:t>Build: new component</a:t>
            </a:r>
            <a:endParaRPr lang="en-US" sz="750" dirty="0"/>
          </a:p>
        </p:txBody>
      </p:sp>
      <p:sp>
        <p:nvSpPr>
          <p:cNvPr id="13" name="Shape 9"/>
          <p:cNvSpPr/>
          <p:nvPr/>
        </p:nvSpPr>
        <p:spPr>
          <a:xfrm>
            <a:off x="5252314" y="6355080"/>
            <a:ext cx="201168" cy="146304"/>
          </a:xfrm>
          <a:prstGeom prst="rect">
            <a:avLst/>
          </a:prstGeom>
          <a:solidFill>
            <a:srgbClr val="E7E6E6"/>
          </a:solidFill>
          <a:ln w="6350">
            <a:solidFill>
              <a:srgbClr val="7F7F7F"/>
            </a:solidFill>
            <a:prstDash val="solid"/>
          </a:ln>
        </p:spPr>
      </p:sp>
      <p:sp>
        <p:nvSpPr>
          <p:cNvPr id="14" name="Text 10"/>
          <p:cNvSpPr txBox="1"/>
          <p:nvPr/>
        </p:nvSpPr>
        <p:spPr>
          <a:xfrm>
            <a:off x="5490058" y="6309360"/>
            <a:ext cx="2743200" cy="237744"/>
          </a:xfrm>
          <a:prstGeom prst="rect">
            <a:avLst/>
          </a:prstGeom>
          <a:noFill/>
          <a:ln/>
        </p:spPr>
        <p:txBody>
          <a:bodyPr wrap="square" lIns="0" tIns="0" rIns="0" bIns="0" rtlCol="0" anchor="ctr"/>
          <a:lstStyle/>
          <a:p>
            <a:pPr indent="0" marL="0">
              <a:buNone/>
            </a:pPr>
            <a:r>
              <a:rPr lang="en-US" sz="750" dirty="0">
                <a:solidFill>
                  <a:srgbClr val="333333"/>
                </a:solidFill>
                <a:latin typeface="Arial" pitchFamily="34" charset="0"/>
                <a:ea typeface="Arial" pitchFamily="34" charset="-122"/>
                <a:cs typeface="Arial" pitchFamily="34" charset="-120"/>
              </a:rPr>
              <a:t>RBC: Assist Pro path depends on an RBC capability</a:t>
            </a:r>
            <a:endParaRPr lang="en-US" sz="750" dirty="0"/>
          </a:p>
        </p:txBody>
      </p:sp>
      <p:sp>
        <p:nvSpPr>
          <p:cNvPr id="15" name="Shape 11"/>
          <p:cNvSpPr/>
          <p:nvPr/>
        </p:nvSpPr>
        <p:spPr>
          <a:xfrm>
            <a:off x="8039405" y="6355080"/>
            <a:ext cx="201168" cy="146304"/>
          </a:xfrm>
          <a:prstGeom prst="rect">
            <a:avLst/>
          </a:prstGeom>
          <a:solidFill>
            <a:srgbClr val="A9D18E"/>
          </a:solidFill>
          <a:ln w="6350">
            <a:solidFill>
              <a:srgbClr val="7F7F7F"/>
            </a:solidFill>
            <a:prstDash val="solid"/>
          </a:ln>
        </p:spPr>
      </p:sp>
      <p:sp>
        <p:nvSpPr>
          <p:cNvPr id="16" name="Text 12"/>
          <p:cNvSpPr txBox="1"/>
          <p:nvPr/>
        </p:nvSpPr>
        <p:spPr>
          <a:xfrm>
            <a:off x="8277149" y="6309360"/>
            <a:ext cx="2743200" cy="237744"/>
          </a:xfrm>
          <a:prstGeom prst="rect">
            <a:avLst/>
          </a:prstGeom>
          <a:noFill/>
          <a:ln/>
        </p:spPr>
        <p:txBody>
          <a:bodyPr wrap="square" lIns="0" tIns="0" rIns="0" bIns="0" rtlCol="0" anchor="ctr"/>
          <a:lstStyle/>
          <a:p>
            <a:pPr indent="0" marL="0">
              <a:buNone/>
            </a:pPr>
            <a:r>
              <a:rPr lang="en-US" sz="750" dirty="0">
                <a:solidFill>
                  <a:srgbClr val="333333"/>
                </a:solidFill>
                <a:latin typeface="Arial" pitchFamily="34" charset="0"/>
                <a:ea typeface="Arial" pitchFamily="34" charset="-122"/>
                <a:cs typeface="Arial" pitchFamily="34" charset="-120"/>
              </a:rPr>
              <a:t>Covered</a:t>
            </a:r>
            <a:endParaRPr lang="en-US" sz="750" dirty="0"/>
          </a:p>
        </p:txBody>
      </p:sp>
      <p:sp>
        <p:nvSpPr>
          <p:cNvPr id="17" name="Shape 13"/>
          <p:cNvSpPr/>
          <p:nvPr/>
        </p:nvSpPr>
        <p:spPr>
          <a:xfrm>
            <a:off x="8829446" y="6355080"/>
            <a:ext cx="201168" cy="146304"/>
          </a:xfrm>
          <a:prstGeom prst="rect">
            <a:avLst/>
          </a:prstGeom>
          <a:solidFill>
            <a:srgbClr val="FFE699"/>
          </a:solidFill>
          <a:ln w="6350">
            <a:solidFill>
              <a:srgbClr val="7F7F7F"/>
            </a:solidFill>
            <a:prstDash val="solid"/>
          </a:ln>
        </p:spPr>
      </p:sp>
      <p:sp>
        <p:nvSpPr>
          <p:cNvPr id="18" name="Text 14"/>
          <p:cNvSpPr txBox="1"/>
          <p:nvPr/>
        </p:nvSpPr>
        <p:spPr>
          <a:xfrm>
            <a:off x="9067190" y="6309360"/>
            <a:ext cx="2743200" cy="237744"/>
          </a:xfrm>
          <a:prstGeom prst="rect">
            <a:avLst/>
          </a:prstGeom>
          <a:noFill/>
          <a:ln/>
        </p:spPr>
        <p:txBody>
          <a:bodyPr wrap="square" lIns="0" tIns="0" rIns="0" bIns="0" rtlCol="0" anchor="ctr"/>
          <a:lstStyle/>
          <a:p>
            <a:pPr indent="0" marL="0">
              <a:buNone/>
            </a:pPr>
            <a:r>
              <a:rPr lang="en-US" sz="750" dirty="0">
                <a:solidFill>
                  <a:srgbClr val="333333"/>
                </a:solidFill>
                <a:latin typeface="Arial" pitchFamily="34" charset="0"/>
                <a:ea typeface="Arial" pitchFamily="34" charset="-122"/>
                <a:cs typeface="Arial" pitchFamily="34" charset="-120"/>
              </a:rPr>
              <a:t>Partial</a:t>
            </a:r>
            <a:endParaRPr lang="en-US" sz="750" dirty="0"/>
          </a:p>
        </p:txBody>
      </p:sp>
      <p:sp>
        <p:nvSpPr>
          <p:cNvPr id="19" name="Shape 15"/>
          <p:cNvSpPr/>
          <p:nvPr/>
        </p:nvSpPr>
        <p:spPr>
          <a:xfrm>
            <a:off x="9619488" y="6355080"/>
            <a:ext cx="201168" cy="146304"/>
          </a:xfrm>
          <a:prstGeom prst="rect">
            <a:avLst/>
          </a:prstGeom>
          <a:solidFill>
            <a:srgbClr val="F4B6B6"/>
          </a:solidFill>
          <a:ln w="6350">
            <a:solidFill>
              <a:srgbClr val="7F7F7F"/>
            </a:solidFill>
            <a:prstDash val="solid"/>
          </a:ln>
        </p:spPr>
      </p:sp>
      <p:sp>
        <p:nvSpPr>
          <p:cNvPr id="20" name="Text 16"/>
          <p:cNvSpPr txBox="1"/>
          <p:nvPr/>
        </p:nvSpPr>
        <p:spPr>
          <a:xfrm>
            <a:off x="9857232" y="6309360"/>
            <a:ext cx="2743200" cy="237744"/>
          </a:xfrm>
          <a:prstGeom prst="rect">
            <a:avLst/>
          </a:prstGeom>
          <a:noFill/>
          <a:ln/>
        </p:spPr>
        <p:txBody>
          <a:bodyPr wrap="square" lIns="0" tIns="0" rIns="0" bIns="0" rtlCol="0" anchor="ctr"/>
          <a:lstStyle/>
          <a:p>
            <a:pPr indent="0" marL="0">
              <a:buNone/>
            </a:pPr>
            <a:r>
              <a:rPr lang="en-US" sz="750" dirty="0">
                <a:solidFill>
                  <a:srgbClr val="333333"/>
                </a:solidFill>
                <a:latin typeface="Arial" pitchFamily="34" charset="0"/>
                <a:ea typeface="Arial" pitchFamily="34" charset="-122"/>
                <a:cs typeface="Arial" pitchFamily="34" charset="-120"/>
              </a:rPr>
              <a:t>Gap</a:t>
            </a:r>
            <a:endParaRPr lang="en-US" sz="7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800" dirty="0">
                <a:solidFill>
                  <a:srgbClr val="2E6DB4"/>
                </a:solidFill>
                <a:latin typeface="Arial" pitchFamily="34" charset="0"/>
                <a:ea typeface="Arial" pitchFamily="34" charset="-122"/>
                <a:cs typeface="Arial" pitchFamily="34" charset="-120"/>
              </a:rPr>
              <a:t>Controls and the Components That Enable Them</a:t>
            </a:r>
            <a:endParaRPr lang="en-US" sz="28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Which sub-capabilities each control requires, its earliest version, and why it cannot come earlier</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4552" cy="914400"/>
        </p:xfrm>
        <a:graphic>
          <a:graphicData uri="http://schemas.openxmlformats.org/drawingml/2006/table">
            <a:tbl>
              <a:tblPr/>
              <a:tblGrid>
                <a:gridCol w="2103120"/>
                <a:gridCol w="3931920"/>
                <a:gridCol w="1463040"/>
                <a:gridCol w="3776472"/>
              </a:tblGrid>
              <a:tr h="0">
                <a:tc>
                  <a:txBody>
                    <a:bodyPr/>
                    <a:lstStyle/>
                    <a:p>
                      <a:pPr indent="0" marL="0">
                        <a:buNone/>
                      </a:pPr>
                      <a:r>
                        <a:rPr lang="en-US" sz="850" b="1" dirty="0">
                          <a:solidFill>
                            <a:srgbClr val="FFFFFF"/>
                          </a:solidFill>
                          <a:latin typeface="Arial" pitchFamily="34" charset="0"/>
                          <a:ea typeface="Arial" pitchFamily="34" charset="-122"/>
                          <a:cs typeface="Arial" pitchFamily="34" charset="-120"/>
                        </a:rPr>
                        <a:t>Control</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Components required (sub-capability IDs)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Earliest</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Dependency, or why not earlier</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Detective key word monitoring*</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2.1 interaction logging; 2.2 key word and toxic combination matching; 8.2 report generation and review; 8.3 compliance review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V1</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Runs on logged interactions. For RBC Assist and Assist Pro it depends on RBC provided logs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In-line warning*</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2.1; 2.3 semantic and sentiment analysis; 2.4 injection and sensitive data detection; 2.6 warning and messaging hook</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V2</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Needs a real time classification point: Model Armor at Apigee for CNB paths, the RBC UI for Assist Pro</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Temporary suspension*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1.2 user attribution; 1.5 access actions; 8.4 escalation notification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V2</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Identity actions (Entra conditional access) wired to monitoring; suspension on Assist Pro is an RBC action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Escalation notification*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2.5 new pattern identification; 8.4 escalation; Datadog alert routing to on call</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V2</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Needs alert routing and severity rules in place</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Agent deletion*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3.2 agent registry and ownership; 1.5 access actions; 8.1 action record</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V2</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Assist Pro agents live in the RBC registry; CNB agents in Foundry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In-line termination: the kill switch</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3.1 tool call logging; 3.3 token metering; 3.5 termination point; 1.2 user attribution; 8.1 action record; 8.4 escalation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V2 CNB paths; V3 Assist Pro</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No CNB control point on the Assist Pro path today; requires RBC in-line termination, or an escalation path with a response target. Written down now as a capability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Token threshold termination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3.3 token metering; 3.5 termination point (Apigee LLM token quota, 429 on exceed); 8.1 action record</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V2 CNB paths; V3 Assist Pro</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Same dependency as the kill switch; quota policy exists on Apigee and needs enabling</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Real time censoring and blocking*</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2.4 detection; 2.7 blocking action (Model Armor block); 8.1 action record</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V2 CNB paths; V3 Assist Pro</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Blocking requires the gateway in the request path</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Unauthorized use detection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1.1 usage inventory; 1.3 entitlement scoping; 1.4 shadow AI detection; 3.4 tool allowlists; 7.2 anomalous access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V1 detect; V2 enforce</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Detection from identity, Purview, and gateway logs; enforcement needs Apigee authorization and conditional access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Quarterly pattern review and key word revision*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6F5"/>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2.5 new pattern identification; 8.6 quarterly review; 5.6 sustainability review; 8.1 record; 8.2 report</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V1</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Process control: 1st, 2nd and 3rd LOD review the record and the report</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7" name="Text 3"/>
          <p:cNvSpPr txBox="1"/>
          <p:nvPr/>
        </p:nvSpPr>
        <p:spPr>
          <a:xfrm>
            <a:off x="457200" y="6263640"/>
            <a:ext cx="11274552" cy="274320"/>
          </a:xfrm>
          <a:prstGeom prst="rect">
            <a:avLst/>
          </a:prstGeom>
          <a:noFill/>
          <a:ln/>
        </p:spPr>
        <p:txBody>
          <a:bodyPr wrap="square" lIns="0" tIns="0" rIns="0" bIns="0" rtlCol="0" anchor="ctr"/>
          <a:lstStyle/>
          <a:p>
            <a:pPr indent="0" marL="0">
              <a:buNone/>
            </a:pPr>
            <a:r>
              <a:rPr lang="en-US" sz="850" i="1" dirty="0">
                <a:solidFill>
                  <a:srgbClr val="595959"/>
                </a:solidFill>
                <a:latin typeface="Arial" pitchFamily="34" charset="0"/>
                <a:ea typeface="Arial" pitchFamily="34" charset="-122"/>
                <a:cs typeface="Arial" pitchFamily="34" charset="-120"/>
              </a:rPr>
              <a:t>* control from the Prompt Observability and Monitoring deck. Components use the IDs from the capability breakdown.</a:t>
            </a:r>
            <a:endParaRPr lang="en-US" sz="8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91472" y="18288"/>
            <a:ext cx="2697480" cy="1348740"/>
          </a:xfrm>
          <a:prstGeom prst="rect">
            <a:avLst/>
          </a:prstGeom>
        </p:spPr>
      </p:pic>
      <p:sp>
        <p:nvSpPr>
          <p:cNvPr id="3" name="Text 0"/>
          <p:cNvSpPr txBox="1"/>
          <p:nvPr/>
        </p:nvSpPr>
        <p:spPr>
          <a:xfrm>
            <a:off x="457200" y="347472"/>
            <a:ext cx="8961120" cy="566928"/>
          </a:xfrm>
          <a:prstGeom prst="rect">
            <a:avLst/>
          </a:prstGeom>
          <a:noFill/>
          <a:ln/>
        </p:spPr>
        <p:txBody>
          <a:bodyPr wrap="square" lIns="0" tIns="0" rIns="0" bIns="0" rtlCol="0" anchor="ctr"/>
          <a:lstStyle/>
          <a:p>
            <a:pPr indent="0" marL="0">
              <a:buNone/>
            </a:pPr>
            <a:r>
              <a:rPr lang="en-US" sz="2100" dirty="0">
                <a:solidFill>
                  <a:srgbClr val="2E6DB4"/>
                </a:solidFill>
                <a:latin typeface="Arial" pitchFamily="34" charset="0"/>
                <a:ea typeface="Arial" pitchFamily="34" charset="-122"/>
                <a:cs typeface="Arial" pitchFamily="34" charset="-120"/>
              </a:rPr>
              <a:t>Lineage from the Prompt Observability and Monitoring Deck</a:t>
            </a:r>
            <a:endParaRPr lang="en-US" sz="2100" dirty="0"/>
          </a:p>
        </p:txBody>
      </p:sp>
      <p:sp>
        <p:nvSpPr>
          <p:cNvPr id="4" name="Text 1"/>
          <p:cNvSpPr txBox="1"/>
          <p:nvPr/>
        </p:nvSpPr>
        <p:spPr>
          <a:xfrm>
            <a:off x="457200" y="896112"/>
            <a:ext cx="8961120" cy="329184"/>
          </a:xfrm>
          <a:prstGeom prst="rect">
            <a:avLst/>
          </a:prstGeom>
          <a:noFill/>
          <a:ln/>
        </p:spPr>
        <p:txBody>
          <a:bodyPr wrap="square" lIns="0" tIns="0" rIns="0" bIns="0" rtlCol="0" anchor="ctr"/>
          <a:lstStyle/>
          <a:p>
            <a:pPr indent="0" marL="0">
              <a:buNone/>
            </a:pPr>
            <a:r>
              <a:rPr lang="en-US" sz="1500" b="1" dirty="0">
                <a:solidFill>
                  <a:srgbClr val="1F3864"/>
                </a:solidFill>
                <a:latin typeface="Arial" pitchFamily="34" charset="0"/>
                <a:ea typeface="Arial" pitchFamily="34" charset="-122"/>
                <a:cs typeface="Arial" pitchFamily="34" charset="-120"/>
              </a:rPr>
              <a:t>Every component of the original slides, and the sub-capability it maps to</a:t>
            </a:r>
            <a:endParaRPr lang="en-US" sz="1500" dirty="0"/>
          </a:p>
        </p:txBody>
      </p:sp>
      <p:sp>
        <p:nvSpPr>
          <p:cNvPr id="5" name="Shape 2"/>
          <p:cNvSpPr/>
          <p:nvPr/>
        </p:nvSpPr>
        <p:spPr>
          <a:xfrm>
            <a:off x="457200" y="1261872"/>
            <a:ext cx="11274552" cy="0"/>
          </a:xfrm>
          <a:prstGeom prst="line">
            <a:avLst/>
          </a:prstGeom>
          <a:noFill/>
          <a:ln w="9525">
            <a:solidFill>
              <a:srgbClr val="BFBFBF"/>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559552" cy="914400"/>
        </p:xfrm>
        <a:graphic>
          <a:graphicData uri="http://schemas.openxmlformats.org/drawingml/2006/table">
            <a:tbl>
              <a:tblPr/>
              <a:tblGrid>
                <a:gridCol w="2651760"/>
                <a:gridCol w="2907792"/>
              </a:tblGrid>
              <a:tr h="0">
                <a:tc>
                  <a:txBody>
                    <a:bodyPr/>
                    <a:lstStyle/>
                    <a:p>
                      <a:pPr indent="0" marL="0">
                        <a:buNone/>
                      </a:pPr>
                      <a:r>
                        <a:rPr lang="en-US" sz="850" b="1" dirty="0">
                          <a:solidFill>
                            <a:srgbClr val="FFFFFF"/>
                          </a:solidFill>
                          <a:latin typeface="Arial" pitchFamily="34" charset="0"/>
                          <a:ea typeface="Arial" pitchFamily="34" charset="-122"/>
                          <a:cs typeface="Arial" pitchFamily="34" charset="-120"/>
                        </a:rPr>
                        <a:t>Component in the original deck</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Sub-capability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Chat Interface</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2.1 Interaction logging (channel)</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Agent Builder</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3.2 Agent registry and ownership</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Key Words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2.2 Key word and toxic combination matching</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Toxic Combinations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2.2 Key word and toxic combination matching</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Sentiment Refinement</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2.3 Semantic and sentiment analysis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Interaction Logging</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2.1 Interaction logging: prompt, response, tools called, user</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Key Word Match</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2.2 Key word and toxic combination matching</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Report Generation, Monitoring Report</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8.2 Report generation and report review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Key-Word Report Review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8.2 Report generation and report review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New Pattern Identification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2.5 New pattern identification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Verification of AI Output</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5.2 Verification of AI output</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Compliance Review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8.3 Compliance review and employee action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Employee Action Initiation, Employee Management</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8.3 Compliance review and employee action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Quarterly: Pattern Review and Key-Word Revision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8.6 Quarterly pattern and framework review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In-Line Warning</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2.6 In-line warning and real time messaging</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172200" y="1371600"/>
          <a:ext cx="5559552" cy="914400"/>
        </p:xfrm>
        <a:graphic>
          <a:graphicData uri="http://schemas.openxmlformats.org/drawingml/2006/table">
            <a:tbl>
              <a:tblPr/>
              <a:tblGrid>
                <a:gridCol w="2651760"/>
                <a:gridCol w="2907792"/>
              </a:tblGrid>
              <a:tr h="0">
                <a:tc>
                  <a:txBody>
                    <a:bodyPr/>
                    <a:lstStyle/>
                    <a:p>
                      <a:pPr indent="0" marL="0">
                        <a:buNone/>
                      </a:pPr>
                      <a:r>
                        <a:rPr lang="en-US" sz="850" b="1" dirty="0">
                          <a:solidFill>
                            <a:srgbClr val="FFFFFF"/>
                          </a:solidFill>
                          <a:latin typeface="Arial" pitchFamily="34" charset="0"/>
                          <a:ea typeface="Arial" pitchFamily="34" charset="-122"/>
                          <a:cs typeface="Arial" pitchFamily="34" charset="-120"/>
                        </a:rPr>
                        <a:t>Component in the original deck</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Sub-capability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5CAD"/>
                    </a:solidFill>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Real Time Messaging</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2.6 In-line warning and real time messaging</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Temporary Suspension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1.5 Access actions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Escalation Notification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8.4 Escalation notification and action review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Agent Deletion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1.5 Access actions; 3.2 Agent registry</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Semantic filtering (V2)</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2.3 Semantic and sentiment analysis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Prompt Monitoring (agent team)</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2.1 Interaction logging; 3.1 Tool call logging</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Sentiment Analysis (agent team)</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2.3 Semantic and sentiment analysis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Session Review, User Review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5.3 Session review and user review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Adversarial Review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5.4 Adversarial review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Sustainability Review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5.6 Sustainability review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Action Review and Escalation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8.4 Escalation notification and action review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Suspension Review, Suspension Confirmation</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1.5 Access actions; 8.3 Compliance review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Shared Semantic Context</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3.6 Agent to agent and MCP chain tracing; 4.1 Retrieval traces</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Quarterly: Review Monitoring Framework and Agent Output</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8.6 Quarterly pattern and framework review</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0">
                <a:tc>
                  <a:txBody>
                    <a:bodyPr/>
                    <a:lstStyle/>
                    <a:p>
                      <a:pPr indent="0" marL="0">
                        <a:buNone/>
                      </a:pPr>
                      <a:r>
                        <a:rPr lang="en-US" sz="850" b="1" dirty="0">
                          <a:solidFill>
                            <a:srgbClr val="333333"/>
                          </a:solidFill>
                          <a:latin typeface="Arial" pitchFamily="34" charset="0"/>
                          <a:ea typeface="Arial" pitchFamily="34" charset="-122"/>
                          <a:cs typeface="Arial" pitchFamily="34" charset="-120"/>
                        </a:rPr>
                        <a:t>Real time censoring and blocking (V3)</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2.7 Real time censoring and blocking</a:t>
                      </a:r>
                      <a:endParaRPr lang="en-US" sz="850" dirty="0">
                        <a:latin typeface="Arial" charset="0"/>
                        <a:ea typeface="Arial" charset="0"/>
                        <a:cs typeface="Arial" charset="0"/>
                      </a:endParaRPr>
                    </a:p>
                  </a:txBody>
                  <a:tcPr marL="36576" marR="36576" marT="36576" marB="36576"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8" name="Text 3"/>
          <p:cNvSpPr txBox="1"/>
          <p:nvPr/>
        </p:nvSpPr>
        <p:spPr>
          <a:xfrm>
            <a:off x="457200" y="6263640"/>
            <a:ext cx="11274552" cy="274320"/>
          </a:xfrm>
          <a:prstGeom prst="rect">
            <a:avLst/>
          </a:prstGeom>
          <a:noFill/>
          <a:ln/>
        </p:spPr>
        <p:txBody>
          <a:bodyPr wrap="square" lIns="0" tIns="0" rIns="0" bIns="0" rtlCol="0" anchor="ctr"/>
          <a:lstStyle/>
          <a:p>
            <a:pPr indent="0" marL="0">
              <a:buNone/>
            </a:pPr>
            <a:r>
              <a:rPr lang="en-US" sz="850" i="1" dirty="0">
                <a:solidFill>
                  <a:srgbClr val="595959"/>
                </a:solidFill>
                <a:latin typeface="Arial" pitchFamily="34" charset="0"/>
                <a:ea typeface="Arial" pitchFamily="34" charset="-122"/>
                <a:cs typeface="Arial" pitchFamily="34" charset="-120"/>
              </a:rPr>
              <a:t>Nothing from the original slides is dropped; each component becomes, or joins, a sub-capability that is assigned to tools and controls on the preceding pages.</a:t>
            </a:r>
            <a:endParaRPr lang="en-US" sz="8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Monitoring and Observability Strategy: Addendum, Capability Breakdown and Coverage</dc:title>
  <dc:subject>PptxGenJS Presentation</dc:subject>
  <dc:creator>PptxGenJS</dc:creator>
  <cp:lastModifiedBy>PptxGenJS</cp:lastModifiedBy>
  <cp:revision>1</cp:revision>
  <dcterms:created xsi:type="dcterms:W3CDTF">2026-10-05T16:25:51Z</dcterms:created>
  <dcterms:modified xsi:type="dcterms:W3CDTF">2026-10-05T16:25:51Z</dcterms:modified>
</cp:coreProperties>
</file>