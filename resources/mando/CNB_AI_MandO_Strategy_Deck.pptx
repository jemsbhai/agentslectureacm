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slideLayout" Target="../slideLayouts/slideLayout1.xml"/><Relationship Id="rId3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image" Target="../media/image-12-22.png"/><Relationship Id="rId23" Type="http://schemas.openxmlformats.org/officeDocument/2006/relationships/image" Target="../media/image-12-23.png"/><Relationship Id="rId24" Type="http://schemas.openxmlformats.org/officeDocument/2006/relationships/image" Target="../media/image-12-24.png"/><Relationship Id="rId25" Type="http://schemas.openxmlformats.org/officeDocument/2006/relationships/image" Target="../media/image-12-25.png"/><Relationship Id="rId26" Type="http://schemas.openxmlformats.org/officeDocument/2006/relationships/image" Target="../media/image-12-26.png"/><Relationship Id="rId27" Type="http://schemas.openxmlformats.org/officeDocument/2006/relationships/image" Target="../media/image-12-27.png"/><Relationship Id="rId28" Type="http://schemas.openxmlformats.org/officeDocument/2006/relationships/image" Target="../media/image-12-28.png"/><Relationship Id="rId29" Type="http://schemas.openxmlformats.org/officeDocument/2006/relationships/image" Target="../media/image-12-29.png"/><Relationship Id="rId30" Type="http://schemas.openxmlformats.org/officeDocument/2006/relationships/slideLayout" Target="../slideLayouts/slideLayout1.xml"/><Relationship Id="rId3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slideLayout" Target="../slideLayouts/slideLayout1.xml"/><Relationship Id="rId2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1463040"/>
            <a:ext cx="12188952" cy="5486400"/>
          </a:xfrm>
          <a:prstGeom prst="rect">
            <a:avLst/>
          </a:prstGeom>
        </p:spPr>
      </p:pic>
      <p:sp>
        <p:nvSpPr>
          <p:cNvPr id="3" name="Text 0"/>
          <p:cNvSpPr txBox="1"/>
          <p:nvPr/>
        </p:nvSpPr>
        <p:spPr>
          <a:xfrm>
            <a:off x="640080" y="1417320"/>
            <a:ext cx="10515600" cy="1463040"/>
          </a:xfrm>
          <a:prstGeom prst="rect">
            <a:avLst/>
          </a:prstGeom>
          <a:noFill/>
          <a:ln/>
        </p:spPr>
        <p:txBody>
          <a:bodyPr wrap="square" lIns="0" tIns="0" rIns="0" bIns="0" rtlCol="0" anchor="ctr"/>
          <a:lstStyle/>
          <a:p>
            <a:pPr indent="0" marL="0">
              <a:buNone/>
            </a:pPr>
            <a:r>
              <a:rPr lang="en-US" sz="4000" b="1" dirty="0">
                <a:solidFill>
                  <a:srgbClr val="2E6DB4"/>
                </a:solidFill>
                <a:latin typeface="Arial" pitchFamily="34" charset="0"/>
                <a:ea typeface="Arial" pitchFamily="34" charset="-122"/>
                <a:cs typeface="Arial" pitchFamily="34" charset="-120"/>
              </a:rPr>
              <a:t>AI Monitoring and Observability Strategy</a:t>
            </a:r>
            <a:endParaRPr lang="en-US" sz="4000" dirty="0"/>
          </a:p>
        </p:txBody>
      </p:sp>
      <p:sp>
        <p:nvSpPr>
          <p:cNvPr id="4" name="Text 1"/>
          <p:cNvSpPr txBox="1"/>
          <p:nvPr/>
        </p:nvSpPr>
        <p:spPr>
          <a:xfrm>
            <a:off x="640080" y="2926080"/>
            <a:ext cx="10515600" cy="548640"/>
          </a:xfrm>
          <a:prstGeom prst="rect">
            <a:avLst/>
          </a:prstGeom>
          <a:noFill/>
          <a:ln/>
        </p:spPr>
        <p:txBody>
          <a:bodyPr wrap="square" lIns="0" tIns="0" rIns="0" bIns="0" rtlCol="0" anchor="ctr"/>
          <a:lstStyle/>
          <a:p>
            <a:pPr indent="0" marL="0">
              <a:buNone/>
            </a:pPr>
            <a:r>
              <a:rPr lang="en-US" sz="2200" dirty="0">
                <a:solidFill>
                  <a:srgbClr val="2E6DB4"/>
                </a:solidFill>
                <a:latin typeface="Arial" pitchFamily="34" charset="0"/>
                <a:ea typeface="Arial" pitchFamily="34" charset="-122"/>
                <a:cs typeface="Arial" pitchFamily="34" charset="-120"/>
              </a:rPr>
              <a:t>New Key Control Family: Capabilities, Target State, and Phased Delivery</a:t>
            </a:r>
            <a:endParaRPr lang="en-US" sz="2200" dirty="0"/>
          </a:p>
        </p:txBody>
      </p:sp>
      <p:sp>
        <p:nvSpPr>
          <p:cNvPr id="5" name="Text 2"/>
          <p:cNvSpPr txBox="1"/>
          <p:nvPr/>
        </p:nvSpPr>
        <p:spPr>
          <a:xfrm>
            <a:off x="640080" y="3520440"/>
            <a:ext cx="9601200" cy="45720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Extends the Prompt Observability and Monitoring control to every CNB AI use case, with what CNB builds and what RBC provides.</a:t>
            </a:r>
            <a:endParaRPr lang="en-US" sz="1400" dirty="0"/>
          </a:p>
        </p:txBody>
      </p:sp>
      <p:sp>
        <p:nvSpPr>
          <p:cNvPr id="6" name="Text 3"/>
          <p:cNvSpPr txBox="1"/>
          <p:nvPr/>
        </p:nvSpPr>
        <p:spPr>
          <a:xfrm>
            <a:off x="10515600" y="274320"/>
            <a:ext cx="1371600" cy="457200"/>
          </a:xfrm>
          <a:prstGeom prst="rect">
            <a:avLst/>
          </a:prstGeom>
          <a:noFill/>
          <a:ln/>
        </p:spPr>
        <p:txBody>
          <a:bodyPr wrap="square" lIns="0" tIns="0" rIns="0" bIns="0" rtlCol="0" anchor="ctr"/>
          <a:lstStyle/>
          <a:p>
            <a:pPr algn="r" indent="0" marL="0">
              <a:buNone/>
            </a:pPr>
            <a:r>
              <a:rPr lang="en-US" sz="2400" b="1" dirty="0">
                <a:solidFill>
                  <a:srgbClr val="C00000"/>
                </a:solidFill>
                <a:latin typeface="Arial" pitchFamily="34" charset="0"/>
                <a:ea typeface="Arial" pitchFamily="34" charset="-122"/>
                <a:cs typeface="Arial" pitchFamily="34" charset="-120"/>
              </a:rPr>
              <a:t>Draft</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100" dirty="0">
                <a:solidFill>
                  <a:srgbClr val="2E6DB4"/>
                </a:solidFill>
                <a:latin typeface="Arial" pitchFamily="34" charset="0"/>
                <a:ea typeface="Arial" pitchFamily="34" charset="-122"/>
                <a:cs typeface="Arial" pitchFamily="34" charset="-120"/>
              </a:rPr>
              <a:t>Why CNB Needs Its Own Monitoring and Observability Capabilities</a:t>
            </a:r>
            <a:endParaRPr lang="en-US" sz="21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Problems to solve, what is in scope, and the capabilities that answer them</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2</a:t>
            </a:r>
            <a:endParaRPr lang="en-US" sz="1000" dirty="0"/>
          </a:p>
        </p:txBody>
      </p:sp>
      <p:sp>
        <p:nvSpPr>
          <p:cNvPr id="7" name="Shape 4"/>
          <p:cNvSpPr/>
          <p:nvPr/>
        </p:nvSpPr>
        <p:spPr>
          <a:xfrm>
            <a:off x="457200" y="1417320"/>
            <a:ext cx="3611880" cy="365760"/>
          </a:xfrm>
          <a:prstGeom prst="rect">
            <a:avLst/>
          </a:prstGeom>
          <a:solidFill>
            <a:srgbClr val="D6E6F5"/>
          </a:solidFill>
          <a:ln w="12700">
            <a:solidFill>
              <a:srgbClr val="D6E6F5"/>
            </a:solidFill>
            <a:prstDash val="solid"/>
          </a:ln>
        </p:spPr>
      </p:sp>
      <p:sp>
        <p:nvSpPr>
          <p:cNvPr id="8" name="Text 5"/>
          <p:cNvSpPr txBox="1"/>
          <p:nvPr/>
        </p:nvSpPr>
        <p:spPr>
          <a:xfrm>
            <a:off x="548640" y="1417320"/>
            <a:ext cx="3429000" cy="365760"/>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Problems to solve</a:t>
            </a:r>
            <a:endParaRPr lang="en-US" sz="1300" dirty="0"/>
          </a:p>
        </p:txBody>
      </p:sp>
      <p:sp>
        <p:nvSpPr>
          <p:cNvPr id="9" name="Shape 6"/>
          <p:cNvSpPr/>
          <p:nvPr/>
        </p:nvSpPr>
        <p:spPr>
          <a:xfrm>
            <a:off x="4297680" y="1417320"/>
            <a:ext cx="3611880" cy="365760"/>
          </a:xfrm>
          <a:prstGeom prst="rect">
            <a:avLst/>
          </a:prstGeom>
          <a:solidFill>
            <a:srgbClr val="D6E6F5"/>
          </a:solidFill>
          <a:ln w="12700">
            <a:solidFill>
              <a:srgbClr val="D6E6F5"/>
            </a:solidFill>
            <a:prstDash val="solid"/>
          </a:ln>
        </p:spPr>
      </p:sp>
      <p:sp>
        <p:nvSpPr>
          <p:cNvPr id="10" name="Text 7"/>
          <p:cNvSpPr txBox="1"/>
          <p:nvPr/>
        </p:nvSpPr>
        <p:spPr>
          <a:xfrm>
            <a:off x="4389120" y="1417320"/>
            <a:ext cx="3429000" cy="365760"/>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What is in scope</a:t>
            </a:r>
            <a:endParaRPr lang="en-US" sz="1300" dirty="0"/>
          </a:p>
        </p:txBody>
      </p:sp>
      <p:sp>
        <p:nvSpPr>
          <p:cNvPr id="11" name="Shape 8"/>
          <p:cNvSpPr/>
          <p:nvPr/>
        </p:nvSpPr>
        <p:spPr>
          <a:xfrm>
            <a:off x="8138160" y="1417320"/>
            <a:ext cx="3611880" cy="365760"/>
          </a:xfrm>
          <a:prstGeom prst="rect">
            <a:avLst/>
          </a:prstGeom>
          <a:solidFill>
            <a:srgbClr val="D6E6F5"/>
          </a:solidFill>
          <a:ln w="12700">
            <a:solidFill>
              <a:srgbClr val="D6E6F5"/>
            </a:solidFill>
            <a:prstDash val="solid"/>
          </a:ln>
        </p:spPr>
      </p:sp>
      <p:sp>
        <p:nvSpPr>
          <p:cNvPr id="12" name="Text 9"/>
          <p:cNvSpPr txBox="1"/>
          <p:nvPr/>
        </p:nvSpPr>
        <p:spPr>
          <a:xfrm>
            <a:off x="8229600" y="1417320"/>
            <a:ext cx="3429000" cy="365760"/>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Eight capabilities</a:t>
            </a:r>
            <a:endParaRPr lang="en-US" sz="1300" dirty="0"/>
          </a:p>
        </p:txBody>
      </p:sp>
      <p:sp>
        <p:nvSpPr>
          <p:cNvPr id="13" name="Text 10"/>
          <p:cNvSpPr/>
          <p:nvPr/>
        </p:nvSpPr>
        <p:spPr>
          <a:xfrm>
            <a:off x="457200" y="1874520"/>
            <a:ext cx="3611880" cy="37490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Different jurisdictional requirements from RBC</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Build only what the enterprise has not built; reuse enterprise capabilities</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Monitor the risk that comes with widespread deployment of RBC Assist Pro</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Proactive monitoring: near real time prompt observability</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An agent kill switch</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Visibility into tool calling; terminate a process when token consumption crosses a threshold</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A CNB architecture we can state, and the superset of risks CNB is subject to</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Position today: CNB cannot consume RBC's M&amp;O tooling; RBC shares anonymized agent metadata on request</a:t>
            </a:r>
            <a:endParaRPr lang="en-US" sz="1000" dirty="0"/>
          </a:p>
        </p:txBody>
      </p:sp>
      <p:sp>
        <p:nvSpPr>
          <p:cNvPr id="14" name="Text 11"/>
          <p:cNvSpPr/>
          <p:nvPr/>
        </p:nvSpPr>
        <p:spPr>
          <a:xfrm>
            <a:off x="4297680" y="1874520"/>
            <a:ext cx="3611880" cy="37490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RBC Assist Pro used by CNB staff (RBC gateway path)</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Vendor applications with vendor hosted models: Salesforce Agentforce, nCino Banking Advisor, Emburse, WRITER</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Vendor and internal applications on the RBC gateway: AgilLink, Atlassian Rovo AI, Helios</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CNB built applications and agents on Microsoft Foundry; CNB hosted MCP tools</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Third party tools: Microsoft 365 Copilot, Claude Code; Workato under evaluation</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To confirm: Functions Assist; Omilia Voice Biometrics (non LLM)</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Every use case is observed at a control point CNB owns, or through a named RBC or vendor capability</a:t>
            </a:r>
            <a:endParaRPr lang="en-US" sz="1000" dirty="0"/>
          </a:p>
        </p:txBody>
      </p:sp>
      <p:sp>
        <p:nvSpPr>
          <p:cNvPr id="15" name="Text 12"/>
          <p:cNvSpPr/>
          <p:nvPr/>
        </p:nvSpPr>
        <p:spPr>
          <a:xfrm>
            <a:off x="8138160" y="1874520"/>
            <a:ext cx="3611880" cy="2651760"/>
          </a:xfrm>
          <a:prstGeom prst="rect">
            <a:avLst/>
          </a:prstGeom>
          <a:noFill/>
          <a:ln/>
        </p:spPr>
        <p:txBody>
          <a:bodyPr wrap="square" lIns="0" tIns="0" rIns="0" bIns="0" rtlCol="0" anchor="t"/>
          <a:lstStyle/>
          <a:p>
            <a:pPr marL="152400" indent="-152400">
              <a:spcAft>
                <a:spcPts val="400"/>
              </a:spcAft>
              <a:buSzPct val="100000"/>
              <a:buChar char="•"/>
            </a:pPr>
            <a:r>
              <a:rPr lang="en-US" sz="1100" b="1" dirty="0">
                <a:solidFill>
                  <a:srgbClr val="1F3864"/>
                </a:solidFill>
                <a:latin typeface="Arial" pitchFamily="34" charset="0"/>
                <a:ea typeface="Arial" pitchFamily="34" charset="-122"/>
                <a:cs typeface="Arial" pitchFamily="34" charset="-120"/>
              </a:rPr>
              <a:t>Usage and Access</a:t>
            </a:r>
            <a:endParaRPr lang="en-US" sz="1100" dirty="0"/>
          </a:p>
          <a:p>
            <a:pPr marL="152400" indent="-152400">
              <a:spcAft>
                <a:spcPts val="400"/>
              </a:spcAft>
              <a:buSzPct val="100000"/>
              <a:buChar char="•"/>
            </a:pPr>
            <a:r>
              <a:rPr lang="en-US" sz="1100" b="1" dirty="0">
                <a:solidFill>
                  <a:srgbClr val="1F3864"/>
                </a:solidFill>
                <a:latin typeface="Arial" pitchFamily="34" charset="0"/>
                <a:ea typeface="Arial" pitchFamily="34" charset="-122"/>
                <a:cs typeface="Arial" pitchFamily="34" charset="-120"/>
              </a:rPr>
              <a:t>Prompts and Content</a:t>
            </a:r>
            <a:endParaRPr lang="en-US" sz="1100" dirty="0"/>
          </a:p>
          <a:p>
            <a:pPr marL="152400" indent="-152400">
              <a:spcAft>
                <a:spcPts val="400"/>
              </a:spcAft>
              <a:buSzPct val="100000"/>
              <a:buChar char="•"/>
            </a:pPr>
            <a:r>
              <a:rPr lang="en-US" sz="1100" b="1" dirty="0">
                <a:solidFill>
                  <a:srgbClr val="1F3864"/>
                </a:solidFill>
                <a:latin typeface="Arial" pitchFamily="34" charset="0"/>
                <a:ea typeface="Arial" pitchFamily="34" charset="-122"/>
                <a:cs typeface="Arial" pitchFamily="34" charset="-120"/>
              </a:rPr>
              <a:t>Agents and Tool Calls</a:t>
            </a:r>
            <a:endParaRPr lang="en-US" sz="1100" dirty="0"/>
          </a:p>
          <a:p>
            <a:pPr marL="152400" indent="-152400">
              <a:spcAft>
                <a:spcPts val="400"/>
              </a:spcAft>
              <a:buSzPct val="100000"/>
              <a:buChar char="•"/>
            </a:pPr>
            <a:r>
              <a:rPr lang="en-US" sz="1100" b="1" dirty="0">
                <a:solidFill>
                  <a:srgbClr val="1F3864"/>
                </a:solidFill>
                <a:latin typeface="Arial" pitchFamily="34" charset="0"/>
                <a:ea typeface="Arial" pitchFamily="34" charset="-122"/>
                <a:cs typeface="Arial" pitchFamily="34" charset="-120"/>
              </a:rPr>
              <a:t>Retrieval and Data (RAG)</a:t>
            </a:r>
            <a:endParaRPr lang="en-US" sz="1100" dirty="0"/>
          </a:p>
          <a:p>
            <a:pPr marL="152400" indent="-152400">
              <a:spcAft>
                <a:spcPts val="400"/>
              </a:spcAft>
              <a:buSzPct val="100000"/>
              <a:buChar char="•"/>
            </a:pPr>
            <a:r>
              <a:rPr lang="en-US" sz="1100" b="1" dirty="0">
                <a:solidFill>
                  <a:srgbClr val="1F3864"/>
                </a:solidFill>
                <a:latin typeface="Arial" pitchFamily="34" charset="0"/>
                <a:ea typeface="Arial" pitchFamily="34" charset="-122"/>
                <a:cs typeface="Arial" pitchFamily="34" charset="-120"/>
              </a:rPr>
              <a:t>Quality and Drift</a:t>
            </a:r>
            <a:endParaRPr lang="en-US" sz="1100" dirty="0"/>
          </a:p>
          <a:p>
            <a:pPr marL="152400" indent="-152400">
              <a:spcAft>
                <a:spcPts val="400"/>
              </a:spcAft>
              <a:buSzPct val="100000"/>
              <a:buChar char="•"/>
            </a:pPr>
            <a:r>
              <a:rPr lang="en-US" sz="1100" b="1" dirty="0">
                <a:solidFill>
                  <a:srgbClr val="1F3864"/>
                </a:solidFill>
                <a:latin typeface="Arial" pitchFamily="34" charset="0"/>
                <a:ea typeface="Arial" pitchFamily="34" charset="-122"/>
                <a:cs typeface="Arial" pitchFamily="34" charset="-120"/>
              </a:rPr>
              <a:t>Cost and Performance</a:t>
            </a:r>
            <a:endParaRPr lang="en-US" sz="1100" dirty="0"/>
          </a:p>
          <a:p>
            <a:pPr marL="152400" indent="-152400">
              <a:spcAft>
                <a:spcPts val="400"/>
              </a:spcAft>
              <a:buSzPct val="100000"/>
              <a:buChar char="•"/>
            </a:pPr>
            <a:r>
              <a:rPr lang="en-US" sz="1100" b="1" dirty="0">
                <a:solidFill>
                  <a:srgbClr val="1F3864"/>
                </a:solidFill>
                <a:latin typeface="Arial" pitchFamily="34" charset="0"/>
                <a:ea typeface="Arial" pitchFamily="34" charset="-122"/>
                <a:cs typeface="Arial" pitchFamily="34" charset="-120"/>
              </a:rPr>
              <a:t>Security and Threats</a:t>
            </a:r>
            <a:endParaRPr lang="en-US" sz="1100" dirty="0"/>
          </a:p>
          <a:p>
            <a:pPr marL="152400" indent="-152400">
              <a:spcAft>
                <a:spcPts val="400"/>
              </a:spcAft>
              <a:buSzPct val="100000"/>
              <a:buChar char="•"/>
            </a:pPr>
            <a:r>
              <a:rPr lang="en-US" sz="1100" b="1" dirty="0">
                <a:solidFill>
                  <a:srgbClr val="1F3864"/>
                </a:solidFill>
                <a:latin typeface="Arial" pitchFamily="34" charset="0"/>
                <a:ea typeface="Arial" pitchFamily="34" charset="-122"/>
                <a:cs typeface="Arial" pitchFamily="34" charset="-120"/>
              </a:rPr>
              <a:t>Compliance and Audit</a:t>
            </a:r>
            <a:endParaRPr lang="en-US" sz="1100" dirty="0"/>
          </a:p>
        </p:txBody>
      </p:sp>
      <p:sp>
        <p:nvSpPr>
          <p:cNvPr id="16" name="Text 13"/>
          <p:cNvSpPr txBox="1"/>
          <p:nvPr/>
        </p:nvSpPr>
        <p:spPr>
          <a:xfrm>
            <a:off x="8138160" y="4526280"/>
            <a:ext cx="3611880" cy="1097280"/>
          </a:xfrm>
          <a:prstGeom prst="rect">
            <a:avLst/>
          </a:prstGeom>
          <a:noFill/>
          <a:ln/>
        </p:spPr>
        <p:txBody>
          <a:bodyPr wrap="square" lIns="0" tIns="0" rIns="0" bIns="0" rtlCol="0" anchor="t"/>
          <a:lstStyle/>
          <a:p>
            <a:pPr indent="0" marL="0">
              <a:buNone/>
            </a:pPr>
            <a:r>
              <a:rPr lang="en-US" sz="950" dirty="0">
                <a:solidFill>
                  <a:srgbClr val="333333"/>
                </a:solidFill>
                <a:latin typeface="Arial" pitchFamily="34" charset="0"/>
                <a:ea typeface="Arial" pitchFamily="34" charset="-122"/>
                <a:cs typeface="Arial" pitchFamily="34" charset="-120"/>
              </a:rPr>
              <a:t>Each capability states what is monitored, what is observed, and what action follows. Prompt Observability and Monitoring, the control already defined for RBC Assist, is the Prompts and Content capability maturing from detective to preventative.</a:t>
            </a:r>
            <a:endParaRPr lang="en-US" sz="950" dirty="0"/>
          </a:p>
        </p:txBody>
      </p:sp>
      <p:sp>
        <p:nvSpPr>
          <p:cNvPr id="17" name="Text 14"/>
          <p:cNvSpPr txBox="1"/>
          <p:nvPr/>
        </p:nvSpPr>
        <p:spPr>
          <a:xfrm>
            <a:off x="457200" y="5760720"/>
            <a:ext cx="11274552" cy="438912"/>
          </a:xfrm>
          <a:prstGeom prst="rect">
            <a:avLst/>
          </a:prstGeom>
          <a:solidFill>
            <a:srgbClr val="0B5CAD"/>
          </a:solidFill>
          <a:ln w="6350">
            <a:solidFill>
              <a:srgbClr val="0B5CAD"/>
            </a:solidFill>
          </a:ln>
        </p:spPr>
        <p:txBody>
          <a:bodyPr wrap="square" lIns="635" tIns="635" rIns="635" bIns="635"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Observe what CNB owns, meter what CNB routes, contract with RBC for what CNB cannot see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Monitoring and Observability Capabilities</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What we monitor and what we observe, across every AI use case</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3</a:t>
            </a:r>
            <a:endParaRPr lang="en-US" sz="1000" dirty="0"/>
          </a:p>
        </p:txBody>
      </p:sp>
      <p:sp>
        <p:nvSpPr>
          <p:cNvPr id="7" name="Shape 4"/>
          <p:cNvSpPr/>
          <p:nvPr/>
        </p:nvSpPr>
        <p:spPr>
          <a:xfrm>
            <a:off x="457200" y="1417320"/>
            <a:ext cx="2724912" cy="2103120"/>
          </a:xfrm>
          <a:prstGeom prst="rect">
            <a:avLst/>
          </a:prstGeom>
          <a:solidFill>
            <a:srgbClr val="F7F7F7"/>
          </a:solidFill>
          <a:ln w="9525">
            <a:solidFill>
              <a:srgbClr val="BFBFBF"/>
            </a:solidFill>
            <a:prstDash val="solid"/>
          </a:ln>
        </p:spPr>
      </p:sp>
      <p:sp>
        <p:nvSpPr>
          <p:cNvPr id="8" name="Shape 5"/>
          <p:cNvSpPr/>
          <p:nvPr/>
        </p:nvSpPr>
        <p:spPr>
          <a:xfrm>
            <a:off x="457200" y="1417320"/>
            <a:ext cx="2724912" cy="384048"/>
          </a:xfrm>
          <a:prstGeom prst="rect">
            <a:avLst/>
          </a:prstGeom>
          <a:solidFill>
            <a:srgbClr val="5B9BD5"/>
          </a:solidFill>
          <a:ln w="12700">
            <a:solidFill>
              <a:srgbClr val="5B9BD5"/>
            </a:solidFill>
            <a:prstDash val="solid"/>
          </a:ln>
        </p:spPr>
      </p:sp>
      <p:sp>
        <p:nvSpPr>
          <p:cNvPr id="9" name="Text 6"/>
          <p:cNvSpPr txBox="1"/>
          <p:nvPr/>
        </p:nvSpPr>
        <p:spPr>
          <a:xfrm>
            <a:off x="548640" y="1417320"/>
            <a:ext cx="2542032"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Usage and Access</a:t>
            </a:r>
            <a:endParaRPr lang="en-US" sz="1200" dirty="0"/>
          </a:p>
        </p:txBody>
      </p:sp>
      <p:sp>
        <p:nvSpPr>
          <p:cNvPr id="10" name="Text 7"/>
          <p:cNvSpPr/>
          <p:nvPr/>
        </p:nvSpPr>
        <p:spPr>
          <a:xfrm>
            <a:off x="548640" y="1892808"/>
            <a:ext cx="2542032" cy="15544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Who uses which AI application, and how much</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Unsanctioned AI and shadow tool use detection</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Entitlement violations; CNB population view</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License and seat consumption by application</a:t>
            </a:r>
            <a:endParaRPr lang="en-US" sz="950" dirty="0"/>
          </a:p>
        </p:txBody>
      </p:sp>
      <p:sp>
        <p:nvSpPr>
          <p:cNvPr id="11" name="Shape 8"/>
          <p:cNvSpPr/>
          <p:nvPr/>
        </p:nvSpPr>
        <p:spPr>
          <a:xfrm>
            <a:off x="3300984" y="1417320"/>
            <a:ext cx="2724912" cy="2103120"/>
          </a:xfrm>
          <a:prstGeom prst="rect">
            <a:avLst/>
          </a:prstGeom>
          <a:solidFill>
            <a:srgbClr val="F7F7F7"/>
          </a:solidFill>
          <a:ln w="9525">
            <a:solidFill>
              <a:srgbClr val="BFBFBF"/>
            </a:solidFill>
            <a:prstDash val="solid"/>
          </a:ln>
        </p:spPr>
      </p:sp>
      <p:sp>
        <p:nvSpPr>
          <p:cNvPr id="12" name="Shape 9"/>
          <p:cNvSpPr/>
          <p:nvPr/>
        </p:nvSpPr>
        <p:spPr>
          <a:xfrm>
            <a:off x="3300984" y="1417320"/>
            <a:ext cx="2724912" cy="384048"/>
          </a:xfrm>
          <a:prstGeom prst="rect">
            <a:avLst/>
          </a:prstGeom>
          <a:solidFill>
            <a:srgbClr val="1F3864"/>
          </a:solidFill>
          <a:ln w="12700">
            <a:solidFill>
              <a:srgbClr val="1F3864"/>
            </a:solidFill>
            <a:prstDash val="solid"/>
          </a:ln>
        </p:spPr>
      </p:sp>
      <p:sp>
        <p:nvSpPr>
          <p:cNvPr id="13" name="Text 10"/>
          <p:cNvSpPr txBox="1"/>
          <p:nvPr/>
        </p:nvSpPr>
        <p:spPr>
          <a:xfrm>
            <a:off x="3392424" y="1417320"/>
            <a:ext cx="2542032"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Prompts and Content</a:t>
            </a:r>
            <a:endParaRPr lang="en-US" sz="1200" dirty="0"/>
          </a:p>
        </p:txBody>
      </p:sp>
      <p:sp>
        <p:nvSpPr>
          <p:cNvPr id="14" name="Text 11"/>
          <p:cNvSpPr/>
          <p:nvPr/>
        </p:nvSpPr>
        <p:spPr>
          <a:xfrm>
            <a:off x="3392424" y="1892808"/>
            <a:ext cx="2542032" cy="15544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Prompt patterns and topics over time</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Injection and jailbreak attempt detection</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Sensitive data in prompts or responses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Key word, toxic combination, and sentiment matches; guardrail hit rates</a:t>
            </a:r>
            <a:endParaRPr lang="en-US" sz="950" dirty="0"/>
          </a:p>
        </p:txBody>
      </p:sp>
      <p:sp>
        <p:nvSpPr>
          <p:cNvPr id="15" name="Shape 12"/>
          <p:cNvSpPr/>
          <p:nvPr/>
        </p:nvSpPr>
        <p:spPr>
          <a:xfrm>
            <a:off x="6144768" y="1417320"/>
            <a:ext cx="2724912" cy="2103120"/>
          </a:xfrm>
          <a:prstGeom prst="rect">
            <a:avLst/>
          </a:prstGeom>
          <a:solidFill>
            <a:srgbClr val="F7F7F7"/>
          </a:solidFill>
          <a:ln w="9525">
            <a:solidFill>
              <a:srgbClr val="BFBFBF"/>
            </a:solidFill>
            <a:prstDash val="solid"/>
          </a:ln>
        </p:spPr>
      </p:sp>
      <p:sp>
        <p:nvSpPr>
          <p:cNvPr id="16" name="Shape 13"/>
          <p:cNvSpPr/>
          <p:nvPr/>
        </p:nvSpPr>
        <p:spPr>
          <a:xfrm>
            <a:off x="6144768" y="1417320"/>
            <a:ext cx="2724912" cy="384048"/>
          </a:xfrm>
          <a:prstGeom prst="rect">
            <a:avLst/>
          </a:prstGeom>
          <a:solidFill>
            <a:srgbClr val="1F3864"/>
          </a:solidFill>
          <a:ln w="12700">
            <a:solidFill>
              <a:srgbClr val="1F3864"/>
            </a:solidFill>
            <a:prstDash val="solid"/>
          </a:ln>
        </p:spPr>
      </p:sp>
      <p:sp>
        <p:nvSpPr>
          <p:cNvPr id="17" name="Text 14"/>
          <p:cNvSpPr txBox="1"/>
          <p:nvPr/>
        </p:nvSpPr>
        <p:spPr>
          <a:xfrm>
            <a:off x="6236208" y="1417320"/>
            <a:ext cx="2542032"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Agents and Tool Calls</a:t>
            </a:r>
            <a:endParaRPr lang="en-US" sz="1200" dirty="0"/>
          </a:p>
        </p:txBody>
      </p:sp>
      <p:sp>
        <p:nvSpPr>
          <p:cNvPr id="18" name="Text 15"/>
          <p:cNvSpPr/>
          <p:nvPr/>
        </p:nvSpPr>
        <p:spPr>
          <a:xfrm>
            <a:off x="6236208" y="1892808"/>
            <a:ext cx="2542032" cy="15544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Which agent called which tool, with what arguments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Runaway loops and token thresholds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Unauthorized tool or data access; kill switch events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Agent to agent and MCP call chains</a:t>
            </a:r>
            <a:endParaRPr lang="en-US" sz="950" dirty="0"/>
          </a:p>
        </p:txBody>
      </p:sp>
      <p:sp>
        <p:nvSpPr>
          <p:cNvPr id="19" name="Shape 16"/>
          <p:cNvSpPr/>
          <p:nvPr/>
        </p:nvSpPr>
        <p:spPr>
          <a:xfrm>
            <a:off x="8988552" y="1417320"/>
            <a:ext cx="2724912" cy="2103120"/>
          </a:xfrm>
          <a:prstGeom prst="rect">
            <a:avLst/>
          </a:prstGeom>
          <a:solidFill>
            <a:srgbClr val="F7F7F7"/>
          </a:solidFill>
          <a:ln w="9525">
            <a:solidFill>
              <a:srgbClr val="BFBFBF"/>
            </a:solidFill>
            <a:prstDash val="solid"/>
          </a:ln>
        </p:spPr>
      </p:sp>
      <p:sp>
        <p:nvSpPr>
          <p:cNvPr id="20" name="Shape 17"/>
          <p:cNvSpPr/>
          <p:nvPr/>
        </p:nvSpPr>
        <p:spPr>
          <a:xfrm>
            <a:off x="8988552" y="1417320"/>
            <a:ext cx="2724912" cy="384048"/>
          </a:xfrm>
          <a:prstGeom prst="rect">
            <a:avLst/>
          </a:prstGeom>
          <a:solidFill>
            <a:srgbClr val="1F3864"/>
          </a:solidFill>
          <a:ln w="12700">
            <a:solidFill>
              <a:srgbClr val="1F3864"/>
            </a:solidFill>
            <a:prstDash val="solid"/>
          </a:ln>
        </p:spPr>
      </p:sp>
      <p:sp>
        <p:nvSpPr>
          <p:cNvPr id="21" name="Text 18"/>
          <p:cNvSpPr txBox="1"/>
          <p:nvPr/>
        </p:nvSpPr>
        <p:spPr>
          <a:xfrm>
            <a:off x="9079992" y="1417320"/>
            <a:ext cx="2542032"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Retrieval and Data (RAG)</a:t>
            </a:r>
            <a:endParaRPr lang="en-US" sz="1200" dirty="0"/>
          </a:p>
        </p:txBody>
      </p:sp>
      <p:sp>
        <p:nvSpPr>
          <p:cNvPr id="22" name="Text 19"/>
          <p:cNvSpPr/>
          <p:nvPr/>
        </p:nvSpPr>
        <p:spPr>
          <a:xfrm>
            <a:off x="9079992" y="1892808"/>
            <a:ext cx="2542032" cy="15544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Documents, chunks, and embeddings behind each answer</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Retrieval query audit trail</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Retrieved content checked against user entitlement</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Stale, missing, or unindexed sources</a:t>
            </a:r>
            <a:endParaRPr lang="en-US" sz="950" dirty="0"/>
          </a:p>
        </p:txBody>
      </p:sp>
      <p:sp>
        <p:nvSpPr>
          <p:cNvPr id="23" name="Shape 20"/>
          <p:cNvSpPr/>
          <p:nvPr/>
        </p:nvSpPr>
        <p:spPr>
          <a:xfrm>
            <a:off x="457200" y="3657600"/>
            <a:ext cx="2724912" cy="2103120"/>
          </a:xfrm>
          <a:prstGeom prst="rect">
            <a:avLst/>
          </a:prstGeom>
          <a:solidFill>
            <a:srgbClr val="F7F7F7"/>
          </a:solidFill>
          <a:ln w="9525">
            <a:solidFill>
              <a:srgbClr val="BFBFBF"/>
            </a:solidFill>
            <a:prstDash val="solid"/>
          </a:ln>
        </p:spPr>
      </p:sp>
      <p:sp>
        <p:nvSpPr>
          <p:cNvPr id="24" name="Shape 21"/>
          <p:cNvSpPr/>
          <p:nvPr/>
        </p:nvSpPr>
        <p:spPr>
          <a:xfrm>
            <a:off x="457200" y="3657600"/>
            <a:ext cx="2724912" cy="384048"/>
          </a:xfrm>
          <a:prstGeom prst="rect">
            <a:avLst/>
          </a:prstGeom>
          <a:solidFill>
            <a:srgbClr val="5B9BD5"/>
          </a:solidFill>
          <a:ln w="12700">
            <a:solidFill>
              <a:srgbClr val="5B9BD5"/>
            </a:solidFill>
            <a:prstDash val="solid"/>
          </a:ln>
        </p:spPr>
      </p:sp>
      <p:sp>
        <p:nvSpPr>
          <p:cNvPr id="25" name="Text 22"/>
          <p:cNvSpPr txBox="1"/>
          <p:nvPr/>
        </p:nvSpPr>
        <p:spPr>
          <a:xfrm>
            <a:off x="548640" y="3657600"/>
            <a:ext cx="2542032"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Quality and Drift</a:t>
            </a:r>
            <a:endParaRPr lang="en-US" sz="1200" dirty="0"/>
          </a:p>
        </p:txBody>
      </p:sp>
      <p:sp>
        <p:nvSpPr>
          <p:cNvPr id="26" name="Text 23"/>
          <p:cNvSpPr/>
          <p:nvPr/>
        </p:nvSpPr>
        <p:spPr>
          <a:xfrm>
            <a:off x="548640" y="4133088"/>
            <a:ext cx="2542032" cy="15544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Evaluation scores and hallucination rate</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Model, prompt, and index version changes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Approved model conformance; user feedback</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Groundedness against retrieved content</a:t>
            </a:r>
            <a:endParaRPr lang="en-US" sz="950" dirty="0"/>
          </a:p>
        </p:txBody>
      </p:sp>
      <p:sp>
        <p:nvSpPr>
          <p:cNvPr id="27" name="Shape 24"/>
          <p:cNvSpPr/>
          <p:nvPr/>
        </p:nvSpPr>
        <p:spPr>
          <a:xfrm>
            <a:off x="3300984" y="3657600"/>
            <a:ext cx="2724912" cy="2103120"/>
          </a:xfrm>
          <a:prstGeom prst="rect">
            <a:avLst/>
          </a:prstGeom>
          <a:solidFill>
            <a:srgbClr val="F7F7F7"/>
          </a:solidFill>
          <a:ln w="9525">
            <a:solidFill>
              <a:srgbClr val="BFBFBF"/>
            </a:solidFill>
            <a:prstDash val="solid"/>
          </a:ln>
        </p:spPr>
      </p:sp>
      <p:sp>
        <p:nvSpPr>
          <p:cNvPr id="28" name="Shape 25"/>
          <p:cNvSpPr/>
          <p:nvPr/>
        </p:nvSpPr>
        <p:spPr>
          <a:xfrm>
            <a:off x="3300984" y="3657600"/>
            <a:ext cx="2724912" cy="384048"/>
          </a:xfrm>
          <a:prstGeom prst="rect">
            <a:avLst/>
          </a:prstGeom>
          <a:solidFill>
            <a:srgbClr val="5B9BD5"/>
          </a:solidFill>
          <a:ln w="12700">
            <a:solidFill>
              <a:srgbClr val="5B9BD5"/>
            </a:solidFill>
            <a:prstDash val="solid"/>
          </a:ln>
        </p:spPr>
      </p:sp>
      <p:sp>
        <p:nvSpPr>
          <p:cNvPr id="29" name="Text 26"/>
          <p:cNvSpPr txBox="1"/>
          <p:nvPr/>
        </p:nvSpPr>
        <p:spPr>
          <a:xfrm>
            <a:off x="3392424" y="3657600"/>
            <a:ext cx="2542032"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Cost and Performance</a:t>
            </a:r>
            <a:endParaRPr lang="en-US" sz="1200" dirty="0"/>
          </a:p>
        </p:txBody>
      </p:sp>
      <p:sp>
        <p:nvSpPr>
          <p:cNvPr id="30" name="Text 27"/>
          <p:cNvSpPr/>
          <p:nvPr/>
        </p:nvSpPr>
        <p:spPr>
          <a:xfrm>
            <a:off x="3392424" y="4133088"/>
            <a:ext cx="2542032" cy="15544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Tokens and spend per use case and user</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Latency, errors, availability</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Vendor SLA and quota tracking</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Capacity and rate limit headroom</a:t>
            </a:r>
            <a:endParaRPr lang="en-US" sz="950" dirty="0"/>
          </a:p>
        </p:txBody>
      </p:sp>
      <p:sp>
        <p:nvSpPr>
          <p:cNvPr id="31" name="Shape 28"/>
          <p:cNvSpPr/>
          <p:nvPr/>
        </p:nvSpPr>
        <p:spPr>
          <a:xfrm>
            <a:off x="6144768" y="3657600"/>
            <a:ext cx="2724912" cy="2103120"/>
          </a:xfrm>
          <a:prstGeom prst="rect">
            <a:avLst/>
          </a:prstGeom>
          <a:solidFill>
            <a:srgbClr val="F7F7F7"/>
          </a:solidFill>
          <a:ln w="9525">
            <a:solidFill>
              <a:srgbClr val="BFBFBF"/>
            </a:solidFill>
            <a:prstDash val="solid"/>
          </a:ln>
        </p:spPr>
      </p:sp>
      <p:sp>
        <p:nvSpPr>
          <p:cNvPr id="32" name="Shape 29"/>
          <p:cNvSpPr/>
          <p:nvPr/>
        </p:nvSpPr>
        <p:spPr>
          <a:xfrm>
            <a:off x="6144768" y="3657600"/>
            <a:ext cx="2724912" cy="384048"/>
          </a:xfrm>
          <a:prstGeom prst="rect">
            <a:avLst/>
          </a:prstGeom>
          <a:solidFill>
            <a:srgbClr val="1F3864"/>
          </a:solidFill>
          <a:ln w="12700">
            <a:solidFill>
              <a:srgbClr val="1F3864"/>
            </a:solidFill>
            <a:prstDash val="solid"/>
          </a:ln>
        </p:spPr>
      </p:sp>
      <p:sp>
        <p:nvSpPr>
          <p:cNvPr id="33" name="Text 30"/>
          <p:cNvSpPr txBox="1"/>
          <p:nvPr/>
        </p:nvSpPr>
        <p:spPr>
          <a:xfrm>
            <a:off x="6236208" y="3657600"/>
            <a:ext cx="2542032"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Security and Threats</a:t>
            </a:r>
            <a:endParaRPr lang="en-US" sz="1200" dirty="0"/>
          </a:p>
        </p:txBody>
      </p:sp>
      <p:sp>
        <p:nvSpPr>
          <p:cNvPr id="34" name="Text 31"/>
          <p:cNvSpPr/>
          <p:nvPr/>
        </p:nvSpPr>
        <p:spPr>
          <a:xfrm>
            <a:off x="6236208" y="4133088"/>
            <a:ext cx="2542032" cy="15544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Exfiltration and secret exposure attempts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Anomalous access; malicious tool calls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Model and plugin provenance; SIEM feed</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Vendor LLM applications: security event feeds</a:t>
            </a:r>
            <a:endParaRPr lang="en-US" sz="950" dirty="0"/>
          </a:p>
        </p:txBody>
      </p:sp>
      <p:sp>
        <p:nvSpPr>
          <p:cNvPr id="35" name="Shape 32"/>
          <p:cNvSpPr/>
          <p:nvPr/>
        </p:nvSpPr>
        <p:spPr>
          <a:xfrm>
            <a:off x="8988552" y="3657600"/>
            <a:ext cx="2724912" cy="2103120"/>
          </a:xfrm>
          <a:prstGeom prst="rect">
            <a:avLst/>
          </a:prstGeom>
          <a:solidFill>
            <a:srgbClr val="F7F7F7"/>
          </a:solidFill>
          <a:ln w="9525">
            <a:solidFill>
              <a:srgbClr val="BFBFBF"/>
            </a:solidFill>
            <a:prstDash val="solid"/>
          </a:ln>
        </p:spPr>
      </p:sp>
      <p:sp>
        <p:nvSpPr>
          <p:cNvPr id="36" name="Shape 33"/>
          <p:cNvSpPr/>
          <p:nvPr/>
        </p:nvSpPr>
        <p:spPr>
          <a:xfrm>
            <a:off x="8988552" y="3657600"/>
            <a:ext cx="2724912" cy="384048"/>
          </a:xfrm>
          <a:prstGeom prst="rect">
            <a:avLst/>
          </a:prstGeom>
          <a:solidFill>
            <a:srgbClr val="1F3864"/>
          </a:solidFill>
          <a:ln w="12700">
            <a:solidFill>
              <a:srgbClr val="1F3864"/>
            </a:solidFill>
            <a:prstDash val="solid"/>
          </a:ln>
        </p:spPr>
      </p:sp>
      <p:sp>
        <p:nvSpPr>
          <p:cNvPr id="37" name="Text 34"/>
          <p:cNvSpPr txBox="1"/>
          <p:nvPr/>
        </p:nvSpPr>
        <p:spPr>
          <a:xfrm>
            <a:off x="9079992" y="3657600"/>
            <a:ext cx="2542032"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Compliance and Audit</a:t>
            </a:r>
            <a:endParaRPr lang="en-US" sz="1200" dirty="0"/>
          </a:p>
        </p:txBody>
      </p:sp>
      <p:sp>
        <p:nvSpPr>
          <p:cNvPr id="38" name="Text 35"/>
          <p:cNvSpPr/>
          <p:nvPr/>
        </p:nvSpPr>
        <p:spPr>
          <a:xfrm>
            <a:off x="9079992" y="4133088"/>
            <a:ext cx="2542032" cy="15544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Redacted record of every interaction</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Every control action recorded</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Retention; regulator ready reporting</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Model risk documentation and evidence</a:t>
            </a:r>
            <a:endParaRPr lang="en-US" sz="950" dirty="0"/>
          </a:p>
        </p:txBody>
      </p:sp>
      <p:sp>
        <p:nvSpPr>
          <p:cNvPr id="39" name="Shape 36"/>
          <p:cNvSpPr/>
          <p:nvPr/>
        </p:nvSpPr>
        <p:spPr>
          <a:xfrm>
            <a:off x="457200" y="5989320"/>
            <a:ext cx="274320" cy="201168"/>
          </a:xfrm>
          <a:prstGeom prst="rect">
            <a:avLst/>
          </a:prstGeom>
          <a:solidFill>
            <a:srgbClr val="1F3864"/>
          </a:solidFill>
          <a:ln w="12700">
            <a:solidFill>
              <a:srgbClr val="1F3864"/>
            </a:solidFill>
            <a:prstDash val="solid"/>
          </a:ln>
        </p:spPr>
      </p:sp>
      <p:sp>
        <p:nvSpPr>
          <p:cNvPr id="40" name="Text 37"/>
          <p:cNvSpPr txBox="1"/>
          <p:nvPr/>
        </p:nvSpPr>
        <p:spPr>
          <a:xfrm>
            <a:off x="804672" y="5961888"/>
            <a:ext cx="2377440" cy="256032"/>
          </a:xfrm>
          <a:prstGeom prst="rect">
            <a:avLst/>
          </a:prstGeom>
          <a:noFill/>
          <a:ln/>
        </p:spPr>
        <p:txBody>
          <a:bodyPr wrap="square" lIns="0" tIns="0" rIns="0" bIns="0" rtlCol="0" anchor="ctr"/>
          <a:lstStyle/>
          <a:p>
            <a:pPr indent="0" marL="0">
              <a:buNone/>
            </a:pPr>
            <a:r>
              <a:rPr lang="en-US" sz="950" dirty="0">
                <a:solidFill>
                  <a:srgbClr val="333333"/>
                </a:solidFill>
                <a:latin typeface="Arial" pitchFamily="34" charset="0"/>
                <a:ea typeface="Arial" pitchFamily="34" charset="-122"/>
                <a:cs typeface="Arial" pitchFamily="34" charset="-120"/>
              </a:rPr>
              <a:t>Risk and control capability</a:t>
            </a:r>
            <a:endParaRPr lang="en-US" sz="950" dirty="0"/>
          </a:p>
        </p:txBody>
      </p:sp>
      <p:sp>
        <p:nvSpPr>
          <p:cNvPr id="41" name="Shape 38"/>
          <p:cNvSpPr/>
          <p:nvPr/>
        </p:nvSpPr>
        <p:spPr>
          <a:xfrm>
            <a:off x="3108960" y="5989320"/>
            <a:ext cx="274320" cy="201168"/>
          </a:xfrm>
          <a:prstGeom prst="rect">
            <a:avLst/>
          </a:prstGeom>
          <a:solidFill>
            <a:srgbClr val="5B9BD5"/>
          </a:solidFill>
          <a:ln w="12700">
            <a:solidFill>
              <a:srgbClr val="5B9BD5"/>
            </a:solidFill>
            <a:prstDash val="solid"/>
          </a:ln>
        </p:spPr>
      </p:sp>
      <p:sp>
        <p:nvSpPr>
          <p:cNvPr id="42" name="Text 39"/>
          <p:cNvSpPr txBox="1"/>
          <p:nvPr/>
        </p:nvSpPr>
        <p:spPr>
          <a:xfrm>
            <a:off x="3456432" y="5961888"/>
            <a:ext cx="2377440" cy="256032"/>
          </a:xfrm>
          <a:prstGeom prst="rect">
            <a:avLst/>
          </a:prstGeom>
          <a:noFill/>
          <a:ln/>
        </p:spPr>
        <p:txBody>
          <a:bodyPr wrap="square" lIns="0" tIns="0" rIns="0" bIns="0" rtlCol="0" anchor="ctr"/>
          <a:lstStyle/>
          <a:p>
            <a:pPr indent="0" marL="0">
              <a:buNone/>
            </a:pPr>
            <a:r>
              <a:rPr lang="en-US" sz="950" dirty="0">
                <a:solidFill>
                  <a:srgbClr val="333333"/>
                </a:solidFill>
                <a:latin typeface="Arial" pitchFamily="34" charset="0"/>
                <a:ea typeface="Arial" pitchFamily="34" charset="-122"/>
                <a:cs typeface="Arial" pitchFamily="34" charset="-120"/>
              </a:rPr>
              <a:t>Operational capability</a:t>
            </a:r>
            <a:endParaRPr lang="en-US" sz="950" dirty="0"/>
          </a:p>
        </p:txBody>
      </p:sp>
      <p:sp>
        <p:nvSpPr>
          <p:cNvPr id="43" name="Text 40"/>
          <p:cNvSpPr txBox="1"/>
          <p:nvPr/>
        </p:nvSpPr>
        <p:spPr>
          <a:xfrm>
            <a:off x="5852160" y="5961888"/>
            <a:ext cx="5852160" cy="256032"/>
          </a:xfrm>
          <a:prstGeom prst="rect">
            <a:avLst/>
          </a:prstGeom>
          <a:noFill/>
          <a:ln/>
        </p:spPr>
        <p:txBody>
          <a:bodyPr wrap="square" lIns="0" tIns="0" rIns="0" bIns="0" rtlCol="0" anchor="ctr"/>
          <a:lstStyle/>
          <a:p>
            <a:pPr algn="r" indent="0" marL="0">
              <a:buNone/>
            </a:pPr>
            <a:r>
              <a:rPr lang="en-US" sz="950" i="1" dirty="0">
                <a:solidFill>
                  <a:srgbClr val="595959"/>
                </a:solidFill>
                <a:latin typeface="Arial" pitchFamily="34" charset="0"/>
                <a:ea typeface="Arial" pitchFamily="34" charset="-122"/>
                <a:cs typeface="Arial" pitchFamily="34" charset="-120"/>
              </a:rPr>
              <a:t>Each capability is delivered at increasing maturity through V1 Detective, V2 In-line control, and V3 Preventative (pages 9 and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Capabilities in Scope by Use Case</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AI applications inventory, model path, control point, and how each is observed</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920240"/>
                <a:gridCol w="1554480"/>
                <a:gridCol w="2103120"/>
                <a:gridCol w="2468880"/>
                <a:gridCol w="3227832"/>
              </a:tblGrid>
              <a:tr h="0">
                <a:tc>
                  <a:txBody>
                    <a:bodyPr/>
                    <a:lstStyle/>
                    <a:p>
                      <a:pPr indent="0" marL="0">
                        <a:buNone/>
                      </a:pPr>
                      <a:r>
                        <a:rPr lang="en-US" sz="850" b="1" dirty="0">
                          <a:solidFill>
                            <a:srgbClr val="FFFFFF"/>
                          </a:solidFill>
                          <a:latin typeface="Arial" pitchFamily="34" charset="0"/>
                          <a:ea typeface="Arial" pitchFamily="34" charset="-122"/>
                          <a:cs typeface="Arial" pitchFamily="34" charset="-120"/>
                        </a:rPr>
                        <a:t>Use case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Type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Model path</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CNB control point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Observability route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RBC Assist Pro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RBC LLM gateway, RBC hosted</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None in the request path; identity and egress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RBC capabilities: usage metadata, guardrail events, agent registry, retrieval traces, evals, escalation path</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AgilLink</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application, RBC gateway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None in the request path; vendor administration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RBC gateway telemetry for CNB integrations; vendor exports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Atlassian Rovo AI</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application, RBC gateway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Tenant administration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RBC gateway telemetry; vendor exports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Helios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Internal platform, RBC gateway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Platform owner</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RBC gateway telemetry; platform logs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Salesforce Agentforce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hosted LLM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administration; SSO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exports; identity; data side access records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nCino Banking Advisor</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hosted LLM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administration; SSO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exports; identity; data side access records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Emburse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hosted LLM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administration; SSO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exports; identity; data side access records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WRITER (EDD)</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Fraud and Security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hosted LLM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administration; SSO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exports; identity; data side access records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Microsoft 365 Copilot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Microsoft 365 tenant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Tenant administration; Purview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Purview interaction audit; sensitivity labels and DLP</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Claude Code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Developer 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Developer tool</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Managed settings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OTLP metrics, events, and traces to the collector</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Workato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Automation, under evaluation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To confirm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administration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Job history and audit logs, if adopted</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Functions Assist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Productivity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To confirm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To confirm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To confirm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Omilia Voice Biometrics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Client Services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Non LLM model</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Vendor administration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Model performance metrics: false accept and false reject rates, drift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CNB built apps, agents, MCP tools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Future use cases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Microsoft Foundry or RBC gateway via Apigee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Apigee: quotas, Model Armor, MCP tools with OAuth</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Full telemetry: OpenTelemetry traces, Apigee analytics, Snowflake audit joins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20040" y="109728"/>
            <a:ext cx="8595360" cy="438912"/>
          </a:xfrm>
          <a:prstGeom prst="rect">
            <a:avLst/>
          </a:prstGeom>
          <a:noFill/>
          <a:ln/>
        </p:spPr>
        <p:txBody>
          <a:bodyPr wrap="square" lIns="0" tIns="0" rIns="0" bIns="0" rtlCol="0" anchor="ctr"/>
          <a:lstStyle/>
          <a:p>
            <a:pPr indent="0" marL="0">
              <a:buNone/>
            </a:pPr>
            <a:r>
              <a:rPr lang="en-US" sz="1900" b="1" dirty="0">
                <a:solidFill>
                  <a:srgbClr val="1F1F1F"/>
                </a:solidFill>
                <a:latin typeface="Calibri" pitchFamily="34" charset="0"/>
                <a:ea typeface="Calibri" pitchFamily="34" charset="-122"/>
                <a:cs typeface="Calibri" pitchFamily="34" charset="-120"/>
              </a:rPr>
              <a:t>AI Monitoring and Observability: Proposed Target State, Conceptual View</a:t>
            </a:r>
            <a:endParaRPr lang="en-US" sz="1900" dirty="0"/>
          </a:p>
        </p:txBody>
      </p:sp>
      <p:sp>
        <p:nvSpPr>
          <p:cNvPr id="3" name="Text 1"/>
          <p:cNvSpPr txBox="1"/>
          <p:nvPr/>
        </p:nvSpPr>
        <p:spPr>
          <a:xfrm>
            <a:off x="9006840" y="201168"/>
            <a:ext cx="1143000" cy="219456"/>
          </a:xfrm>
          <a:prstGeom prst="roundRect">
            <a:avLst>
              <a:gd name="adj" fmla="val 16667"/>
            </a:avLst>
          </a:prstGeom>
          <a:solidFill>
            <a:srgbClr val="1F4E9C"/>
          </a:solidFill>
          <a:ln w="6350">
            <a:solidFill>
              <a:srgbClr val="1F4E9C"/>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Risk and control domain</a:t>
            </a:r>
            <a:endParaRPr lang="en-US" sz="700" dirty="0"/>
          </a:p>
        </p:txBody>
      </p:sp>
      <p:sp>
        <p:nvSpPr>
          <p:cNvPr id="4" name="Text 2"/>
          <p:cNvSpPr txBox="1"/>
          <p:nvPr/>
        </p:nvSpPr>
        <p:spPr>
          <a:xfrm>
            <a:off x="10195560" y="201168"/>
            <a:ext cx="960120" cy="219456"/>
          </a:xfrm>
          <a:prstGeom prst="roundRect">
            <a:avLst>
              <a:gd name="adj" fmla="val 16667"/>
            </a:avLst>
          </a:prstGeom>
          <a:solidFill>
            <a:srgbClr val="5B9BD5"/>
          </a:solidFill>
          <a:ln w="6350">
            <a:solidFill>
              <a:srgbClr val="5B9BD5"/>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Operational domain</a:t>
            </a:r>
            <a:endParaRPr lang="en-US" sz="700" dirty="0"/>
          </a:p>
        </p:txBody>
      </p:sp>
      <p:sp>
        <p:nvSpPr>
          <p:cNvPr id="5" name="Text 3"/>
          <p:cNvSpPr txBox="1"/>
          <p:nvPr/>
        </p:nvSpPr>
        <p:spPr>
          <a:xfrm>
            <a:off x="11201400" y="73152"/>
            <a:ext cx="685800" cy="457200"/>
          </a:xfrm>
          <a:prstGeom prst="rect">
            <a:avLst/>
          </a:prstGeom>
          <a:noFill/>
          <a:ln/>
        </p:spPr>
        <p:txBody>
          <a:bodyPr wrap="square" lIns="0" tIns="0" rIns="0" bIns="0" rtlCol="0" anchor="ctr"/>
          <a:lstStyle/>
          <a:p>
            <a:pPr algn="r" indent="0" marL="0">
              <a:buNone/>
            </a:pPr>
            <a:r>
              <a:rPr lang="en-US" sz="2400" b="1" dirty="0">
                <a:solidFill>
                  <a:srgbClr val="C00000"/>
                </a:solidFill>
                <a:latin typeface="Calibri" pitchFamily="34" charset="0"/>
                <a:ea typeface="Calibri" pitchFamily="34" charset="-122"/>
                <a:cs typeface="Calibri" pitchFamily="34" charset="-120"/>
              </a:rPr>
              <a:t>Draft</a:t>
            </a:r>
            <a:endParaRPr lang="en-US" sz="2400" dirty="0"/>
          </a:p>
        </p:txBody>
      </p:sp>
      <p:sp>
        <p:nvSpPr>
          <p:cNvPr id="6" name="Text 4"/>
          <p:cNvSpPr txBox="1"/>
          <p:nvPr/>
        </p:nvSpPr>
        <p:spPr>
          <a:xfrm>
            <a:off x="320040" y="658368"/>
            <a:ext cx="1005840" cy="731520"/>
          </a:xfrm>
          <a:prstGeom prst="roundRect">
            <a:avLst>
              <a:gd name="adj" fmla="val 7500"/>
            </a:avLst>
          </a:prstGeom>
          <a:solidFill>
            <a:srgbClr val="E7E6E6"/>
          </a:solidFill>
          <a:ln w="6350">
            <a:solidFill>
              <a:srgbClr val="E7E6E6"/>
            </a:solidFill>
          </a:ln>
        </p:spPr>
        <p:txBody>
          <a:bodyPr wrap="square" lIns="254" tIns="254" rIns="254" bIns="254" rtlCol="0" anchor="ctr"/>
          <a:lstStyle/>
          <a:p>
            <a:pPr algn="ctr" indent="0" marL="0">
              <a:buNone/>
            </a:pPr>
            <a:r>
              <a:rPr lang="en-US" sz="900" b="1" dirty="0">
                <a:solidFill>
                  <a:srgbClr val="262626"/>
                </a:solidFill>
                <a:latin typeface="Calibri" pitchFamily="34" charset="0"/>
                <a:ea typeface="Calibri" pitchFamily="34" charset="-122"/>
                <a:cs typeface="Calibri" pitchFamily="34" charset="-120"/>
              </a:rPr>
              <a:t>AI Use Cases in Scope</a:t>
            </a:r>
            <a:endParaRPr lang="en-US" sz="900" dirty="0"/>
          </a:p>
        </p:txBody>
      </p:sp>
      <p:sp>
        <p:nvSpPr>
          <p:cNvPr id="7" name="Shape 5"/>
          <p:cNvSpPr/>
          <p:nvPr/>
        </p:nvSpPr>
        <p:spPr>
          <a:xfrm>
            <a:off x="1417320" y="658368"/>
            <a:ext cx="10469880" cy="731520"/>
          </a:xfrm>
          <a:prstGeom prst="roundRect">
            <a:avLst>
              <a:gd name="adj" fmla="val 7500"/>
            </a:avLst>
          </a:prstGeom>
          <a:solidFill>
            <a:srgbClr val="F9F9F9"/>
          </a:solidFill>
          <a:ln w="9525">
            <a:solidFill>
              <a:srgbClr val="BFBFBF"/>
            </a:solidFill>
            <a:prstDash val="solid"/>
          </a:ln>
        </p:spPr>
      </p:sp>
      <p:sp>
        <p:nvSpPr>
          <p:cNvPr id="8" name="Text 6"/>
          <p:cNvSpPr txBox="1"/>
          <p:nvPr/>
        </p:nvSpPr>
        <p:spPr>
          <a:xfrm>
            <a:off x="1435608"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RBC Assist Pro</a:t>
            </a:r>
            <a:endParaRPr lang="en-US" sz="700" dirty="0"/>
          </a:p>
        </p:txBody>
      </p:sp>
      <p:pic>
        <p:nvPicPr>
          <p:cNvPr id="9" name="Image 0" descr="preencoded.png">    </p:cNvPr>
          <p:cNvPicPr>
            <a:picLocks noChangeAspect="1"/>
          </p:cNvPicPr>
          <p:nvPr/>
        </p:nvPicPr>
        <p:blipFill>
          <a:blip r:embed="rId1"/>
          <a:stretch>
            <a:fillRect/>
          </a:stretch>
        </p:blipFill>
        <p:spPr>
          <a:xfrm>
            <a:off x="1691992" y="941832"/>
            <a:ext cx="256032" cy="256032"/>
          </a:xfrm>
          <a:prstGeom prst="rect">
            <a:avLst/>
          </a:prstGeom>
        </p:spPr>
      </p:pic>
      <p:sp>
        <p:nvSpPr>
          <p:cNvPr id="10" name="Text 7"/>
          <p:cNvSpPr txBox="1"/>
          <p:nvPr/>
        </p:nvSpPr>
        <p:spPr>
          <a:xfrm>
            <a:off x="1435608"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via RBC gateway</a:t>
            </a:r>
            <a:endParaRPr lang="en-US" sz="650" dirty="0"/>
          </a:p>
        </p:txBody>
      </p:sp>
      <p:sp>
        <p:nvSpPr>
          <p:cNvPr id="11" name="Text 8"/>
          <p:cNvSpPr txBox="1"/>
          <p:nvPr/>
        </p:nvSpPr>
        <p:spPr>
          <a:xfrm>
            <a:off x="2240983"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AgilLink</a:t>
            </a:r>
            <a:endParaRPr lang="en-US" sz="700" dirty="0"/>
          </a:p>
        </p:txBody>
      </p:sp>
      <p:pic>
        <p:nvPicPr>
          <p:cNvPr id="12" name="Image 1" descr="preencoded.png">    </p:cNvPr>
          <p:cNvPicPr>
            <a:picLocks noChangeAspect="1"/>
          </p:cNvPicPr>
          <p:nvPr/>
        </p:nvPicPr>
        <p:blipFill>
          <a:blip r:embed="rId2"/>
          <a:stretch>
            <a:fillRect/>
          </a:stretch>
        </p:blipFill>
        <p:spPr>
          <a:xfrm>
            <a:off x="2497367" y="941832"/>
            <a:ext cx="256032" cy="256032"/>
          </a:xfrm>
          <a:prstGeom prst="rect">
            <a:avLst/>
          </a:prstGeom>
        </p:spPr>
      </p:pic>
      <p:sp>
        <p:nvSpPr>
          <p:cNvPr id="13" name="Text 9"/>
          <p:cNvSpPr txBox="1"/>
          <p:nvPr/>
        </p:nvSpPr>
        <p:spPr>
          <a:xfrm>
            <a:off x="2240983"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via RBC gateway</a:t>
            </a:r>
            <a:endParaRPr lang="en-US" sz="650" dirty="0"/>
          </a:p>
        </p:txBody>
      </p:sp>
      <p:sp>
        <p:nvSpPr>
          <p:cNvPr id="14" name="Text 10"/>
          <p:cNvSpPr txBox="1"/>
          <p:nvPr/>
        </p:nvSpPr>
        <p:spPr>
          <a:xfrm>
            <a:off x="3046359"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Atlassian Rovo AI</a:t>
            </a:r>
            <a:endParaRPr lang="en-US" sz="700" dirty="0"/>
          </a:p>
        </p:txBody>
      </p:sp>
      <p:pic>
        <p:nvPicPr>
          <p:cNvPr id="15" name="Image 2" descr="preencoded.png">    </p:cNvPr>
          <p:cNvPicPr>
            <a:picLocks noChangeAspect="1"/>
          </p:cNvPicPr>
          <p:nvPr/>
        </p:nvPicPr>
        <p:blipFill>
          <a:blip r:embed="rId3"/>
          <a:stretch>
            <a:fillRect/>
          </a:stretch>
        </p:blipFill>
        <p:spPr>
          <a:xfrm>
            <a:off x="3302742" y="941832"/>
            <a:ext cx="256032" cy="256032"/>
          </a:xfrm>
          <a:prstGeom prst="rect">
            <a:avLst/>
          </a:prstGeom>
        </p:spPr>
      </p:pic>
      <p:sp>
        <p:nvSpPr>
          <p:cNvPr id="16" name="Text 11"/>
          <p:cNvSpPr txBox="1"/>
          <p:nvPr/>
        </p:nvSpPr>
        <p:spPr>
          <a:xfrm>
            <a:off x="3046359"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via RBC gateway</a:t>
            </a:r>
            <a:endParaRPr lang="en-US" sz="650" dirty="0"/>
          </a:p>
        </p:txBody>
      </p:sp>
      <p:sp>
        <p:nvSpPr>
          <p:cNvPr id="17" name="Text 12"/>
          <p:cNvSpPr txBox="1"/>
          <p:nvPr/>
        </p:nvSpPr>
        <p:spPr>
          <a:xfrm>
            <a:off x="3851734"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Helios</a:t>
            </a:r>
            <a:endParaRPr lang="en-US" sz="700" dirty="0"/>
          </a:p>
        </p:txBody>
      </p:sp>
      <p:pic>
        <p:nvPicPr>
          <p:cNvPr id="18" name="Image 3" descr="preencoded.png">    </p:cNvPr>
          <p:cNvPicPr>
            <a:picLocks noChangeAspect="1"/>
          </p:cNvPicPr>
          <p:nvPr/>
        </p:nvPicPr>
        <p:blipFill>
          <a:blip r:embed="rId4"/>
          <a:stretch>
            <a:fillRect/>
          </a:stretch>
        </p:blipFill>
        <p:spPr>
          <a:xfrm>
            <a:off x="4108118" y="941832"/>
            <a:ext cx="256032" cy="256032"/>
          </a:xfrm>
          <a:prstGeom prst="rect">
            <a:avLst/>
          </a:prstGeom>
        </p:spPr>
      </p:pic>
      <p:sp>
        <p:nvSpPr>
          <p:cNvPr id="19" name="Text 13"/>
          <p:cNvSpPr txBox="1"/>
          <p:nvPr/>
        </p:nvSpPr>
        <p:spPr>
          <a:xfrm>
            <a:off x="3851734"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via RBC gateway</a:t>
            </a:r>
            <a:endParaRPr lang="en-US" sz="650" dirty="0"/>
          </a:p>
        </p:txBody>
      </p:sp>
      <p:sp>
        <p:nvSpPr>
          <p:cNvPr id="20" name="Text 14"/>
          <p:cNvSpPr txBox="1"/>
          <p:nvPr/>
        </p:nvSpPr>
        <p:spPr>
          <a:xfrm>
            <a:off x="4657110"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Salesforce Agentforce</a:t>
            </a:r>
            <a:endParaRPr lang="en-US" sz="700" dirty="0"/>
          </a:p>
        </p:txBody>
      </p:sp>
      <p:pic>
        <p:nvPicPr>
          <p:cNvPr id="21" name="Image 4" descr="preencoded.png">    </p:cNvPr>
          <p:cNvPicPr>
            <a:picLocks noChangeAspect="1"/>
          </p:cNvPicPr>
          <p:nvPr/>
        </p:nvPicPr>
        <p:blipFill>
          <a:blip r:embed="rId5"/>
          <a:stretch>
            <a:fillRect/>
          </a:stretch>
        </p:blipFill>
        <p:spPr>
          <a:xfrm>
            <a:off x="4913493" y="941832"/>
            <a:ext cx="256032" cy="256032"/>
          </a:xfrm>
          <a:prstGeom prst="rect">
            <a:avLst/>
          </a:prstGeom>
        </p:spPr>
      </p:pic>
      <p:sp>
        <p:nvSpPr>
          <p:cNvPr id="22" name="Text 15"/>
          <p:cNvSpPr txBox="1"/>
          <p:nvPr/>
        </p:nvSpPr>
        <p:spPr>
          <a:xfrm>
            <a:off x="4657110"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vendor hosted LLM</a:t>
            </a:r>
            <a:endParaRPr lang="en-US" sz="650" dirty="0"/>
          </a:p>
        </p:txBody>
      </p:sp>
      <p:sp>
        <p:nvSpPr>
          <p:cNvPr id="23" name="Text 16"/>
          <p:cNvSpPr txBox="1"/>
          <p:nvPr/>
        </p:nvSpPr>
        <p:spPr>
          <a:xfrm>
            <a:off x="5462485"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nCino Banking Advisor</a:t>
            </a:r>
            <a:endParaRPr lang="en-US" sz="700" dirty="0"/>
          </a:p>
        </p:txBody>
      </p:sp>
      <p:pic>
        <p:nvPicPr>
          <p:cNvPr id="24" name="Image 5" descr="preencoded.png">    </p:cNvPr>
          <p:cNvPicPr>
            <a:picLocks noChangeAspect="1"/>
          </p:cNvPicPr>
          <p:nvPr/>
        </p:nvPicPr>
        <p:blipFill>
          <a:blip r:embed="rId6"/>
          <a:stretch>
            <a:fillRect/>
          </a:stretch>
        </p:blipFill>
        <p:spPr>
          <a:xfrm>
            <a:off x="5718869" y="941832"/>
            <a:ext cx="256032" cy="256032"/>
          </a:xfrm>
          <a:prstGeom prst="rect">
            <a:avLst/>
          </a:prstGeom>
        </p:spPr>
      </p:pic>
      <p:sp>
        <p:nvSpPr>
          <p:cNvPr id="25" name="Text 17"/>
          <p:cNvSpPr txBox="1"/>
          <p:nvPr/>
        </p:nvSpPr>
        <p:spPr>
          <a:xfrm>
            <a:off x="5462485"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vendor hosted LLM</a:t>
            </a:r>
            <a:endParaRPr lang="en-US" sz="650" dirty="0"/>
          </a:p>
        </p:txBody>
      </p:sp>
      <p:sp>
        <p:nvSpPr>
          <p:cNvPr id="26" name="Text 18"/>
          <p:cNvSpPr txBox="1"/>
          <p:nvPr/>
        </p:nvSpPr>
        <p:spPr>
          <a:xfrm>
            <a:off x="6267860"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Emburse</a:t>
            </a:r>
            <a:endParaRPr lang="en-US" sz="700" dirty="0"/>
          </a:p>
        </p:txBody>
      </p:sp>
      <p:pic>
        <p:nvPicPr>
          <p:cNvPr id="27" name="Image 6" descr="preencoded.png">    </p:cNvPr>
          <p:cNvPicPr>
            <a:picLocks noChangeAspect="1"/>
          </p:cNvPicPr>
          <p:nvPr/>
        </p:nvPicPr>
        <p:blipFill>
          <a:blip r:embed="rId7"/>
          <a:stretch>
            <a:fillRect/>
          </a:stretch>
        </p:blipFill>
        <p:spPr>
          <a:xfrm>
            <a:off x="6524244" y="941832"/>
            <a:ext cx="256032" cy="256032"/>
          </a:xfrm>
          <a:prstGeom prst="rect">
            <a:avLst/>
          </a:prstGeom>
        </p:spPr>
      </p:pic>
      <p:sp>
        <p:nvSpPr>
          <p:cNvPr id="28" name="Text 19"/>
          <p:cNvSpPr txBox="1"/>
          <p:nvPr/>
        </p:nvSpPr>
        <p:spPr>
          <a:xfrm>
            <a:off x="6267860"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vendor hosted LLM</a:t>
            </a:r>
            <a:endParaRPr lang="en-US" sz="650" dirty="0"/>
          </a:p>
        </p:txBody>
      </p:sp>
      <p:sp>
        <p:nvSpPr>
          <p:cNvPr id="29" name="Text 20"/>
          <p:cNvSpPr txBox="1"/>
          <p:nvPr/>
        </p:nvSpPr>
        <p:spPr>
          <a:xfrm>
            <a:off x="7073236"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WRITER (EDD)</a:t>
            </a:r>
            <a:endParaRPr lang="en-US" sz="700" dirty="0"/>
          </a:p>
        </p:txBody>
      </p:sp>
      <p:pic>
        <p:nvPicPr>
          <p:cNvPr id="30" name="Image 7" descr="preencoded.png">    </p:cNvPr>
          <p:cNvPicPr>
            <a:picLocks noChangeAspect="1"/>
          </p:cNvPicPr>
          <p:nvPr/>
        </p:nvPicPr>
        <p:blipFill>
          <a:blip r:embed="rId8"/>
          <a:stretch>
            <a:fillRect/>
          </a:stretch>
        </p:blipFill>
        <p:spPr>
          <a:xfrm>
            <a:off x="7329619" y="941832"/>
            <a:ext cx="256032" cy="256032"/>
          </a:xfrm>
          <a:prstGeom prst="rect">
            <a:avLst/>
          </a:prstGeom>
        </p:spPr>
      </p:pic>
      <p:sp>
        <p:nvSpPr>
          <p:cNvPr id="31" name="Text 21"/>
          <p:cNvSpPr txBox="1"/>
          <p:nvPr/>
        </p:nvSpPr>
        <p:spPr>
          <a:xfrm>
            <a:off x="7073236"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vendor hosted LLM</a:t>
            </a:r>
            <a:endParaRPr lang="en-US" sz="650" dirty="0"/>
          </a:p>
        </p:txBody>
      </p:sp>
      <p:sp>
        <p:nvSpPr>
          <p:cNvPr id="32" name="Text 22"/>
          <p:cNvSpPr txBox="1"/>
          <p:nvPr/>
        </p:nvSpPr>
        <p:spPr>
          <a:xfrm>
            <a:off x="7878611"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Microsoft 365 Copilot</a:t>
            </a:r>
            <a:endParaRPr lang="en-US" sz="700" dirty="0"/>
          </a:p>
        </p:txBody>
      </p:sp>
      <p:pic>
        <p:nvPicPr>
          <p:cNvPr id="33" name="Image 8" descr="preencoded.png">    </p:cNvPr>
          <p:cNvPicPr>
            <a:picLocks noChangeAspect="1"/>
          </p:cNvPicPr>
          <p:nvPr/>
        </p:nvPicPr>
        <p:blipFill>
          <a:blip r:embed="rId9"/>
          <a:stretch>
            <a:fillRect/>
          </a:stretch>
        </p:blipFill>
        <p:spPr>
          <a:xfrm>
            <a:off x="8134995" y="941832"/>
            <a:ext cx="256032" cy="256032"/>
          </a:xfrm>
          <a:prstGeom prst="rect">
            <a:avLst/>
          </a:prstGeom>
        </p:spPr>
      </p:pic>
      <p:sp>
        <p:nvSpPr>
          <p:cNvPr id="34" name="Text 23"/>
          <p:cNvSpPr txBox="1"/>
          <p:nvPr/>
        </p:nvSpPr>
        <p:spPr>
          <a:xfrm>
            <a:off x="7878611"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M365 tenant</a:t>
            </a:r>
            <a:endParaRPr lang="en-US" sz="650" dirty="0"/>
          </a:p>
        </p:txBody>
      </p:sp>
      <p:sp>
        <p:nvSpPr>
          <p:cNvPr id="35" name="Text 24"/>
          <p:cNvSpPr txBox="1"/>
          <p:nvPr/>
        </p:nvSpPr>
        <p:spPr>
          <a:xfrm>
            <a:off x="8683986"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Claude Code</a:t>
            </a:r>
            <a:endParaRPr lang="en-US" sz="700" dirty="0"/>
          </a:p>
        </p:txBody>
      </p:sp>
      <p:pic>
        <p:nvPicPr>
          <p:cNvPr id="36" name="Image 9" descr="preencoded.png">    </p:cNvPr>
          <p:cNvPicPr>
            <a:picLocks noChangeAspect="1"/>
          </p:cNvPicPr>
          <p:nvPr/>
        </p:nvPicPr>
        <p:blipFill>
          <a:blip r:embed="rId10"/>
          <a:stretch>
            <a:fillRect/>
          </a:stretch>
        </p:blipFill>
        <p:spPr>
          <a:xfrm>
            <a:off x="8940370" y="941832"/>
            <a:ext cx="256032" cy="256032"/>
          </a:xfrm>
          <a:prstGeom prst="rect">
            <a:avLst/>
          </a:prstGeom>
        </p:spPr>
      </p:pic>
      <p:sp>
        <p:nvSpPr>
          <p:cNvPr id="37" name="Text 25"/>
          <p:cNvSpPr txBox="1"/>
          <p:nvPr/>
        </p:nvSpPr>
        <p:spPr>
          <a:xfrm>
            <a:off x="8683986"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developer tool</a:t>
            </a:r>
            <a:endParaRPr lang="en-US" sz="650" dirty="0"/>
          </a:p>
        </p:txBody>
      </p:sp>
      <p:sp>
        <p:nvSpPr>
          <p:cNvPr id="38" name="Text 26"/>
          <p:cNvSpPr txBox="1"/>
          <p:nvPr/>
        </p:nvSpPr>
        <p:spPr>
          <a:xfrm>
            <a:off x="9489362"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Workato</a:t>
            </a:r>
            <a:endParaRPr lang="en-US" sz="700" dirty="0"/>
          </a:p>
        </p:txBody>
      </p:sp>
      <p:pic>
        <p:nvPicPr>
          <p:cNvPr id="39" name="Image 10" descr="preencoded.png">    </p:cNvPr>
          <p:cNvPicPr>
            <a:picLocks noChangeAspect="1"/>
          </p:cNvPicPr>
          <p:nvPr/>
        </p:nvPicPr>
        <p:blipFill>
          <a:blip r:embed="rId11"/>
          <a:stretch>
            <a:fillRect/>
          </a:stretch>
        </p:blipFill>
        <p:spPr>
          <a:xfrm>
            <a:off x="9745746" y="941832"/>
            <a:ext cx="256032" cy="256032"/>
          </a:xfrm>
          <a:prstGeom prst="rect">
            <a:avLst/>
          </a:prstGeom>
        </p:spPr>
      </p:pic>
      <p:sp>
        <p:nvSpPr>
          <p:cNvPr id="40" name="Text 27"/>
          <p:cNvSpPr txBox="1"/>
          <p:nvPr/>
        </p:nvSpPr>
        <p:spPr>
          <a:xfrm>
            <a:off x="9489362"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under evaluation</a:t>
            </a:r>
            <a:endParaRPr lang="en-US" sz="650" dirty="0"/>
          </a:p>
        </p:txBody>
      </p:sp>
      <p:sp>
        <p:nvSpPr>
          <p:cNvPr id="41" name="Text 28"/>
          <p:cNvSpPr txBox="1"/>
          <p:nvPr/>
        </p:nvSpPr>
        <p:spPr>
          <a:xfrm>
            <a:off x="10294737"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Functions Assist</a:t>
            </a:r>
            <a:endParaRPr lang="en-US" sz="700" dirty="0"/>
          </a:p>
        </p:txBody>
      </p:sp>
      <p:pic>
        <p:nvPicPr>
          <p:cNvPr id="42" name="Image 11" descr="preencoded.png">    </p:cNvPr>
          <p:cNvPicPr>
            <a:picLocks noChangeAspect="1"/>
          </p:cNvPicPr>
          <p:nvPr/>
        </p:nvPicPr>
        <p:blipFill>
          <a:blip r:embed="rId12"/>
          <a:stretch>
            <a:fillRect/>
          </a:stretch>
        </p:blipFill>
        <p:spPr>
          <a:xfrm>
            <a:off x="10551121" y="941832"/>
            <a:ext cx="256032" cy="256032"/>
          </a:xfrm>
          <a:prstGeom prst="rect">
            <a:avLst/>
          </a:prstGeom>
        </p:spPr>
      </p:pic>
      <p:sp>
        <p:nvSpPr>
          <p:cNvPr id="43" name="Text 29"/>
          <p:cNvSpPr txBox="1"/>
          <p:nvPr/>
        </p:nvSpPr>
        <p:spPr>
          <a:xfrm>
            <a:off x="10294737"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to confirm</a:t>
            </a:r>
            <a:endParaRPr lang="en-US" sz="650" dirty="0"/>
          </a:p>
        </p:txBody>
      </p:sp>
      <p:sp>
        <p:nvSpPr>
          <p:cNvPr id="44" name="Text 30"/>
          <p:cNvSpPr txBox="1"/>
          <p:nvPr/>
        </p:nvSpPr>
        <p:spPr>
          <a:xfrm>
            <a:off x="11100113" y="685800"/>
            <a:ext cx="768799" cy="256032"/>
          </a:xfrm>
          <a:prstGeom prst="rect">
            <a:avLst/>
          </a:prstGeom>
          <a:noFill/>
          <a:ln/>
        </p:spPr>
        <p:txBody>
          <a:bodyPr wrap="square" lIns="0" tIns="0" rIns="0" bIns="0" rtlCol="0" anchor="t"/>
          <a:lstStyle/>
          <a:p>
            <a:pPr algn="ctr" indent="0" marL="0">
              <a:buNone/>
            </a:pPr>
            <a:r>
              <a:rPr lang="en-US" sz="700" b="1" dirty="0">
                <a:solidFill>
                  <a:srgbClr val="1F4E9C"/>
                </a:solidFill>
                <a:latin typeface="Calibri" pitchFamily="34" charset="0"/>
                <a:ea typeface="Calibri" pitchFamily="34" charset="-122"/>
                <a:cs typeface="Calibri" pitchFamily="34" charset="-120"/>
              </a:rPr>
              <a:t>Omilia Voice Biometrics</a:t>
            </a:r>
            <a:endParaRPr lang="en-US" sz="700" dirty="0"/>
          </a:p>
        </p:txBody>
      </p:sp>
      <p:pic>
        <p:nvPicPr>
          <p:cNvPr id="45" name="Image 12" descr="preencoded.png">    </p:cNvPr>
          <p:cNvPicPr>
            <a:picLocks noChangeAspect="1"/>
          </p:cNvPicPr>
          <p:nvPr/>
        </p:nvPicPr>
        <p:blipFill>
          <a:blip r:embed="rId13"/>
          <a:stretch>
            <a:fillRect/>
          </a:stretch>
        </p:blipFill>
        <p:spPr>
          <a:xfrm>
            <a:off x="11356496" y="941832"/>
            <a:ext cx="256032" cy="256032"/>
          </a:xfrm>
          <a:prstGeom prst="rect">
            <a:avLst/>
          </a:prstGeom>
        </p:spPr>
      </p:pic>
      <p:sp>
        <p:nvSpPr>
          <p:cNvPr id="46" name="Text 31"/>
          <p:cNvSpPr txBox="1"/>
          <p:nvPr/>
        </p:nvSpPr>
        <p:spPr>
          <a:xfrm>
            <a:off x="11100113" y="1207008"/>
            <a:ext cx="768799" cy="155448"/>
          </a:xfrm>
          <a:prstGeom prst="rect">
            <a:avLst/>
          </a:prstGeom>
          <a:noFill/>
          <a:ln/>
        </p:spPr>
        <p:txBody>
          <a:bodyPr wrap="square" lIns="0" tIns="0" rIns="0" bIns="0" rtlCol="0" anchor="t"/>
          <a:lstStyle/>
          <a:p>
            <a:pPr algn="ctr" indent="0" marL="0">
              <a:buNone/>
            </a:pPr>
            <a:r>
              <a:rPr lang="en-US" sz="650" i="1" dirty="0">
                <a:solidFill>
                  <a:srgbClr val="595959"/>
                </a:solidFill>
                <a:latin typeface="Calibri" pitchFamily="34" charset="0"/>
                <a:ea typeface="Calibri" pitchFamily="34" charset="-122"/>
                <a:cs typeface="Calibri" pitchFamily="34" charset="-120"/>
              </a:rPr>
              <a:t>to confirm, non LLM</a:t>
            </a:r>
            <a:endParaRPr lang="en-US" sz="650" dirty="0"/>
          </a:p>
        </p:txBody>
      </p:sp>
      <p:sp>
        <p:nvSpPr>
          <p:cNvPr id="47" name="Shape 32"/>
          <p:cNvSpPr/>
          <p:nvPr/>
        </p:nvSpPr>
        <p:spPr>
          <a:xfrm>
            <a:off x="9480218" y="676656"/>
            <a:ext cx="2388694" cy="694944"/>
          </a:xfrm>
          <a:prstGeom prst="roundRect">
            <a:avLst>
              <a:gd name="adj" fmla="val 6579"/>
            </a:avLst>
          </a:prstGeom>
          <a:ln w="12700">
            <a:solidFill>
              <a:srgbClr val="C00000"/>
            </a:solidFill>
            <a:prstDash val="dash"/>
          </a:ln>
        </p:spPr>
      </p:sp>
      <p:sp>
        <p:nvSpPr>
          <p:cNvPr id="48" name="Shape 33"/>
          <p:cNvSpPr/>
          <p:nvPr/>
        </p:nvSpPr>
        <p:spPr>
          <a:xfrm>
            <a:off x="274320" y="1463040"/>
            <a:ext cx="1051560" cy="4846320"/>
          </a:xfrm>
          <a:prstGeom prst="roundRect">
            <a:avLst>
              <a:gd name="adj" fmla="val 6957"/>
            </a:avLst>
          </a:prstGeom>
          <a:ln w="12700">
            <a:solidFill>
              <a:srgbClr val="1F4E9C"/>
            </a:solidFill>
            <a:prstDash val="dash"/>
          </a:ln>
        </p:spPr>
      </p:sp>
      <p:sp>
        <p:nvSpPr>
          <p:cNvPr id="49" name="Text 34"/>
          <p:cNvSpPr txBox="1"/>
          <p:nvPr/>
        </p:nvSpPr>
        <p:spPr>
          <a:xfrm>
            <a:off x="292608" y="1499616"/>
            <a:ext cx="1014984" cy="219456"/>
          </a:xfrm>
          <a:prstGeom prst="rect">
            <a:avLst/>
          </a:prstGeom>
          <a:noFill/>
          <a:ln/>
        </p:spPr>
        <p:txBody>
          <a:bodyPr wrap="square" lIns="0" tIns="0" rIns="0" bIns="0" rtlCol="0" anchor="ctr"/>
          <a:lstStyle/>
          <a:p>
            <a:pPr algn="ctr" indent="0" marL="0">
              <a:buNone/>
            </a:pPr>
            <a:r>
              <a:rPr lang="en-US" sz="750" b="1" dirty="0">
                <a:solidFill>
                  <a:srgbClr val="262626"/>
                </a:solidFill>
                <a:latin typeface="Calibri" pitchFamily="34" charset="0"/>
                <a:ea typeface="Calibri" pitchFamily="34" charset="-122"/>
                <a:cs typeface="Calibri" pitchFamily="34" charset="-120"/>
              </a:rPr>
              <a:t>Monitoring Capabilities</a:t>
            </a:r>
            <a:endParaRPr lang="en-US" sz="750" dirty="0"/>
          </a:p>
        </p:txBody>
      </p:sp>
      <p:sp>
        <p:nvSpPr>
          <p:cNvPr id="50" name="Text 35"/>
          <p:cNvSpPr txBox="1"/>
          <p:nvPr/>
        </p:nvSpPr>
        <p:spPr>
          <a:xfrm>
            <a:off x="365760" y="2011680"/>
            <a:ext cx="475488" cy="1371600"/>
          </a:xfrm>
          <a:prstGeom prst="roundRect">
            <a:avLst>
              <a:gd name="adj" fmla="val 11538"/>
            </a:avLst>
          </a:prstGeom>
          <a:solidFill>
            <a:srgbClr val="E7E6E6"/>
          </a:solidFill>
          <a:ln w="6350">
            <a:solidFill>
              <a:srgbClr val="E7E6E6"/>
            </a:solidFill>
          </a:ln>
        </p:spPr>
        <p:txBody>
          <a:bodyPr wrap="square" lIns="254" tIns="254" rIns="254" bIns="254" rtlCol="0" anchor="ctr" vert="vert270"/>
          <a:lstStyle/>
          <a:p>
            <a:pPr algn="ctr" indent="0" marL="0">
              <a:buNone/>
            </a:pPr>
            <a:r>
              <a:rPr lang="en-US" sz="650" b="1" dirty="0">
                <a:solidFill>
                  <a:srgbClr val="262626"/>
                </a:solidFill>
                <a:latin typeface="Calibri" pitchFamily="34" charset="0"/>
                <a:ea typeface="Calibri" pitchFamily="34" charset="-122"/>
                <a:cs typeface="Calibri" pitchFamily="34" charset="-120"/>
              </a:rPr>
              <a:t>RBC gateway path</a:t>
            </a:r>
            <a:endParaRPr lang="en-US" sz="650" dirty="0"/>
          </a:p>
          <a:p>
            <a:pPr algn="ctr" indent="0" marL="0">
              <a:buNone/>
            </a:pPr>
            <a:r>
              <a:rPr lang="en-US" sz="650" b="1" dirty="0">
                <a:solidFill>
                  <a:srgbClr val="262626"/>
                </a:solidFill>
                <a:latin typeface="Calibri" pitchFamily="34" charset="0"/>
                <a:ea typeface="Calibri" pitchFamily="34" charset="-122"/>
                <a:cs typeface="Calibri" pitchFamily="34" charset="-120"/>
              </a:rPr>
              <a:t>Vendor hosted LLM</a:t>
            </a:r>
            <a:endParaRPr lang="en-US" sz="650" dirty="0"/>
          </a:p>
          <a:p>
            <a:pPr algn="ctr" indent="0" marL="0">
              <a:buNone/>
            </a:pPr>
            <a:r>
              <a:rPr lang="en-US" sz="650" b="1" dirty="0">
                <a:solidFill>
                  <a:srgbClr val="262626"/>
                </a:solidFill>
                <a:latin typeface="Calibri" pitchFamily="34" charset="0"/>
                <a:ea typeface="Calibri" pitchFamily="34" charset="-122"/>
                <a:cs typeface="Calibri" pitchFamily="34" charset="-120"/>
              </a:rPr>
              <a:t>CNB built on Foundry</a:t>
            </a:r>
            <a:endParaRPr lang="en-US" sz="650" dirty="0"/>
          </a:p>
          <a:p>
            <a:pPr algn="ctr" indent="0" marL="0">
              <a:buNone/>
            </a:pPr>
            <a:r>
              <a:rPr lang="en-US" sz="650" b="1" dirty="0">
                <a:solidFill>
                  <a:srgbClr val="262626"/>
                </a:solidFill>
                <a:latin typeface="Calibri" pitchFamily="34" charset="0"/>
                <a:ea typeface="Calibri" pitchFamily="34" charset="-122"/>
                <a:cs typeface="Calibri" pitchFamily="34" charset="-120"/>
              </a:rPr>
              <a:t>Third party tools</a:t>
            </a:r>
            <a:endParaRPr lang="en-US" sz="650" dirty="0"/>
          </a:p>
        </p:txBody>
      </p:sp>
      <p:sp>
        <p:nvSpPr>
          <p:cNvPr id="51" name="Shape 36"/>
          <p:cNvSpPr/>
          <p:nvPr/>
        </p:nvSpPr>
        <p:spPr>
          <a:xfrm>
            <a:off x="896112" y="2468880"/>
            <a:ext cx="365760" cy="457200"/>
          </a:xfrm>
          <a:prstGeom prst="rightArrow">
            <a:avLst/>
          </a:prstGeom>
          <a:solidFill>
            <a:srgbClr val="1F4E9C"/>
          </a:solidFill>
          <a:ln w="6350">
            <a:solidFill>
              <a:srgbClr val="1F4E9C"/>
            </a:solidFill>
            <a:prstDash val="solid"/>
          </a:ln>
        </p:spPr>
      </p:sp>
      <p:sp>
        <p:nvSpPr>
          <p:cNvPr id="52" name="Text 37"/>
          <p:cNvSpPr txBox="1"/>
          <p:nvPr/>
        </p:nvSpPr>
        <p:spPr>
          <a:xfrm>
            <a:off x="320040" y="3584448"/>
            <a:ext cx="411480" cy="859536"/>
          </a:xfrm>
          <a:prstGeom prst="rect">
            <a:avLst/>
          </a:prstGeom>
          <a:noFill/>
          <a:ln/>
        </p:spPr>
        <p:txBody>
          <a:bodyPr wrap="square" lIns="0" tIns="0" rIns="0" bIns="0" rtlCol="0" anchor="ctr" vert="vert270"/>
          <a:lstStyle/>
          <a:p>
            <a:pPr algn="ctr" indent="0" marL="0">
              <a:buNone/>
            </a:pPr>
            <a:r>
              <a:rPr lang="en-US" sz="700" b="1" dirty="0">
                <a:solidFill>
                  <a:srgbClr val="262626"/>
                </a:solidFill>
                <a:latin typeface="Calibri" pitchFamily="34" charset="0"/>
                <a:ea typeface="Calibri" pitchFamily="34" charset="-122"/>
                <a:cs typeface="Calibri" pitchFamily="34" charset="-120"/>
              </a:rPr>
              <a:t>RBC Capabilities</a:t>
            </a:r>
            <a:endParaRPr lang="en-US" sz="700" dirty="0"/>
          </a:p>
        </p:txBody>
      </p:sp>
      <p:sp>
        <p:nvSpPr>
          <p:cNvPr id="53" name="Text 38"/>
          <p:cNvSpPr txBox="1"/>
          <p:nvPr/>
        </p:nvSpPr>
        <p:spPr>
          <a:xfrm>
            <a:off x="320040" y="4535424"/>
            <a:ext cx="411480" cy="1152144"/>
          </a:xfrm>
          <a:prstGeom prst="rect">
            <a:avLst/>
          </a:prstGeom>
          <a:noFill/>
          <a:ln/>
        </p:spPr>
        <p:txBody>
          <a:bodyPr wrap="square" lIns="0" tIns="0" rIns="0" bIns="0" rtlCol="0" anchor="ctr" vert="vert270"/>
          <a:lstStyle/>
          <a:p>
            <a:pPr algn="ctr" indent="0" marL="0">
              <a:buNone/>
            </a:pPr>
            <a:r>
              <a:rPr lang="en-US" sz="850" b="1" dirty="0">
                <a:solidFill>
                  <a:srgbClr val="262626"/>
                </a:solidFill>
                <a:latin typeface="Calibri" pitchFamily="34" charset="0"/>
                <a:ea typeface="Calibri" pitchFamily="34" charset="-122"/>
                <a:cs typeface="Calibri" pitchFamily="34" charset="-120"/>
              </a:rPr>
              <a:t>Technology</a:t>
            </a:r>
            <a:endParaRPr lang="en-US" sz="850" dirty="0"/>
          </a:p>
        </p:txBody>
      </p:sp>
      <p:sp>
        <p:nvSpPr>
          <p:cNvPr id="54" name="Text 39"/>
          <p:cNvSpPr txBox="1"/>
          <p:nvPr/>
        </p:nvSpPr>
        <p:spPr>
          <a:xfrm>
            <a:off x="320040" y="5669280"/>
            <a:ext cx="411480" cy="658368"/>
          </a:xfrm>
          <a:prstGeom prst="rect">
            <a:avLst/>
          </a:prstGeom>
          <a:noFill/>
          <a:ln/>
        </p:spPr>
        <p:txBody>
          <a:bodyPr wrap="square" lIns="0" tIns="0" rIns="0" bIns="0" rtlCol="0" anchor="ctr" vert="vert270"/>
          <a:lstStyle/>
          <a:p>
            <a:pPr algn="ctr" indent="0" marL="0">
              <a:buNone/>
            </a:pPr>
            <a:r>
              <a:rPr lang="en-US" sz="700" b="1" dirty="0">
                <a:solidFill>
                  <a:srgbClr val="262626"/>
                </a:solidFill>
                <a:latin typeface="Calibri" pitchFamily="34" charset="0"/>
                <a:ea typeface="Calibri" pitchFamily="34" charset="-122"/>
                <a:cs typeface="Calibri" pitchFamily="34" charset="-120"/>
              </a:rPr>
              <a:t>Foundational</a:t>
            </a:r>
            <a:endParaRPr lang="en-US" sz="700" dirty="0"/>
          </a:p>
        </p:txBody>
      </p:sp>
      <p:sp>
        <p:nvSpPr>
          <p:cNvPr id="55" name="Text 40"/>
          <p:cNvSpPr txBox="1"/>
          <p:nvPr/>
        </p:nvSpPr>
        <p:spPr>
          <a:xfrm>
            <a:off x="1417320" y="1499616"/>
            <a:ext cx="1354455" cy="384048"/>
          </a:xfrm>
          <a:prstGeom prst="rect">
            <a:avLst/>
          </a:prstGeom>
          <a:solidFill>
            <a:srgbClr val="5B9BD5"/>
          </a:solidFill>
          <a:ln w="9525">
            <a:solidFill>
              <a:srgbClr val="FFFFFF"/>
            </a:solidFill>
          </a:ln>
        </p:spPr>
        <p:txBody>
          <a:bodyPr wrap="square" lIns="508" tIns="508" rIns="508" bIns="508"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Usage &amp; Access</a:t>
            </a:r>
            <a:endParaRPr lang="en-US" sz="800" dirty="0"/>
          </a:p>
        </p:txBody>
      </p:sp>
      <p:sp>
        <p:nvSpPr>
          <p:cNvPr id="56" name="Text 41"/>
          <p:cNvSpPr txBox="1"/>
          <p:nvPr/>
        </p:nvSpPr>
        <p:spPr>
          <a:xfrm>
            <a:off x="2680335" y="1499616"/>
            <a:ext cx="1354455" cy="384048"/>
          </a:xfrm>
          <a:prstGeom prst="chevron">
            <a:avLst/>
          </a:prstGeom>
          <a:solidFill>
            <a:srgbClr val="1F4E9C"/>
          </a:solidFill>
          <a:ln w="9525">
            <a:solidFill>
              <a:srgbClr val="FFFFFF"/>
            </a:solidFill>
          </a:ln>
        </p:spPr>
        <p:txBody>
          <a:bodyPr wrap="square" lIns="508" tIns="508" rIns="508" bIns="508"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Prompts &amp; Content</a:t>
            </a:r>
            <a:endParaRPr lang="en-US" sz="800" dirty="0"/>
          </a:p>
        </p:txBody>
      </p:sp>
      <p:sp>
        <p:nvSpPr>
          <p:cNvPr id="57" name="Text 42"/>
          <p:cNvSpPr txBox="1"/>
          <p:nvPr/>
        </p:nvSpPr>
        <p:spPr>
          <a:xfrm>
            <a:off x="3989070" y="1499616"/>
            <a:ext cx="1354455" cy="384048"/>
          </a:xfrm>
          <a:prstGeom prst="chevron">
            <a:avLst/>
          </a:prstGeom>
          <a:solidFill>
            <a:srgbClr val="1F4E9C"/>
          </a:solidFill>
          <a:ln w="9525">
            <a:solidFill>
              <a:srgbClr val="FFFFFF"/>
            </a:solidFill>
          </a:ln>
        </p:spPr>
        <p:txBody>
          <a:bodyPr wrap="square" lIns="508" tIns="508" rIns="508" bIns="508"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Agents &amp; Tool Calls</a:t>
            </a:r>
            <a:endParaRPr lang="en-US" sz="800" dirty="0"/>
          </a:p>
        </p:txBody>
      </p:sp>
      <p:sp>
        <p:nvSpPr>
          <p:cNvPr id="58" name="Text 43"/>
          <p:cNvSpPr txBox="1"/>
          <p:nvPr/>
        </p:nvSpPr>
        <p:spPr>
          <a:xfrm>
            <a:off x="5297805" y="1499616"/>
            <a:ext cx="1354455" cy="384048"/>
          </a:xfrm>
          <a:prstGeom prst="chevron">
            <a:avLst/>
          </a:prstGeom>
          <a:solidFill>
            <a:srgbClr val="1F4E9C"/>
          </a:solidFill>
          <a:ln w="9525">
            <a:solidFill>
              <a:srgbClr val="FFFFFF"/>
            </a:solidFill>
          </a:ln>
        </p:spPr>
        <p:txBody>
          <a:bodyPr wrap="square" lIns="508" tIns="508" rIns="508" bIns="508"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Retrieval &amp; Data (RAG)</a:t>
            </a:r>
            <a:endParaRPr lang="en-US" sz="800" dirty="0"/>
          </a:p>
        </p:txBody>
      </p:sp>
      <p:sp>
        <p:nvSpPr>
          <p:cNvPr id="59" name="Text 44"/>
          <p:cNvSpPr txBox="1"/>
          <p:nvPr/>
        </p:nvSpPr>
        <p:spPr>
          <a:xfrm>
            <a:off x="6606540" y="1499616"/>
            <a:ext cx="1354455" cy="384048"/>
          </a:xfrm>
          <a:prstGeom prst="chevron">
            <a:avLst/>
          </a:prstGeom>
          <a:solidFill>
            <a:srgbClr val="5B9BD5"/>
          </a:solidFill>
          <a:ln w="9525">
            <a:solidFill>
              <a:srgbClr val="FFFFFF"/>
            </a:solidFill>
          </a:ln>
        </p:spPr>
        <p:txBody>
          <a:bodyPr wrap="square" lIns="508" tIns="508" rIns="508" bIns="508"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Quality &amp; Drift</a:t>
            </a:r>
            <a:endParaRPr lang="en-US" sz="800" dirty="0"/>
          </a:p>
        </p:txBody>
      </p:sp>
      <p:sp>
        <p:nvSpPr>
          <p:cNvPr id="60" name="Text 45"/>
          <p:cNvSpPr txBox="1"/>
          <p:nvPr/>
        </p:nvSpPr>
        <p:spPr>
          <a:xfrm>
            <a:off x="7915275" y="1499616"/>
            <a:ext cx="1354455" cy="384048"/>
          </a:xfrm>
          <a:prstGeom prst="chevron">
            <a:avLst/>
          </a:prstGeom>
          <a:solidFill>
            <a:srgbClr val="5B9BD5"/>
          </a:solidFill>
          <a:ln w="9525">
            <a:solidFill>
              <a:srgbClr val="FFFFFF"/>
            </a:solidFill>
          </a:ln>
        </p:spPr>
        <p:txBody>
          <a:bodyPr wrap="square" lIns="508" tIns="508" rIns="508" bIns="508"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Cost &amp; Performance</a:t>
            </a:r>
            <a:endParaRPr lang="en-US" sz="800" dirty="0"/>
          </a:p>
        </p:txBody>
      </p:sp>
      <p:sp>
        <p:nvSpPr>
          <p:cNvPr id="61" name="Text 46"/>
          <p:cNvSpPr txBox="1"/>
          <p:nvPr/>
        </p:nvSpPr>
        <p:spPr>
          <a:xfrm>
            <a:off x="9224010" y="1499616"/>
            <a:ext cx="1354455" cy="384048"/>
          </a:xfrm>
          <a:prstGeom prst="chevron">
            <a:avLst/>
          </a:prstGeom>
          <a:solidFill>
            <a:srgbClr val="1F4E9C"/>
          </a:solidFill>
          <a:ln w="9525">
            <a:solidFill>
              <a:srgbClr val="FFFFFF"/>
            </a:solidFill>
          </a:ln>
        </p:spPr>
        <p:txBody>
          <a:bodyPr wrap="square" lIns="508" tIns="508" rIns="508" bIns="508"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Security &amp; Threats</a:t>
            </a:r>
            <a:endParaRPr lang="en-US" sz="800" dirty="0"/>
          </a:p>
        </p:txBody>
      </p:sp>
      <p:sp>
        <p:nvSpPr>
          <p:cNvPr id="62" name="Text 47"/>
          <p:cNvSpPr txBox="1"/>
          <p:nvPr/>
        </p:nvSpPr>
        <p:spPr>
          <a:xfrm>
            <a:off x="10532745" y="1499616"/>
            <a:ext cx="1354455" cy="384048"/>
          </a:xfrm>
          <a:prstGeom prst="chevron">
            <a:avLst/>
          </a:prstGeom>
          <a:solidFill>
            <a:srgbClr val="1F4E9C"/>
          </a:solidFill>
          <a:ln w="9525">
            <a:solidFill>
              <a:srgbClr val="FFFFFF"/>
            </a:solidFill>
          </a:ln>
        </p:spPr>
        <p:txBody>
          <a:bodyPr wrap="square" lIns="508" tIns="508" rIns="508" bIns="508"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Compliance &amp; Audit</a:t>
            </a:r>
            <a:endParaRPr lang="en-US" sz="800" dirty="0"/>
          </a:p>
        </p:txBody>
      </p:sp>
      <p:sp>
        <p:nvSpPr>
          <p:cNvPr id="63" name="Text 48"/>
          <p:cNvSpPr txBox="1"/>
          <p:nvPr/>
        </p:nvSpPr>
        <p:spPr>
          <a:xfrm>
            <a:off x="1444752" y="1956816"/>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Who uses which AI app, and how much</a:t>
            </a:r>
            <a:endParaRPr lang="en-US" sz="700" dirty="0"/>
          </a:p>
        </p:txBody>
      </p:sp>
      <p:sp>
        <p:nvSpPr>
          <p:cNvPr id="64" name="Text 49"/>
          <p:cNvSpPr txBox="1"/>
          <p:nvPr/>
        </p:nvSpPr>
        <p:spPr>
          <a:xfrm>
            <a:off x="1444752" y="2340864"/>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Unsanctioned AI and shadow tool use</a:t>
            </a:r>
            <a:endParaRPr lang="en-US" sz="700" dirty="0"/>
          </a:p>
        </p:txBody>
      </p:sp>
      <p:sp>
        <p:nvSpPr>
          <p:cNvPr id="65" name="Text 50"/>
          <p:cNvSpPr txBox="1"/>
          <p:nvPr/>
        </p:nvSpPr>
        <p:spPr>
          <a:xfrm>
            <a:off x="1444752" y="2724912"/>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Entitlement violations; CNB population view</a:t>
            </a:r>
            <a:endParaRPr lang="en-US" sz="700" dirty="0"/>
          </a:p>
        </p:txBody>
      </p:sp>
      <p:sp>
        <p:nvSpPr>
          <p:cNvPr id="66" name="Text 51"/>
          <p:cNvSpPr txBox="1"/>
          <p:nvPr/>
        </p:nvSpPr>
        <p:spPr>
          <a:xfrm>
            <a:off x="1444752" y="3108960"/>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License and seat consumption by app</a:t>
            </a:r>
            <a:endParaRPr lang="en-US" sz="700" dirty="0"/>
          </a:p>
        </p:txBody>
      </p:sp>
      <p:sp>
        <p:nvSpPr>
          <p:cNvPr id="67" name="Text 52"/>
          <p:cNvSpPr txBox="1"/>
          <p:nvPr/>
        </p:nvSpPr>
        <p:spPr>
          <a:xfrm>
            <a:off x="2753487" y="1956816"/>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Prompt patterns and topics over time</a:t>
            </a:r>
            <a:endParaRPr lang="en-US" sz="700" dirty="0"/>
          </a:p>
        </p:txBody>
      </p:sp>
      <p:sp>
        <p:nvSpPr>
          <p:cNvPr id="68" name="Text 53"/>
          <p:cNvSpPr txBox="1"/>
          <p:nvPr/>
        </p:nvSpPr>
        <p:spPr>
          <a:xfrm>
            <a:off x="2753487" y="2340864"/>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Injection and jailbreak attempts</a:t>
            </a:r>
            <a:endParaRPr lang="en-US" sz="700" dirty="0"/>
          </a:p>
        </p:txBody>
      </p:sp>
      <p:sp>
        <p:nvSpPr>
          <p:cNvPr id="69" name="Text 54"/>
          <p:cNvSpPr txBox="1"/>
          <p:nvPr/>
        </p:nvSpPr>
        <p:spPr>
          <a:xfrm>
            <a:off x="2753487" y="2724912"/>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Sensitive data in prompts or responses</a:t>
            </a:r>
            <a:endParaRPr lang="en-US" sz="700" dirty="0"/>
          </a:p>
        </p:txBody>
      </p:sp>
      <p:sp>
        <p:nvSpPr>
          <p:cNvPr id="70" name="Text 55"/>
          <p:cNvSpPr txBox="1"/>
          <p:nvPr/>
        </p:nvSpPr>
        <p:spPr>
          <a:xfrm>
            <a:off x="2753487" y="3108960"/>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Guardrail hit rates and refusals</a:t>
            </a:r>
            <a:endParaRPr lang="en-US" sz="700" dirty="0"/>
          </a:p>
        </p:txBody>
      </p:sp>
      <p:sp>
        <p:nvSpPr>
          <p:cNvPr id="71" name="Text 56"/>
          <p:cNvSpPr txBox="1"/>
          <p:nvPr/>
        </p:nvSpPr>
        <p:spPr>
          <a:xfrm>
            <a:off x="4062222" y="1956816"/>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Which agent called which tool, with what</a:t>
            </a:r>
            <a:endParaRPr lang="en-US" sz="700" dirty="0"/>
          </a:p>
        </p:txBody>
      </p:sp>
      <p:sp>
        <p:nvSpPr>
          <p:cNvPr id="72" name="Text 57"/>
          <p:cNvSpPr txBox="1"/>
          <p:nvPr/>
        </p:nvSpPr>
        <p:spPr>
          <a:xfrm>
            <a:off x="4062222" y="2340864"/>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Runaway loops and token thresholds</a:t>
            </a:r>
            <a:endParaRPr lang="en-US" sz="700" dirty="0"/>
          </a:p>
        </p:txBody>
      </p:sp>
      <p:sp>
        <p:nvSpPr>
          <p:cNvPr id="73" name="Text 58"/>
          <p:cNvSpPr txBox="1"/>
          <p:nvPr/>
        </p:nvSpPr>
        <p:spPr>
          <a:xfrm>
            <a:off x="4062222" y="2724912"/>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Unauthorized tool or data access; kill switch</a:t>
            </a:r>
            <a:endParaRPr lang="en-US" sz="700" dirty="0"/>
          </a:p>
        </p:txBody>
      </p:sp>
      <p:sp>
        <p:nvSpPr>
          <p:cNvPr id="74" name="Text 59"/>
          <p:cNvSpPr txBox="1"/>
          <p:nvPr/>
        </p:nvSpPr>
        <p:spPr>
          <a:xfrm>
            <a:off x="4062222" y="3108960"/>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Agent to agent and MCP call chains</a:t>
            </a:r>
            <a:endParaRPr lang="en-US" sz="700" dirty="0"/>
          </a:p>
        </p:txBody>
      </p:sp>
      <p:sp>
        <p:nvSpPr>
          <p:cNvPr id="75" name="Text 60"/>
          <p:cNvSpPr txBox="1"/>
          <p:nvPr/>
        </p:nvSpPr>
        <p:spPr>
          <a:xfrm>
            <a:off x="5370957" y="1956816"/>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Documents, chunks, embeddings per answer</a:t>
            </a:r>
            <a:endParaRPr lang="en-US" sz="700" dirty="0"/>
          </a:p>
        </p:txBody>
      </p:sp>
      <p:sp>
        <p:nvSpPr>
          <p:cNvPr id="76" name="Text 61"/>
          <p:cNvSpPr txBox="1"/>
          <p:nvPr/>
        </p:nvSpPr>
        <p:spPr>
          <a:xfrm>
            <a:off x="5370957" y="2340864"/>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Retrieval query audit trail</a:t>
            </a:r>
            <a:endParaRPr lang="en-US" sz="700" dirty="0"/>
          </a:p>
        </p:txBody>
      </p:sp>
      <p:sp>
        <p:nvSpPr>
          <p:cNvPr id="77" name="Text 62"/>
          <p:cNvSpPr txBox="1"/>
          <p:nvPr/>
        </p:nvSpPr>
        <p:spPr>
          <a:xfrm>
            <a:off x="5370957" y="2724912"/>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Retrieved content vs user entitlement</a:t>
            </a:r>
            <a:endParaRPr lang="en-US" sz="700" dirty="0"/>
          </a:p>
        </p:txBody>
      </p:sp>
      <p:sp>
        <p:nvSpPr>
          <p:cNvPr id="78" name="Text 63"/>
          <p:cNvSpPr txBox="1"/>
          <p:nvPr/>
        </p:nvSpPr>
        <p:spPr>
          <a:xfrm>
            <a:off x="5370957" y="3108960"/>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Stale, missing, or unindexed sources</a:t>
            </a:r>
            <a:endParaRPr lang="en-US" sz="700" dirty="0"/>
          </a:p>
        </p:txBody>
      </p:sp>
      <p:sp>
        <p:nvSpPr>
          <p:cNvPr id="79" name="Text 64"/>
          <p:cNvSpPr txBox="1"/>
          <p:nvPr/>
        </p:nvSpPr>
        <p:spPr>
          <a:xfrm>
            <a:off x="6679692" y="1956816"/>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Evaluation scores and hallucination rate</a:t>
            </a:r>
            <a:endParaRPr lang="en-US" sz="700" dirty="0"/>
          </a:p>
        </p:txBody>
      </p:sp>
      <p:sp>
        <p:nvSpPr>
          <p:cNvPr id="80" name="Text 65"/>
          <p:cNvSpPr txBox="1"/>
          <p:nvPr/>
        </p:nvSpPr>
        <p:spPr>
          <a:xfrm>
            <a:off x="6679692" y="2340864"/>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Model, prompt, and index version changes</a:t>
            </a:r>
            <a:endParaRPr lang="en-US" sz="700" dirty="0"/>
          </a:p>
        </p:txBody>
      </p:sp>
      <p:sp>
        <p:nvSpPr>
          <p:cNvPr id="81" name="Text 66"/>
          <p:cNvSpPr txBox="1"/>
          <p:nvPr/>
        </p:nvSpPr>
        <p:spPr>
          <a:xfrm>
            <a:off x="6679692" y="2724912"/>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Approved model conformance; user feedback</a:t>
            </a:r>
            <a:endParaRPr lang="en-US" sz="700" dirty="0"/>
          </a:p>
        </p:txBody>
      </p:sp>
      <p:sp>
        <p:nvSpPr>
          <p:cNvPr id="82" name="Text 67"/>
          <p:cNvSpPr txBox="1"/>
          <p:nvPr/>
        </p:nvSpPr>
        <p:spPr>
          <a:xfrm>
            <a:off x="6679692" y="3108960"/>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Groundedness against retrieved content</a:t>
            </a:r>
            <a:endParaRPr lang="en-US" sz="700" dirty="0"/>
          </a:p>
        </p:txBody>
      </p:sp>
      <p:sp>
        <p:nvSpPr>
          <p:cNvPr id="83" name="Text 68"/>
          <p:cNvSpPr txBox="1"/>
          <p:nvPr/>
        </p:nvSpPr>
        <p:spPr>
          <a:xfrm>
            <a:off x="7988427" y="1956816"/>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Tokens and spend per use case and user</a:t>
            </a:r>
            <a:endParaRPr lang="en-US" sz="700" dirty="0"/>
          </a:p>
        </p:txBody>
      </p:sp>
      <p:sp>
        <p:nvSpPr>
          <p:cNvPr id="84" name="Text 69"/>
          <p:cNvSpPr txBox="1"/>
          <p:nvPr/>
        </p:nvSpPr>
        <p:spPr>
          <a:xfrm>
            <a:off x="7988427" y="2340864"/>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Latency, errors, availability</a:t>
            </a:r>
            <a:endParaRPr lang="en-US" sz="700" dirty="0"/>
          </a:p>
        </p:txBody>
      </p:sp>
      <p:sp>
        <p:nvSpPr>
          <p:cNvPr id="85" name="Text 70"/>
          <p:cNvSpPr txBox="1"/>
          <p:nvPr/>
        </p:nvSpPr>
        <p:spPr>
          <a:xfrm>
            <a:off x="7988427" y="2724912"/>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Vendor SLA and quota tracking</a:t>
            </a:r>
            <a:endParaRPr lang="en-US" sz="700" dirty="0"/>
          </a:p>
        </p:txBody>
      </p:sp>
      <p:sp>
        <p:nvSpPr>
          <p:cNvPr id="86" name="Text 71"/>
          <p:cNvSpPr txBox="1"/>
          <p:nvPr/>
        </p:nvSpPr>
        <p:spPr>
          <a:xfrm>
            <a:off x="7988427" y="3108960"/>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Capacity and rate limit headroom</a:t>
            </a:r>
            <a:endParaRPr lang="en-US" sz="700" dirty="0"/>
          </a:p>
        </p:txBody>
      </p:sp>
      <p:sp>
        <p:nvSpPr>
          <p:cNvPr id="87" name="Text 72"/>
          <p:cNvSpPr txBox="1"/>
          <p:nvPr/>
        </p:nvSpPr>
        <p:spPr>
          <a:xfrm>
            <a:off x="9297162" y="1956816"/>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Exfiltration and secret exposure attempts</a:t>
            </a:r>
            <a:endParaRPr lang="en-US" sz="700" dirty="0"/>
          </a:p>
        </p:txBody>
      </p:sp>
      <p:sp>
        <p:nvSpPr>
          <p:cNvPr id="88" name="Text 73"/>
          <p:cNvSpPr txBox="1"/>
          <p:nvPr/>
        </p:nvSpPr>
        <p:spPr>
          <a:xfrm>
            <a:off x="9297162" y="2340864"/>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Anomalous access; malicious tool calls</a:t>
            </a:r>
            <a:endParaRPr lang="en-US" sz="700" dirty="0"/>
          </a:p>
        </p:txBody>
      </p:sp>
      <p:sp>
        <p:nvSpPr>
          <p:cNvPr id="89" name="Text 74"/>
          <p:cNvSpPr txBox="1"/>
          <p:nvPr/>
        </p:nvSpPr>
        <p:spPr>
          <a:xfrm>
            <a:off x="9297162" y="2724912"/>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Model and plugin provenance; SIEM feed</a:t>
            </a:r>
            <a:endParaRPr lang="en-US" sz="700" dirty="0"/>
          </a:p>
        </p:txBody>
      </p:sp>
      <p:sp>
        <p:nvSpPr>
          <p:cNvPr id="90" name="Text 75"/>
          <p:cNvSpPr txBox="1"/>
          <p:nvPr/>
        </p:nvSpPr>
        <p:spPr>
          <a:xfrm>
            <a:off x="9297162" y="3108960"/>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Vendor LLM apps: security event feeds</a:t>
            </a:r>
            <a:endParaRPr lang="en-US" sz="700" dirty="0"/>
          </a:p>
        </p:txBody>
      </p:sp>
      <p:sp>
        <p:nvSpPr>
          <p:cNvPr id="91" name="Text 76"/>
          <p:cNvSpPr txBox="1"/>
          <p:nvPr/>
        </p:nvSpPr>
        <p:spPr>
          <a:xfrm>
            <a:off x="10605897" y="1956816"/>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Redacted record of every interaction</a:t>
            </a:r>
            <a:endParaRPr lang="en-US" sz="700" dirty="0"/>
          </a:p>
        </p:txBody>
      </p:sp>
      <p:sp>
        <p:nvSpPr>
          <p:cNvPr id="92" name="Text 77"/>
          <p:cNvSpPr txBox="1"/>
          <p:nvPr/>
        </p:nvSpPr>
        <p:spPr>
          <a:xfrm>
            <a:off x="10605897" y="2340864"/>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Every control action recorded</a:t>
            </a:r>
            <a:endParaRPr lang="en-US" sz="700" dirty="0"/>
          </a:p>
        </p:txBody>
      </p:sp>
      <p:sp>
        <p:nvSpPr>
          <p:cNvPr id="93" name="Text 78"/>
          <p:cNvSpPr txBox="1"/>
          <p:nvPr/>
        </p:nvSpPr>
        <p:spPr>
          <a:xfrm>
            <a:off x="10605897" y="2724912"/>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Retention; regulator ready reporting</a:t>
            </a:r>
            <a:endParaRPr lang="en-US" sz="700" dirty="0"/>
          </a:p>
        </p:txBody>
      </p:sp>
      <p:sp>
        <p:nvSpPr>
          <p:cNvPr id="94" name="Text 79"/>
          <p:cNvSpPr txBox="1"/>
          <p:nvPr/>
        </p:nvSpPr>
        <p:spPr>
          <a:xfrm>
            <a:off x="10605897" y="3108960"/>
            <a:ext cx="1253871" cy="347472"/>
          </a:xfrm>
          <a:prstGeom prst="rect">
            <a:avLst/>
          </a:prstGeom>
          <a:solidFill>
            <a:srgbClr val="F2F2F2"/>
          </a:solidFill>
          <a:ln>
            <a:solidFill>
              <a:srgbClr val="F2F2F2"/>
            </a:solidFill>
          </a:ln>
        </p:spPr>
        <p:txBody>
          <a:bodyPr wrap="square" lIns="508" tIns="508" rIns="508" bIns="508" rtlCol="0" anchor="ctr"/>
          <a:lstStyle/>
          <a:p>
            <a:pPr algn="l" indent="0" marL="0">
              <a:buNone/>
            </a:pPr>
            <a:r>
              <a:rPr lang="en-US" sz="700" dirty="0">
                <a:solidFill>
                  <a:srgbClr val="262626"/>
                </a:solidFill>
                <a:latin typeface="Calibri" pitchFamily="34" charset="0"/>
                <a:ea typeface="Calibri" pitchFamily="34" charset="-122"/>
                <a:cs typeface="Calibri" pitchFamily="34" charset="-120"/>
              </a:rPr>
              <a:t>Model risk documentation and evidence</a:t>
            </a:r>
            <a:endParaRPr lang="en-US" sz="700" dirty="0"/>
          </a:p>
        </p:txBody>
      </p:sp>
      <p:sp>
        <p:nvSpPr>
          <p:cNvPr id="95" name="Shape 80"/>
          <p:cNvSpPr/>
          <p:nvPr/>
        </p:nvSpPr>
        <p:spPr>
          <a:xfrm>
            <a:off x="1417320" y="3529584"/>
            <a:ext cx="10469880" cy="0"/>
          </a:xfrm>
          <a:prstGeom prst="line">
            <a:avLst/>
          </a:prstGeom>
          <a:noFill/>
          <a:ln w="19050">
            <a:solidFill>
              <a:srgbClr val="1F4E9C"/>
            </a:solidFill>
            <a:prstDash val="dash"/>
          </a:ln>
        </p:spPr>
      </p:sp>
      <p:sp>
        <p:nvSpPr>
          <p:cNvPr id="96" name="Text 81"/>
          <p:cNvSpPr txBox="1"/>
          <p:nvPr/>
        </p:nvSpPr>
        <p:spPr>
          <a:xfrm>
            <a:off x="1444752" y="3602736"/>
            <a:ext cx="1253871" cy="822960"/>
          </a:xfrm>
          <a:prstGeom prst="roundRect">
            <a:avLst>
              <a:gd name="adj" fmla="val 4444"/>
            </a:avLst>
          </a:prstGeom>
          <a:solidFill>
            <a:srgbClr val="F2F2F2"/>
          </a:solidFill>
          <a:ln w="9525">
            <a:solidFill>
              <a:srgbClr val="7F7F7F"/>
            </a:solidFill>
            <a:prstDash val="dash"/>
          </a:ln>
        </p:spPr>
        <p:txBody>
          <a:bodyPr wrap="square" lIns="635" tIns="635" rIns="635" bIns="635" rtlCol="0" anchor="t"/>
          <a:lstStyle/>
          <a:p>
            <a:pPr algn="l" indent="0" marL="0">
              <a:buNone/>
            </a:pPr>
            <a:r>
              <a:rPr lang="en-US" sz="750" dirty="0">
                <a:solidFill>
                  <a:srgbClr val="262626"/>
                </a:solidFill>
                <a:latin typeface="Calibri" pitchFamily="34" charset="0"/>
                <a:ea typeface="Calibri" pitchFamily="34" charset="-122"/>
                <a:cs typeface="Calibri" pitchFamily="34" charset="-120"/>
              </a:rPr>
              <a:t>CNB scoped usage metadata: agents, creators, activity by CNB population.</a:t>
            </a:r>
            <a:endParaRPr lang="en-US" sz="750" dirty="0"/>
          </a:p>
        </p:txBody>
      </p:sp>
      <p:sp>
        <p:nvSpPr>
          <p:cNvPr id="97" name="Text 82"/>
          <p:cNvSpPr txBox="1"/>
          <p:nvPr/>
        </p:nvSpPr>
        <p:spPr>
          <a:xfrm>
            <a:off x="2753487" y="3602736"/>
            <a:ext cx="1253871" cy="822960"/>
          </a:xfrm>
          <a:prstGeom prst="roundRect">
            <a:avLst>
              <a:gd name="adj" fmla="val 4444"/>
            </a:avLst>
          </a:prstGeom>
          <a:solidFill>
            <a:srgbClr val="F2F2F2"/>
          </a:solidFill>
          <a:ln w="9525">
            <a:solidFill>
              <a:srgbClr val="7F7F7F"/>
            </a:solidFill>
            <a:prstDash val="dash"/>
          </a:ln>
        </p:spPr>
        <p:txBody>
          <a:bodyPr wrap="square" lIns="635" tIns="635" rIns="635" bIns="635" rtlCol="0" anchor="t"/>
          <a:lstStyle/>
          <a:p>
            <a:pPr algn="l" indent="0" marL="0">
              <a:buNone/>
            </a:pPr>
            <a:r>
              <a:rPr lang="en-US" sz="750" dirty="0">
                <a:solidFill>
                  <a:srgbClr val="262626"/>
                </a:solidFill>
                <a:latin typeface="Calibri" pitchFamily="34" charset="0"/>
                <a:ea typeface="Calibri" pitchFamily="34" charset="-122"/>
                <a:cs typeface="Calibri" pitchFamily="34" charset="-120"/>
              </a:rPr>
              <a:t>Gateway guardrail events and injection detections; aggregated prompt topics for CNB users.</a:t>
            </a:r>
            <a:endParaRPr lang="en-US" sz="750" dirty="0"/>
          </a:p>
        </p:txBody>
      </p:sp>
      <p:sp>
        <p:nvSpPr>
          <p:cNvPr id="98" name="Text 83"/>
          <p:cNvSpPr txBox="1"/>
          <p:nvPr/>
        </p:nvSpPr>
        <p:spPr>
          <a:xfrm>
            <a:off x="4062222" y="3602736"/>
            <a:ext cx="1253871" cy="822960"/>
          </a:xfrm>
          <a:prstGeom prst="roundRect">
            <a:avLst>
              <a:gd name="adj" fmla="val 4444"/>
            </a:avLst>
          </a:prstGeom>
          <a:solidFill>
            <a:srgbClr val="F2F2F2"/>
          </a:solidFill>
          <a:ln w="9525">
            <a:solidFill>
              <a:srgbClr val="7F7F7F"/>
            </a:solidFill>
            <a:prstDash val="dash"/>
          </a:ln>
        </p:spPr>
        <p:txBody>
          <a:bodyPr wrap="square" lIns="635" tIns="635" rIns="635" bIns="635" rtlCol="0" anchor="t"/>
          <a:lstStyle/>
          <a:p>
            <a:pPr algn="l" indent="0" marL="0">
              <a:buNone/>
            </a:pPr>
            <a:r>
              <a:rPr lang="en-US" sz="750" dirty="0">
                <a:solidFill>
                  <a:srgbClr val="262626"/>
                </a:solidFill>
                <a:latin typeface="Calibri" pitchFamily="34" charset="0"/>
                <a:ea typeface="Calibri" pitchFamily="34" charset="-122"/>
                <a:cs typeface="Calibri" pitchFamily="34" charset="-120"/>
              </a:rPr>
              <a:t>Assist Pro agent registry: tools, connectors, data sources, owners; tool call traces.</a:t>
            </a:r>
            <a:endParaRPr lang="en-US" sz="750" dirty="0"/>
          </a:p>
        </p:txBody>
      </p:sp>
      <p:sp>
        <p:nvSpPr>
          <p:cNvPr id="99" name="Text 84"/>
          <p:cNvSpPr txBox="1"/>
          <p:nvPr/>
        </p:nvSpPr>
        <p:spPr>
          <a:xfrm>
            <a:off x="5370957" y="3602736"/>
            <a:ext cx="1253871" cy="822960"/>
          </a:xfrm>
          <a:prstGeom prst="roundRect">
            <a:avLst>
              <a:gd name="adj" fmla="val 4444"/>
            </a:avLst>
          </a:prstGeom>
          <a:solidFill>
            <a:srgbClr val="F2F2F2"/>
          </a:solidFill>
          <a:ln w="9525">
            <a:solidFill>
              <a:srgbClr val="7F7F7F"/>
            </a:solidFill>
            <a:prstDash val="dash"/>
          </a:ln>
        </p:spPr>
        <p:txBody>
          <a:bodyPr wrap="square" lIns="635" tIns="635" rIns="635" bIns="635" rtlCol="0" anchor="t"/>
          <a:lstStyle/>
          <a:p>
            <a:pPr algn="l" indent="0" marL="0">
              <a:buNone/>
            </a:pPr>
            <a:r>
              <a:rPr lang="en-US" sz="750" dirty="0">
                <a:solidFill>
                  <a:srgbClr val="262626"/>
                </a:solidFill>
                <a:latin typeface="Calibri" pitchFamily="34" charset="0"/>
                <a:ea typeface="Calibri" pitchFamily="34" charset="-122"/>
                <a:cs typeface="Calibri" pitchFamily="34" charset="-120"/>
              </a:rPr>
              <a:t>Retrieval traces per query: knowledge base, documents, chunks, embedding model, index version, scores; query audit.</a:t>
            </a:r>
            <a:endParaRPr lang="en-US" sz="750" dirty="0"/>
          </a:p>
        </p:txBody>
      </p:sp>
      <p:sp>
        <p:nvSpPr>
          <p:cNvPr id="100" name="Text 85"/>
          <p:cNvSpPr txBox="1"/>
          <p:nvPr/>
        </p:nvSpPr>
        <p:spPr>
          <a:xfrm>
            <a:off x="6679692" y="3602736"/>
            <a:ext cx="1253871" cy="822960"/>
          </a:xfrm>
          <a:prstGeom prst="roundRect">
            <a:avLst>
              <a:gd name="adj" fmla="val 4444"/>
            </a:avLst>
          </a:prstGeom>
          <a:solidFill>
            <a:srgbClr val="F2F2F2"/>
          </a:solidFill>
          <a:ln w="9525">
            <a:solidFill>
              <a:srgbClr val="7F7F7F"/>
            </a:solidFill>
            <a:prstDash val="dash"/>
          </a:ln>
        </p:spPr>
        <p:txBody>
          <a:bodyPr wrap="square" lIns="635" tIns="635" rIns="635" bIns="635" rtlCol="0" anchor="t"/>
          <a:lstStyle/>
          <a:p>
            <a:pPr algn="l" indent="0" marL="0">
              <a:buNone/>
            </a:pPr>
            <a:r>
              <a:rPr lang="en-US" sz="750" dirty="0">
                <a:solidFill>
                  <a:srgbClr val="262626"/>
                </a:solidFill>
                <a:latin typeface="Calibri" pitchFamily="34" charset="0"/>
                <a:ea typeface="Calibri" pitchFamily="34" charset="-122"/>
                <a:cs typeface="Calibri" pitchFamily="34" charset="-120"/>
              </a:rPr>
              <a:t>Evals results for CNB agents; model and prompt version history.</a:t>
            </a:r>
            <a:endParaRPr lang="en-US" sz="750" dirty="0"/>
          </a:p>
        </p:txBody>
      </p:sp>
      <p:sp>
        <p:nvSpPr>
          <p:cNvPr id="101" name="Text 86"/>
          <p:cNvSpPr txBox="1"/>
          <p:nvPr/>
        </p:nvSpPr>
        <p:spPr>
          <a:xfrm>
            <a:off x="7988427" y="3602736"/>
            <a:ext cx="1253871" cy="822960"/>
          </a:xfrm>
          <a:prstGeom prst="roundRect">
            <a:avLst>
              <a:gd name="adj" fmla="val 4444"/>
            </a:avLst>
          </a:prstGeom>
          <a:solidFill>
            <a:srgbClr val="F2F2F2"/>
          </a:solidFill>
          <a:ln w="9525">
            <a:solidFill>
              <a:srgbClr val="7F7F7F"/>
            </a:solidFill>
            <a:prstDash val="dash"/>
          </a:ln>
        </p:spPr>
        <p:txBody>
          <a:bodyPr wrap="square" lIns="635" tIns="635" rIns="635" bIns="635" rtlCol="0" anchor="t"/>
          <a:lstStyle/>
          <a:p>
            <a:pPr algn="l" indent="0" marL="0">
              <a:buNone/>
            </a:pPr>
            <a:r>
              <a:rPr lang="en-US" sz="750" dirty="0">
                <a:solidFill>
                  <a:srgbClr val="262626"/>
                </a:solidFill>
                <a:latin typeface="Calibri" pitchFamily="34" charset="0"/>
                <a:ea typeface="Calibri" pitchFamily="34" charset="-122"/>
                <a:cs typeface="Calibri" pitchFamily="34" charset="-120"/>
              </a:rPr>
              <a:t>Per app gateway telemetry for CNB integrations: tokens, latency, errors, model version.</a:t>
            </a:r>
            <a:endParaRPr lang="en-US" sz="750" dirty="0"/>
          </a:p>
        </p:txBody>
      </p:sp>
      <p:sp>
        <p:nvSpPr>
          <p:cNvPr id="102" name="Text 87"/>
          <p:cNvSpPr txBox="1"/>
          <p:nvPr/>
        </p:nvSpPr>
        <p:spPr>
          <a:xfrm>
            <a:off x="9297162" y="3602736"/>
            <a:ext cx="1253871" cy="822960"/>
          </a:xfrm>
          <a:prstGeom prst="roundRect">
            <a:avLst>
              <a:gd name="adj" fmla="val 4444"/>
            </a:avLst>
          </a:prstGeom>
          <a:solidFill>
            <a:srgbClr val="F2F2F2"/>
          </a:solidFill>
          <a:ln w="9525">
            <a:solidFill>
              <a:srgbClr val="7F7F7F"/>
            </a:solidFill>
            <a:prstDash val="dash"/>
          </a:ln>
        </p:spPr>
        <p:txBody>
          <a:bodyPr wrap="square" lIns="635" tIns="635" rIns="635" bIns="635" rtlCol="0" anchor="t"/>
          <a:lstStyle/>
          <a:p>
            <a:pPr algn="l" indent="0" marL="0">
              <a:buNone/>
            </a:pPr>
            <a:r>
              <a:rPr lang="en-US" sz="750" dirty="0">
                <a:solidFill>
                  <a:srgbClr val="262626"/>
                </a:solidFill>
                <a:latin typeface="Calibri" pitchFamily="34" charset="0"/>
                <a:ea typeface="Calibri" pitchFamily="34" charset="-122"/>
                <a:cs typeface="Calibri" pitchFamily="34" charset="-120"/>
              </a:rPr>
              <a:t>Gateway injection and DLP detections; model allowlist changes; platform incidents.</a:t>
            </a:r>
            <a:endParaRPr lang="en-US" sz="750" dirty="0"/>
          </a:p>
        </p:txBody>
      </p:sp>
      <p:sp>
        <p:nvSpPr>
          <p:cNvPr id="103" name="Text 88"/>
          <p:cNvSpPr txBox="1"/>
          <p:nvPr/>
        </p:nvSpPr>
        <p:spPr>
          <a:xfrm>
            <a:off x="10605897" y="3602736"/>
            <a:ext cx="1253871" cy="822960"/>
          </a:xfrm>
          <a:prstGeom prst="roundRect">
            <a:avLst>
              <a:gd name="adj" fmla="val 4444"/>
            </a:avLst>
          </a:prstGeom>
          <a:solidFill>
            <a:srgbClr val="F2F2F2"/>
          </a:solidFill>
          <a:ln w="9525">
            <a:solidFill>
              <a:srgbClr val="7F7F7F"/>
            </a:solidFill>
            <a:prstDash val="dash"/>
          </a:ln>
        </p:spPr>
        <p:txBody>
          <a:bodyPr wrap="square" lIns="635" tIns="635" rIns="635" bIns="635" rtlCol="0" anchor="t"/>
          <a:lstStyle/>
          <a:p>
            <a:pPr algn="l" indent="0" marL="0">
              <a:buNone/>
            </a:pPr>
            <a:r>
              <a:rPr lang="en-US" sz="750" dirty="0">
                <a:solidFill>
                  <a:srgbClr val="262626"/>
                </a:solidFill>
                <a:latin typeface="Calibri" pitchFamily="34" charset="0"/>
                <a:ea typeface="Calibri" pitchFamily="34" charset="-122"/>
                <a:cs typeface="Calibri" pitchFamily="34" charset="-120"/>
              </a:rPr>
              <a:t>Audit export at CNB cadence; alert forwarding; escalation path (kill switch for Assist Pro).</a:t>
            </a:r>
            <a:endParaRPr lang="en-US" sz="750" dirty="0"/>
          </a:p>
        </p:txBody>
      </p:sp>
      <p:sp>
        <p:nvSpPr>
          <p:cNvPr id="104" name="Text 89"/>
          <p:cNvSpPr txBox="1"/>
          <p:nvPr/>
        </p:nvSpPr>
        <p:spPr>
          <a:xfrm>
            <a:off x="1463040" y="4535424"/>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Entra ID</a:t>
            </a:r>
            <a:endParaRPr lang="en-US" sz="700" dirty="0"/>
          </a:p>
        </p:txBody>
      </p:sp>
      <p:sp>
        <p:nvSpPr>
          <p:cNvPr id="105" name="Text 90"/>
          <p:cNvSpPr txBox="1"/>
          <p:nvPr/>
        </p:nvSpPr>
        <p:spPr>
          <a:xfrm>
            <a:off x="1463040" y="4828032"/>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Microsoft Purview</a:t>
            </a:r>
            <a:endParaRPr lang="en-US" sz="700" dirty="0"/>
          </a:p>
        </p:txBody>
      </p:sp>
      <p:sp>
        <p:nvSpPr>
          <p:cNvPr id="106" name="Text 91"/>
          <p:cNvSpPr txBox="1"/>
          <p:nvPr/>
        </p:nvSpPr>
        <p:spPr>
          <a:xfrm>
            <a:off x="1463040" y="5120640"/>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Zscaler (confirm)</a:t>
            </a:r>
            <a:endParaRPr lang="en-US" sz="700" dirty="0"/>
          </a:p>
        </p:txBody>
      </p:sp>
      <p:sp>
        <p:nvSpPr>
          <p:cNvPr id="107" name="Text 92"/>
          <p:cNvSpPr txBox="1"/>
          <p:nvPr/>
        </p:nvSpPr>
        <p:spPr>
          <a:xfrm>
            <a:off x="1463040" y="5413248"/>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Snowflake usage views</a:t>
            </a:r>
            <a:endParaRPr lang="en-US" sz="700" dirty="0"/>
          </a:p>
        </p:txBody>
      </p:sp>
      <p:sp>
        <p:nvSpPr>
          <p:cNvPr id="108" name="Text 93"/>
          <p:cNvSpPr txBox="1"/>
          <p:nvPr/>
        </p:nvSpPr>
        <p:spPr>
          <a:xfrm>
            <a:off x="2771775" y="4535424"/>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Apigee</a:t>
            </a:r>
            <a:endParaRPr lang="en-US" sz="700" dirty="0"/>
          </a:p>
        </p:txBody>
      </p:sp>
      <p:sp>
        <p:nvSpPr>
          <p:cNvPr id="109" name="Text 94"/>
          <p:cNvSpPr txBox="1"/>
          <p:nvPr/>
        </p:nvSpPr>
        <p:spPr>
          <a:xfrm>
            <a:off x="2771775" y="4828032"/>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Model Armor policies</a:t>
            </a:r>
            <a:endParaRPr lang="en-US" sz="700" dirty="0"/>
          </a:p>
        </p:txBody>
      </p:sp>
      <p:sp>
        <p:nvSpPr>
          <p:cNvPr id="110" name="Text 95"/>
          <p:cNvSpPr txBox="1"/>
          <p:nvPr/>
        </p:nvSpPr>
        <p:spPr>
          <a:xfrm>
            <a:off x="2771775" y="5120640"/>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Azure AI Content Safety</a:t>
            </a:r>
            <a:endParaRPr lang="en-US" sz="700" dirty="0"/>
          </a:p>
        </p:txBody>
      </p:sp>
      <p:sp>
        <p:nvSpPr>
          <p:cNvPr id="111" name="Text 96"/>
          <p:cNvSpPr txBox="1"/>
          <p:nvPr/>
        </p:nvSpPr>
        <p:spPr>
          <a:xfrm>
            <a:off x="2771775" y="5413248"/>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Datadog (confirm modules)</a:t>
            </a:r>
            <a:endParaRPr lang="en-US" sz="700" dirty="0"/>
          </a:p>
        </p:txBody>
      </p:sp>
      <p:sp>
        <p:nvSpPr>
          <p:cNvPr id="112" name="Text 97"/>
          <p:cNvSpPr txBox="1"/>
          <p:nvPr/>
        </p:nvSpPr>
        <p:spPr>
          <a:xfrm>
            <a:off x="4080510" y="4535424"/>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Apigee MCP endpoints</a:t>
            </a:r>
            <a:endParaRPr lang="en-US" sz="700" dirty="0"/>
          </a:p>
        </p:txBody>
      </p:sp>
      <p:sp>
        <p:nvSpPr>
          <p:cNvPr id="113" name="Text 98"/>
          <p:cNvSpPr txBox="1"/>
          <p:nvPr/>
        </p:nvSpPr>
        <p:spPr>
          <a:xfrm>
            <a:off x="4080510" y="4828032"/>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Apigee LLM token policies</a:t>
            </a:r>
            <a:endParaRPr lang="en-US" sz="700" dirty="0"/>
          </a:p>
        </p:txBody>
      </p:sp>
      <p:sp>
        <p:nvSpPr>
          <p:cNvPr id="114" name="Text 99"/>
          <p:cNvSpPr txBox="1"/>
          <p:nvPr/>
        </p:nvSpPr>
        <p:spPr>
          <a:xfrm>
            <a:off x="4080510" y="5120640"/>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Kill switch runbook</a:t>
            </a:r>
            <a:endParaRPr lang="en-US" sz="700" dirty="0"/>
          </a:p>
        </p:txBody>
      </p:sp>
      <p:sp>
        <p:nvSpPr>
          <p:cNvPr id="115" name="Text 100"/>
          <p:cNvSpPr txBox="1"/>
          <p:nvPr/>
        </p:nvSpPr>
        <p:spPr>
          <a:xfrm>
            <a:off x="4080510" y="5413248"/>
            <a:ext cx="1217295" cy="256032"/>
          </a:xfrm>
          <a:prstGeom prst="roundRect">
            <a:avLst>
              <a:gd name="adj" fmla="val 14286"/>
            </a:avLst>
          </a:prstGeom>
          <a:solidFill>
            <a:srgbClr val="C00000"/>
          </a:solidFill>
          <a:ln w="6350">
            <a:solidFill>
              <a:srgbClr val="C0000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Azure API Management</a:t>
            </a:r>
            <a:endParaRPr lang="en-US" sz="700" dirty="0"/>
          </a:p>
        </p:txBody>
      </p:sp>
      <p:sp>
        <p:nvSpPr>
          <p:cNvPr id="116" name="Text 101"/>
          <p:cNvSpPr txBox="1"/>
          <p:nvPr/>
        </p:nvSpPr>
        <p:spPr>
          <a:xfrm>
            <a:off x="5389245" y="4535424"/>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Snowflake ACCESS_HISTORY</a:t>
            </a:r>
            <a:endParaRPr lang="en-US" sz="700" dirty="0"/>
          </a:p>
        </p:txBody>
      </p:sp>
      <p:sp>
        <p:nvSpPr>
          <p:cNvPr id="117" name="Text 102"/>
          <p:cNvSpPr txBox="1"/>
          <p:nvPr/>
        </p:nvSpPr>
        <p:spPr>
          <a:xfrm>
            <a:off x="5389245" y="4828032"/>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OTel retrieval spans</a:t>
            </a:r>
            <a:endParaRPr lang="en-US" sz="700" dirty="0"/>
          </a:p>
        </p:txBody>
      </p:sp>
      <p:sp>
        <p:nvSpPr>
          <p:cNvPr id="118" name="Text 103"/>
          <p:cNvSpPr txBox="1"/>
          <p:nvPr/>
        </p:nvSpPr>
        <p:spPr>
          <a:xfrm>
            <a:off x="5389245" y="5120640"/>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Retrieval query log</a:t>
            </a:r>
            <a:endParaRPr lang="en-US" sz="700" dirty="0"/>
          </a:p>
        </p:txBody>
      </p:sp>
      <p:sp>
        <p:nvSpPr>
          <p:cNvPr id="119" name="Text 104"/>
          <p:cNvSpPr txBox="1"/>
          <p:nvPr/>
        </p:nvSpPr>
        <p:spPr>
          <a:xfrm>
            <a:off x="5389245" y="5413248"/>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Foundry Observability</a:t>
            </a:r>
            <a:endParaRPr lang="en-US" sz="700" dirty="0"/>
          </a:p>
        </p:txBody>
      </p:sp>
      <p:sp>
        <p:nvSpPr>
          <p:cNvPr id="120" name="Text 105"/>
          <p:cNvSpPr txBox="1"/>
          <p:nvPr/>
        </p:nvSpPr>
        <p:spPr>
          <a:xfrm>
            <a:off x="6697980" y="4535424"/>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Snowflake AI Observability</a:t>
            </a:r>
            <a:endParaRPr lang="en-US" sz="700" dirty="0"/>
          </a:p>
        </p:txBody>
      </p:sp>
      <p:sp>
        <p:nvSpPr>
          <p:cNvPr id="121" name="Text 106"/>
          <p:cNvSpPr txBox="1"/>
          <p:nvPr/>
        </p:nvSpPr>
        <p:spPr>
          <a:xfrm>
            <a:off x="6697980" y="4828032"/>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Foundry evaluations</a:t>
            </a:r>
            <a:endParaRPr lang="en-US" sz="700" dirty="0"/>
          </a:p>
        </p:txBody>
      </p:sp>
      <p:sp>
        <p:nvSpPr>
          <p:cNvPr id="122" name="Text 107"/>
          <p:cNvSpPr txBox="1"/>
          <p:nvPr/>
        </p:nvSpPr>
        <p:spPr>
          <a:xfrm>
            <a:off x="6697980" y="5120640"/>
            <a:ext cx="1217295" cy="256032"/>
          </a:xfrm>
          <a:prstGeom prst="roundRect">
            <a:avLst>
              <a:gd name="adj" fmla="val 14286"/>
            </a:avLst>
          </a:prstGeom>
          <a:solidFill>
            <a:srgbClr val="C00000"/>
          </a:solidFill>
          <a:ln w="6350">
            <a:solidFill>
              <a:srgbClr val="C0000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Langfuse self hosted</a:t>
            </a:r>
            <a:endParaRPr lang="en-US" sz="700" dirty="0"/>
          </a:p>
        </p:txBody>
      </p:sp>
      <p:sp>
        <p:nvSpPr>
          <p:cNvPr id="123" name="Text 108"/>
          <p:cNvSpPr txBox="1"/>
          <p:nvPr/>
        </p:nvSpPr>
        <p:spPr>
          <a:xfrm>
            <a:off x="6697980" y="5413248"/>
            <a:ext cx="1217295" cy="256032"/>
          </a:xfrm>
          <a:prstGeom prst="roundRect">
            <a:avLst>
              <a:gd name="adj" fmla="val 14286"/>
            </a:avLst>
          </a:prstGeom>
          <a:solidFill>
            <a:srgbClr val="C00000"/>
          </a:solidFill>
          <a:ln w="6350">
            <a:solidFill>
              <a:srgbClr val="C0000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OpenAI Evals hosted</a:t>
            </a:r>
            <a:endParaRPr lang="en-US" sz="700" dirty="0"/>
          </a:p>
        </p:txBody>
      </p:sp>
      <p:sp>
        <p:nvSpPr>
          <p:cNvPr id="124" name="Text 109"/>
          <p:cNvSpPr txBox="1"/>
          <p:nvPr/>
        </p:nvSpPr>
        <p:spPr>
          <a:xfrm>
            <a:off x="8006715" y="4535424"/>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Datadog</a:t>
            </a:r>
            <a:endParaRPr lang="en-US" sz="700" dirty="0"/>
          </a:p>
        </p:txBody>
      </p:sp>
      <p:sp>
        <p:nvSpPr>
          <p:cNvPr id="125" name="Text 110"/>
          <p:cNvSpPr txBox="1"/>
          <p:nvPr/>
        </p:nvSpPr>
        <p:spPr>
          <a:xfrm>
            <a:off x="8006715" y="4828032"/>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Datadog monitors</a:t>
            </a:r>
            <a:endParaRPr lang="en-US" sz="700" dirty="0"/>
          </a:p>
        </p:txBody>
      </p:sp>
      <p:sp>
        <p:nvSpPr>
          <p:cNvPr id="126" name="Text 111"/>
          <p:cNvSpPr txBox="1"/>
          <p:nvPr/>
        </p:nvSpPr>
        <p:spPr>
          <a:xfrm>
            <a:off x="8006715" y="5120640"/>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Application Insights</a:t>
            </a:r>
            <a:endParaRPr lang="en-US" sz="700" dirty="0"/>
          </a:p>
        </p:txBody>
      </p:sp>
      <p:sp>
        <p:nvSpPr>
          <p:cNvPr id="127" name="Text 112"/>
          <p:cNvSpPr txBox="1"/>
          <p:nvPr/>
        </p:nvSpPr>
        <p:spPr>
          <a:xfrm>
            <a:off x="8006715" y="5413248"/>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Apigee analytics</a:t>
            </a:r>
            <a:endParaRPr lang="en-US" sz="700" dirty="0"/>
          </a:p>
        </p:txBody>
      </p:sp>
      <p:sp>
        <p:nvSpPr>
          <p:cNvPr id="128" name="Text 113"/>
          <p:cNvSpPr txBox="1"/>
          <p:nvPr/>
        </p:nvSpPr>
        <p:spPr>
          <a:xfrm>
            <a:off x="9315450" y="4535424"/>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Purview DLP</a:t>
            </a:r>
            <a:endParaRPr lang="en-US" sz="700" dirty="0"/>
          </a:p>
        </p:txBody>
      </p:sp>
      <p:sp>
        <p:nvSpPr>
          <p:cNvPr id="129" name="Text 114"/>
          <p:cNvSpPr txBox="1"/>
          <p:nvPr/>
        </p:nvSpPr>
        <p:spPr>
          <a:xfrm>
            <a:off x="9315450" y="4828032"/>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Entra conditional access</a:t>
            </a:r>
            <a:endParaRPr lang="en-US" sz="700" dirty="0"/>
          </a:p>
        </p:txBody>
      </p:sp>
      <p:sp>
        <p:nvSpPr>
          <p:cNvPr id="130" name="Text 115"/>
          <p:cNvSpPr txBox="1"/>
          <p:nvPr/>
        </p:nvSpPr>
        <p:spPr>
          <a:xfrm>
            <a:off x="9315450" y="5120640"/>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Model Armor policies</a:t>
            </a:r>
            <a:endParaRPr lang="en-US" sz="700" dirty="0"/>
          </a:p>
        </p:txBody>
      </p:sp>
      <p:sp>
        <p:nvSpPr>
          <p:cNvPr id="131" name="Text 116"/>
          <p:cNvSpPr txBox="1"/>
          <p:nvPr/>
        </p:nvSpPr>
        <p:spPr>
          <a:xfrm>
            <a:off x="9315450" y="5413248"/>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SIEM feed (confirm)</a:t>
            </a:r>
            <a:endParaRPr lang="en-US" sz="700" dirty="0"/>
          </a:p>
        </p:txBody>
      </p:sp>
      <p:sp>
        <p:nvSpPr>
          <p:cNvPr id="132" name="Text 117"/>
          <p:cNvSpPr txBox="1"/>
          <p:nvPr/>
        </p:nvSpPr>
        <p:spPr>
          <a:xfrm>
            <a:off x="10624185" y="4535424"/>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Snowflake audit views</a:t>
            </a:r>
            <a:endParaRPr lang="en-US" sz="700" dirty="0"/>
          </a:p>
        </p:txBody>
      </p:sp>
      <p:sp>
        <p:nvSpPr>
          <p:cNvPr id="133" name="Text 118"/>
          <p:cNvSpPr txBox="1"/>
          <p:nvPr/>
        </p:nvSpPr>
        <p:spPr>
          <a:xfrm>
            <a:off x="10624185" y="4828032"/>
            <a:ext cx="1217295" cy="256032"/>
          </a:xfrm>
          <a:prstGeom prst="roundRect">
            <a:avLst>
              <a:gd name="adj" fmla="val 14286"/>
            </a:avLst>
          </a:prstGeom>
          <a:solidFill>
            <a:srgbClr val="7030A0"/>
          </a:solidFill>
          <a:ln w="6350">
            <a:solidFill>
              <a:srgbClr val="7030A0"/>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Records retention policy</a:t>
            </a:r>
            <a:endParaRPr lang="en-US" sz="700" dirty="0"/>
          </a:p>
        </p:txBody>
      </p:sp>
      <p:sp>
        <p:nvSpPr>
          <p:cNvPr id="134" name="Text 119"/>
          <p:cNvSpPr txBox="1"/>
          <p:nvPr/>
        </p:nvSpPr>
        <p:spPr>
          <a:xfrm>
            <a:off x="10624185" y="5120640"/>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Snowsight or Power BI</a:t>
            </a:r>
            <a:endParaRPr lang="en-US" sz="700" dirty="0"/>
          </a:p>
        </p:txBody>
      </p:sp>
      <p:sp>
        <p:nvSpPr>
          <p:cNvPr id="135" name="Text 120"/>
          <p:cNvSpPr txBox="1"/>
          <p:nvPr/>
        </p:nvSpPr>
        <p:spPr>
          <a:xfrm>
            <a:off x="10624185" y="5413248"/>
            <a:ext cx="1217295" cy="256032"/>
          </a:xfrm>
          <a:prstGeom prst="roundRect">
            <a:avLst>
              <a:gd name="adj" fmla="val 14286"/>
            </a:avLst>
          </a:prstGeom>
          <a:solidFill>
            <a:srgbClr val="3A3A3A"/>
          </a:solidFill>
          <a:ln w="6350">
            <a:solidFill>
              <a:srgbClr val="3A3A3A"/>
            </a:solidFill>
          </a:ln>
        </p:spPr>
        <p:txBody>
          <a:bodyPr wrap="square" lIns="254" tIns="254" rIns="254" bIns="254"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Datadog dashboards</a:t>
            </a:r>
            <a:endParaRPr lang="en-US" sz="700" dirty="0"/>
          </a:p>
        </p:txBody>
      </p:sp>
      <p:sp>
        <p:nvSpPr>
          <p:cNvPr id="136" name="Shape 121"/>
          <p:cNvSpPr/>
          <p:nvPr/>
        </p:nvSpPr>
        <p:spPr>
          <a:xfrm>
            <a:off x="1417320" y="5760720"/>
            <a:ext cx="10469880" cy="493776"/>
          </a:xfrm>
          <a:prstGeom prst="roundRect">
            <a:avLst>
              <a:gd name="adj" fmla="val 11111"/>
            </a:avLst>
          </a:prstGeom>
          <a:ln w="12700">
            <a:solidFill>
              <a:srgbClr val="1F4E9C"/>
            </a:solidFill>
            <a:prstDash val="dash"/>
          </a:ln>
        </p:spPr>
      </p:sp>
      <p:sp>
        <p:nvSpPr>
          <p:cNvPr id="137" name="Text 122"/>
          <p:cNvSpPr txBox="1"/>
          <p:nvPr/>
        </p:nvSpPr>
        <p:spPr>
          <a:xfrm>
            <a:off x="1472184" y="5843016"/>
            <a:ext cx="1650492" cy="329184"/>
          </a:xfrm>
          <a:prstGeom prst="roundRect">
            <a:avLst>
              <a:gd name="adj" fmla="val 11111"/>
            </a:avLst>
          </a:prstGeom>
          <a:solidFill>
            <a:srgbClr val="3A3A3A"/>
          </a:solidFill>
          <a:ln w="6350">
            <a:solidFill>
              <a:srgbClr val="3A3A3A"/>
            </a:solidFill>
          </a:ln>
        </p:spPr>
        <p:txBody>
          <a:bodyPr wrap="square" lIns="254" tIns="254" rIns="254" bIns="254"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Identity as a Service (IDaaS, Entitlement Engine)</a:t>
            </a:r>
            <a:endParaRPr lang="en-US" sz="750" dirty="0"/>
          </a:p>
        </p:txBody>
      </p:sp>
      <p:sp>
        <p:nvSpPr>
          <p:cNvPr id="138" name="Text 123"/>
          <p:cNvSpPr txBox="1"/>
          <p:nvPr/>
        </p:nvSpPr>
        <p:spPr>
          <a:xfrm>
            <a:off x="3214116" y="5843016"/>
            <a:ext cx="1650492" cy="329184"/>
          </a:xfrm>
          <a:prstGeom prst="roundRect">
            <a:avLst>
              <a:gd name="adj" fmla="val 11111"/>
            </a:avLst>
          </a:prstGeom>
          <a:solidFill>
            <a:srgbClr val="3A3A3A"/>
          </a:solidFill>
          <a:ln w="6350">
            <a:solidFill>
              <a:srgbClr val="3A3A3A"/>
            </a:solidFill>
          </a:ln>
        </p:spPr>
        <p:txBody>
          <a:bodyPr wrap="square" lIns="254" tIns="254" rIns="254" bIns="254"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Apigee (API gateway standard)</a:t>
            </a:r>
            <a:endParaRPr lang="en-US" sz="750" dirty="0"/>
          </a:p>
        </p:txBody>
      </p:sp>
      <p:sp>
        <p:nvSpPr>
          <p:cNvPr id="139" name="Text 124"/>
          <p:cNvSpPr txBox="1"/>
          <p:nvPr/>
        </p:nvSpPr>
        <p:spPr>
          <a:xfrm>
            <a:off x="4956048" y="5843016"/>
            <a:ext cx="1650492" cy="329184"/>
          </a:xfrm>
          <a:prstGeom prst="roundRect">
            <a:avLst>
              <a:gd name="adj" fmla="val 11111"/>
            </a:avLst>
          </a:prstGeom>
          <a:solidFill>
            <a:srgbClr val="7030A0"/>
          </a:solidFill>
          <a:ln w="6350">
            <a:solidFill>
              <a:srgbClr val="7030A0"/>
            </a:solidFill>
          </a:ln>
        </p:spPr>
        <p:txBody>
          <a:bodyPr wrap="square" lIns="254" tIns="254" rIns="254" bIns="254"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Telemetry pipeline (OpenTelemetry, Collector, Snowpipe)</a:t>
            </a:r>
            <a:endParaRPr lang="en-US" sz="750" dirty="0"/>
          </a:p>
        </p:txBody>
      </p:sp>
      <p:sp>
        <p:nvSpPr>
          <p:cNvPr id="140" name="Text 125"/>
          <p:cNvSpPr txBox="1"/>
          <p:nvPr/>
        </p:nvSpPr>
        <p:spPr>
          <a:xfrm>
            <a:off x="6697980" y="5843016"/>
            <a:ext cx="1650492" cy="329184"/>
          </a:xfrm>
          <a:prstGeom prst="roundRect">
            <a:avLst>
              <a:gd name="adj" fmla="val 11111"/>
            </a:avLst>
          </a:prstGeom>
          <a:solidFill>
            <a:srgbClr val="3A3A3A"/>
          </a:solidFill>
          <a:ln w="6350">
            <a:solidFill>
              <a:srgbClr val="3A3A3A"/>
            </a:solidFill>
          </a:ln>
        </p:spPr>
        <p:txBody>
          <a:bodyPr wrap="square" lIns="254" tIns="254" rIns="254" bIns="254"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Snowflake (system of record)</a:t>
            </a:r>
            <a:endParaRPr lang="en-US" sz="750" dirty="0"/>
          </a:p>
        </p:txBody>
      </p:sp>
      <p:sp>
        <p:nvSpPr>
          <p:cNvPr id="141" name="Text 126"/>
          <p:cNvSpPr txBox="1"/>
          <p:nvPr/>
        </p:nvSpPr>
        <p:spPr>
          <a:xfrm>
            <a:off x="8439912" y="5843016"/>
            <a:ext cx="1650492" cy="329184"/>
          </a:xfrm>
          <a:prstGeom prst="roundRect">
            <a:avLst>
              <a:gd name="adj" fmla="val 11111"/>
            </a:avLst>
          </a:prstGeom>
          <a:solidFill>
            <a:srgbClr val="3A3A3A"/>
          </a:solidFill>
          <a:ln w="6350">
            <a:solidFill>
              <a:srgbClr val="3A3A3A"/>
            </a:solidFill>
          </a:ln>
        </p:spPr>
        <p:txBody>
          <a:bodyPr wrap="square" lIns="254" tIns="254" rIns="254" bIns="254"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Datadog (observability platform)</a:t>
            </a:r>
            <a:endParaRPr lang="en-US" sz="750" dirty="0"/>
          </a:p>
        </p:txBody>
      </p:sp>
      <p:sp>
        <p:nvSpPr>
          <p:cNvPr id="142" name="Text 127"/>
          <p:cNvSpPr txBox="1"/>
          <p:nvPr/>
        </p:nvSpPr>
        <p:spPr>
          <a:xfrm>
            <a:off x="10181844" y="5843016"/>
            <a:ext cx="1650492" cy="329184"/>
          </a:xfrm>
          <a:prstGeom prst="roundRect">
            <a:avLst>
              <a:gd name="adj" fmla="val 11111"/>
            </a:avLst>
          </a:prstGeom>
          <a:solidFill>
            <a:srgbClr val="F2F2F2"/>
          </a:solidFill>
          <a:ln w="9525">
            <a:solidFill>
              <a:srgbClr val="7F7F7F"/>
            </a:solidFill>
            <a:prstDash val="dash"/>
          </a:ln>
        </p:spPr>
        <p:txBody>
          <a:bodyPr wrap="square" lIns="254" tIns="254" rIns="254" bIns="254" rtlCol="0" anchor="ctr"/>
          <a:lstStyle/>
          <a:p>
            <a:pPr algn="ctr" indent="0" marL="0">
              <a:buNone/>
            </a:pPr>
            <a:r>
              <a:rPr lang="en-US" sz="750" b="1" dirty="0">
                <a:solidFill>
                  <a:srgbClr val="262626"/>
                </a:solidFill>
                <a:latin typeface="Calibri" pitchFamily="34" charset="0"/>
                <a:ea typeface="Calibri" pitchFamily="34" charset="-122"/>
                <a:cs typeface="Calibri" pitchFamily="34" charset="-120"/>
              </a:rPr>
              <a:t>RBC LLM Gateway (black box)</a:t>
            </a:r>
            <a:endParaRPr lang="en-US" sz="750" dirty="0"/>
          </a:p>
        </p:txBody>
      </p:sp>
      <p:sp>
        <p:nvSpPr>
          <p:cNvPr id="143" name="Text 128"/>
          <p:cNvSpPr txBox="1"/>
          <p:nvPr/>
        </p:nvSpPr>
        <p:spPr>
          <a:xfrm>
            <a:off x="320040" y="6382512"/>
            <a:ext cx="1005840" cy="237744"/>
          </a:xfrm>
          <a:prstGeom prst="rect">
            <a:avLst/>
          </a:prstGeom>
          <a:noFill/>
          <a:ln/>
        </p:spPr>
        <p:txBody>
          <a:bodyPr wrap="square" lIns="0" tIns="0" rIns="0" bIns="0" rtlCol="0" anchor="ctr"/>
          <a:lstStyle/>
          <a:p>
            <a:pPr algn="ctr" indent="0" marL="0">
              <a:buNone/>
            </a:pPr>
            <a:r>
              <a:rPr lang="en-US" sz="900" b="1" dirty="0">
                <a:solidFill>
                  <a:srgbClr val="262626"/>
                </a:solidFill>
                <a:latin typeface="Calibri" pitchFamily="34" charset="0"/>
                <a:ea typeface="Calibri" pitchFamily="34" charset="-122"/>
                <a:cs typeface="Calibri" pitchFamily="34" charset="-120"/>
              </a:rPr>
              <a:t>Legend</a:t>
            </a:r>
            <a:endParaRPr lang="en-US" sz="900" dirty="0"/>
          </a:p>
        </p:txBody>
      </p:sp>
      <p:sp>
        <p:nvSpPr>
          <p:cNvPr id="144" name="Text 129"/>
          <p:cNvSpPr txBox="1"/>
          <p:nvPr/>
        </p:nvSpPr>
        <p:spPr>
          <a:xfrm>
            <a:off x="1417320" y="6382512"/>
            <a:ext cx="1188720" cy="237744"/>
          </a:xfrm>
          <a:prstGeom prst="roundRect">
            <a:avLst>
              <a:gd name="adj" fmla="val 15385"/>
            </a:avLst>
          </a:prstGeom>
          <a:solidFill>
            <a:srgbClr val="7030A0"/>
          </a:solidFill>
          <a:ln w="6350">
            <a:solidFill>
              <a:srgbClr val="7030A0"/>
            </a:solidFill>
          </a:ln>
        </p:spPr>
        <p:txBody>
          <a:bodyPr wrap="square" lIns="254" tIns="254" rIns="254" bIns="254"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New</a:t>
            </a:r>
            <a:endParaRPr lang="en-US" sz="750" dirty="0"/>
          </a:p>
        </p:txBody>
      </p:sp>
      <p:sp>
        <p:nvSpPr>
          <p:cNvPr id="145" name="Text 130"/>
          <p:cNvSpPr txBox="1"/>
          <p:nvPr/>
        </p:nvSpPr>
        <p:spPr>
          <a:xfrm>
            <a:off x="2715768" y="6382512"/>
            <a:ext cx="1188720" cy="237744"/>
          </a:xfrm>
          <a:prstGeom prst="roundRect">
            <a:avLst>
              <a:gd name="adj" fmla="val 15385"/>
            </a:avLst>
          </a:prstGeom>
          <a:solidFill>
            <a:srgbClr val="C00000"/>
          </a:solidFill>
          <a:ln w="6350">
            <a:solidFill>
              <a:srgbClr val="C00000"/>
            </a:solidFill>
          </a:ln>
        </p:spPr>
        <p:txBody>
          <a:bodyPr wrap="square" lIns="254" tIns="254" rIns="254" bIns="254"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Sunset or not selected</a:t>
            </a:r>
            <a:endParaRPr lang="en-US" sz="750" dirty="0"/>
          </a:p>
        </p:txBody>
      </p:sp>
      <p:sp>
        <p:nvSpPr>
          <p:cNvPr id="146" name="Text 131"/>
          <p:cNvSpPr txBox="1"/>
          <p:nvPr/>
        </p:nvSpPr>
        <p:spPr>
          <a:xfrm>
            <a:off x="4014216" y="6382512"/>
            <a:ext cx="1188720" cy="237744"/>
          </a:xfrm>
          <a:prstGeom prst="roundRect">
            <a:avLst>
              <a:gd name="adj" fmla="val 15385"/>
            </a:avLst>
          </a:prstGeom>
          <a:solidFill>
            <a:srgbClr val="3A3A3A"/>
          </a:solidFill>
          <a:ln w="6350">
            <a:solidFill>
              <a:srgbClr val="3A3A3A"/>
            </a:solidFill>
          </a:ln>
        </p:spPr>
        <p:txBody>
          <a:bodyPr wrap="square" lIns="254" tIns="254" rIns="254" bIns="254"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Existing</a:t>
            </a:r>
            <a:endParaRPr lang="en-US" sz="750" dirty="0"/>
          </a:p>
        </p:txBody>
      </p:sp>
      <p:sp>
        <p:nvSpPr>
          <p:cNvPr id="147" name="Text 132"/>
          <p:cNvSpPr txBox="1"/>
          <p:nvPr/>
        </p:nvSpPr>
        <p:spPr>
          <a:xfrm>
            <a:off x="5312664" y="6382512"/>
            <a:ext cx="1188720" cy="237744"/>
          </a:xfrm>
          <a:prstGeom prst="roundRect">
            <a:avLst>
              <a:gd name="adj" fmla="val 15385"/>
            </a:avLst>
          </a:prstGeom>
          <a:solidFill>
            <a:srgbClr val="F2F2F2"/>
          </a:solidFill>
          <a:ln w="9525">
            <a:solidFill>
              <a:srgbClr val="7F7F7F"/>
            </a:solidFill>
            <a:prstDash val="dash"/>
          </a:ln>
        </p:spPr>
        <p:txBody>
          <a:bodyPr wrap="square" lIns="254" tIns="254" rIns="254" bIns="254" rtlCol="0" anchor="ctr"/>
          <a:lstStyle/>
          <a:p>
            <a:pPr algn="ctr" indent="0" marL="0">
              <a:buNone/>
            </a:pPr>
            <a:r>
              <a:rPr lang="en-US" sz="750" b="1" dirty="0">
                <a:solidFill>
                  <a:srgbClr val="262626"/>
                </a:solidFill>
                <a:latin typeface="Calibri" pitchFamily="34" charset="0"/>
                <a:ea typeface="Calibri" pitchFamily="34" charset="-122"/>
                <a:cs typeface="Calibri" pitchFamily="34" charset="-120"/>
              </a:rPr>
              <a:t>RBC provided</a:t>
            </a:r>
            <a:endParaRPr lang="en-US" sz="750" dirty="0"/>
          </a:p>
        </p:txBody>
      </p:sp>
      <p:sp>
        <p:nvSpPr>
          <p:cNvPr id="148" name="Text 133"/>
          <p:cNvSpPr txBox="1"/>
          <p:nvPr/>
        </p:nvSpPr>
        <p:spPr>
          <a:xfrm>
            <a:off x="9281160" y="6382512"/>
            <a:ext cx="2606040" cy="365760"/>
          </a:xfrm>
          <a:prstGeom prst="rect">
            <a:avLst/>
          </a:prstGeom>
          <a:noFill/>
          <a:ln/>
        </p:spPr>
        <p:txBody>
          <a:bodyPr wrap="square" lIns="0" tIns="0" rIns="0" bIns="0" rtlCol="0" anchor="t"/>
          <a:lstStyle/>
          <a:p>
            <a:pPr indent="0" marL="0">
              <a:buNone/>
            </a:pPr>
            <a:r>
              <a:rPr lang="en-US" sz="650" i="1" dirty="0">
                <a:solidFill>
                  <a:srgbClr val="595959"/>
                </a:solidFill>
                <a:latin typeface="Calibri" pitchFamily="34" charset="0"/>
                <a:ea typeface="Calibri" pitchFamily="34" charset="-122"/>
                <a:cs typeface="Calibri" pitchFamily="34" charset="-120"/>
              </a:rPr>
              <a:t>Vendor hosted LLM applications are observed through vendor audit exports, identity, and data side access records.</a:t>
            </a:r>
            <a:endParaRPr lang="en-US" sz="650" dirty="0"/>
          </a:p>
        </p:txBody>
      </p:sp>
      <p:sp>
        <p:nvSpPr>
          <p:cNvPr id="149" name="Text 134"/>
          <p:cNvSpPr txBox="1"/>
          <p:nvPr/>
        </p:nvSpPr>
        <p:spPr>
          <a:xfrm>
            <a:off x="11338560" y="6510528"/>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100" dirty="0">
                <a:solidFill>
                  <a:srgbClr val="2E6DB4"/>
                </a:solidFill>
                <a:latin typeface="Arial" pitchFamily="34" charset="0"/>
                <a:ea typeface="Arial" pitchFamily="34" charset="-122"/>
                <a:cs typeface="Arial" pitchFamily="34" charset="-120"/>
              </a:rPr>
              <a:t>Reference Architecture: Control Points and Telemetry Pipeline</a:t>
            </a:r>
            <a:endParaRPr lang="en-US" sz="21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Where each workflow class is observed and controlled, and the shared pipeline behind it</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6</a:t>
            </a:r>
            <a:endParaRPr lang="en-US" sz="1000" dirty="0"/>
          </a:p>
        </p:txBody>
      </p:sp>
      <p:pic>
        <p:nvPicPr>
          <p:cNvPr id="7" name="Image 1" descr="/home/claude/add_fig1.png">    </p:cNvPr>
          <p:cNvPicPr>
            <a:picLocks noChangeAspect="1"/>
          </p:cNvPicPr>
          <p:nvPr/>
        </p:nvPicPr>
        <p:blipFill>
          <a:blip r:embed="rId2"/>
          <a:stretch>
            <a:fillRect/>
          </a:stretch>
        </p:blipFill>
        <p:spPr>
          <a:xfrm>
            <a:off x="457200" y="1371600"/>
            <a:ext cx="7040880" cy="5065776"/>
          </a:xfrm>
          <a:prstGeom prst="rect">
            <a:avLst/>
          </a:prstGeom>
        </p:spPr>
      </p:pic>
      <p:sp>
        <p:nvSpPr>
          <p:cNvPr id="8" name="Text 4"/>
          <p:cNvSpPr/>
          <p:nvPr/>
        </p:nvSpPr>
        <p:spPr>
          <a:xfrm>
            <a:off x="7772400" y="1463040"/>
            <a:ext cx="3977640" cy="47548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Class A, RBC Assist Pro: no CNB component in the request path; observed through the RBC capabilities on page 7</a:t>
            </a:r>
            <a:endParaRPr lang="en-US" sz="1050" dirty="0"/>
          </a:p>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Classes B and C, CNB apps and MCP tools: Apigee is the control point with LLM token quotas, prompt token limits, Model Armor, and MCP tools with OAuth</a:t>
            </a:r>
            <a:endParaRPr lang="en-US" sz="1050" dirty="0"/>
          </a:p>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Vendor hosted and third party tools: vendor and tenant administration, Purview, managed settings</a:t>
            </a:r>
            <a:endParaRPr lang="en-US" sz="1050" dirty="0"/>
          </a:p>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Shared pipeline: OpenTelemetry Collector with redaction, Datadog hot path, Snowflake system of record</a:t>
            </a:r>
            <a:endParaRPr lang="en-US" sz="1050" dirty="0"/>
          </a:p>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Kill switch: policy actions flow back to the control points; escalation to RBC for class A</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400" dirty="0">
                <a:solidFill>
                  <a:srgbClr val="2E6DB4"/>
                </a:solidFill>
                <a:latin typeface="Arial" pitchFamily="34" charset="0"/>
                <a:ea typeface="Arial" pitchFamily="34" charset="-122"/>
                <a:cs typeface="Arial" pitchFamily="34" charset="-120"/>
              </a:rPr>
              <a:t>CNB and RBC: Interaction Model and RBC Capabilities</a:t>
            </a:r>
            <a:endParaRPr lang="en-US" sz="24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What crosses the boundary today, and the capabilities CNB asks RBC to provide</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7</a:t>
            </a:r>
            <a:endParaRPr lang="en-US" sz="1000" dirty="0"/>
          </a:p>
        </p:txBody>
      </p:sp>
      <p:pic>
        <p:nvPicPr>
          <p:cNvPr id="7" name="Image 1" descr="/home/claude/add_fig2.png">    </p:cNvPr>
          <p:cNvPicPr>
            <a:picLocks noChangeAspect="1"/>
          </p:cNvPicPr>
          <p:nvPr/>
        </p:nvPicPr>
        <p:blipFill>
          <a:blip r:embed="rId2"/>
          <a:stretch>
            <a:fillRect/>
          </a:stretch>
        </p:blipFill>
        <p:spPr>
          <a:xfrm>
            <a:off x="457200" y="1463040"/>
            <a:ext cx="7223760" cy="4297680"/>
          </a:xfrm>
          <a:prstGeom prst="rect">
            <a:avLst/>
          </a:prstGeom>
        </p:spPr>
      </p:pic>
      <p:sp>
        <p:nvSpPr>
          <p:cNvPr id="8" name="Shape 4"/>
          <p:cNvSpPr/>
          <p:nvPr/>
        </p:nvSpPr>
        <p:spPr>
          <a:xfrm>
            <a:off x="7955280" y="1417320"/>
            <a:ext cx="3794760" cy="4846320"/>
          </a:xfrm>
          <a:prstGeom prst="rect">
            <a:avLst/>
          </a:prstGeom>
          <a:solidFill>
            <a:srgbClr val="D6E6F5"/>
          </a:solidFill>
          <a:ln w="12700">
            <a:solidFill>
              <a:srgbClr val="D6E6F5"/>
            </a:solidFill>
            <a:prstDash val="solid"/>
          </a:ln>
        </p:spPr>
      </p:sp>
      <p:sp>
        <p:nvSpPr>
          <p:cNvPr id="9" name="Text 5"/>
          <p:cNvSpPr txBox="1"/>
          <p:nvPr/>
        </p:nvSpPr>
        <p:spPr>
          <a:xfrm>
            <a:off x="8046720" y="1490472"/>
            <a:ext cx="361188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RBC Capabilities</a:t>
            </a:r>
            <a:endParaRPr lang="en-US" sz="1300" dirty="0"/>
          </a:p>
        </p:txBody>
      </p:sp>
      <p:sp>
        <p:nvSpPr>
          <p:cNvPr id="10" name="Text 6"/>
          <p:cNvSpPr/>
          <p:nvPr/>
        </p:nvSpPr>
        <p:spPr>
          <a:xfrm>
            <a:off x="8092440" y="1874520"/>
            <a:ext cx="3566160" cy="42976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Usage: CNB scoped usage metadata, agents, creators, activity by CNB population</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Prompts: gateway guardrail events and injection detections; aggregated prompt topics for CNB users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Agents: Assist Pro agent registry (tools, connectors, data sources, owners); tool call traces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Retrieval (RAG): retrieval traces per query, with knowledge base, documents, chunks, embedding model, index version, scores; query audit</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Quality: Evals results for CNB agents; model and prompt version history</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Cost and performance: per application gateway telemetry for CNB integrations: tokens, latency, errors, model version</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Security: gateway injection and DLP detections; model allowlist changes; platform incidents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Compliance: audit export at CNB cadence; alert forwarding; escalation path, the kill switch for Assist Pro</a:t>
            </a:r>
            <a:endParaRPr lang="en-US" sz="950" dirty="0"/>
          </a:p>
        </p:txBody>
      </p:sp>
      <p:sp>
        <p:nvSpPr>
          <p:cNvPr id="11" name="Text 7"/>
          <p:cNvSpPr txBox="1"/>
          <p:nvPr/>
        </p:nvSpPr>
        <p:spPr>
          <a:xfrm>
            <a:off x="457200" y="5897880"/>
            <a:ext cx="7223760" cy="365760"/>
          </a:xfrm>
          <a:prstGeom prst="rect">
            <a:avLst/>
          </a:prstGeom>
          <a:noFill/>
          <a:ln/>
        </p:spPr>
        <p:txBody>
          <a:bodyPr wrap="square" lIns="0" tIns="0" rIns="0" bIns="0" rtlCol="0" anchor="ctr"/>
          <a:lstStyle/>
          <a:p>
            <a:pPr indent="0" marL="0">
              <a:buNone/>
            </a:pPr>
            <a:r>
              <a:rPr lang="en-US" sz="950" i="1" dirty="0">
                <a:solidFill>
                  <a:srgbClr val="595959"/>
                </a:solidFill>
                <a:latin typeface="Arial" pitchFamily="34" charset="0"/>
                <a:ea typeface="Arial" pitchFamily="34" charset="-122"/>
                <a:cs typeface="Arial" pitchFamily="34" charset="-120"/>
              </a:rPr>
              <a:t>Status of each capability (available, in RBC pipeline, or to be agreed) is settled under the RBC operating model.</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Tools and Usage</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Every tool in the target state, what it is used for, and its status at CNB</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8</a:t>
            </a:r>
            <a:endParaRPr lang="en-US" sz="1000" dirty="0"/>
          </a:p>
        </p:txBody>
      </p:sp>
      <p:pic>
        <p:nvPicPr>
          <p:cNvPr id="7" name="Image 1" descr="/home/claude/add2_fig.png">    </p:cNvPr>
          <p:cNvPicPr>
            <a:picLocks noChangeAspect="1"/>
          </p:cNvPicPr>
          <p:nvPr/>
        </p:nvPicPr>
        <p:blipFill>
          <a:blip r:embed="rId2"/>
          <a:stretch>
            <a:fillRect/>
          </a:stretch>
        </p:blipFill>
        <p:spPr>
          <a:xfrm>
            <a:off x="457200" y="1371600"/>
            <a:ext cx="7498080" cy="5020056"/>
          </a:xfrm>
          <a:prstGeom prst="rect">
            <a:avLst/>
          </a:prstGeom>
        </p:spPr>
      </p:pic>
      <p:sp>
        <p:nvSpPr>
          <p:cNvPr id="8" name="Text 4"/>
          <p:cNvSpPr/>
          <p:nvPr/>
        </p:nvSpPr>
        <p:spPr>
          <a:xfrm>
            <a:off x="8229600" y="1463040"/>
            <a:ext cx="3520440" cy="48463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In use at CNB: Apigee, Datadog, Snowflake, Entra ID, Purview, Application Insights, the web gateway</a:t>
            </a:r>
            <a:endParaRPr lang="en-US" sz="1050" dirty="0"/>
          </a:p>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To enable or build: Apigee AI policies and Model Armor, the OpenTelemetry pipeline, Snowflake AI Observability, Foundry Observability, dashboards, audit views, the kill switch runbook</a:t>
            </a:r>
            <a:endParaRPr lang="en-US" sz="1050" dirty="0"/>
          </a:p>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Under evaluation: Workato</a:t>
            </a:r>
            <a:endParaRPr lang="en-US" sz="1050" dirty="0"/>
          </a:p>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RBC platform: Dynatrace, Grafana, Elastic, Langfuse, PagerDuty; Pantheon and Evals being stood up</a:t>
            </a:r>
            <a:endParaRPr lang="en-US" sz="1050" dirty="0"/>
          </a:p>
          <a:p>
            <a:pPr marL="152400" indent="-152400">
              <a:spcAft>
                <a:spcPts val="400"/>
              </a:spcAft>
              <a:buSzPct val="100000"/>
              <a:buChar char="•"/>
            </a:pPr>
            <a:r>
              <a:rPr lang="en-US" sz="1050" dirty="0">
                <a:solidFill>
                  <a:srgbClr val="333333"/>
                </a:solidFill>
                <a:latin typeface="Arial" pitchFamily="34" charset="0"/>
                <a:ea typeface="Arial" pitchFamily="34" charset="-122"/>
                <a:cs typeface="Arial" pitchFamily="34" charset="-120"/>
              </a:rPr>
              <a:t>Phase 0 confirms tiers, modules, and usage depth for every card marked (confirm)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400" dirty="0">
                <a:solidFill>
                  <a:srgbClr val="2E6DB4"/>
                </a:solidFill>
                <a:latin typeface="Arial" pitchFamily="34" charset="0"/>
                <a:ea typeface="Arial" pitchFamily="34" charset="-122"/>
                <a:cs typeface="Arial" pitchFamily="34" charset="-120"/>
              </a:rPr>
              <a:t>A Phased Approach to AI Monitoring and Observability</a:t>
            </a:r>
            <a:endParaRPr lang="en-US" sz="24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More automation and agentic depth at each version, with less manual effort</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9</a:t>
            </a:r>
            <a:endParaRPr lang="en-US" sz="1000" dirty="0"/>
          </a:p>
        </p:txBody>
      </p:sp>
      <p:sp>
        <p:nvSpPr>
          <p:cNvPr id="7" name="Shape 4"/>
          <p:cNvSpPr/>
          <p:nvPr/>
        </p:nvSpPr>
        <p:spPr>
          <a:xfrm>
            <a:off x="457200" y="1417320"/>
            <a:ext cx="3611880" cy="4206240"/>
          </a:xfrm>
          <a:prstGeom prst="roundRect">
            <a:avLst>
              <a:gd name="adj" fmla="val 1266"/>
            </a:avLst>
          </a:prstGeom>
          <a:solidFill>
            <a:srgbClr val="FFFFFF"/>
          </a:solidFill>
          <a:ln w="25400">
            <a:solidFill>
              <a:srgbClr val="0B5CAD"/>
            </a:solidFill>
            <a:prstDash val="solid"/>
          </a:ln>
        </p:spPr>
      </p:sp>
      <p:sp>
        <p:nvSpPr>
          <p:cNvPr id="8" name="Text 5"/>
          <p:cNvSpPr/>
          <p:nvPr/>
        </p:nvSpPr>
        <p:spPr>
          <a:xfrm>
            <a:off x="594360" y="1554480"/>
            <a:ext cx="566928" cy="566928"/>
          </a:xfrm>
          <a:prstGeom prst="ellipse">
            <a:avLst/>
          </a:prstGeom>
          <a:solidFill>
            <a:srgbClr val="0B5CAD"/>
          </a:solidFill>
          <a:ln>
            <a:solidFill>
              <a:srgbClr val="0B5CA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V1</a:t>
            </a:r>
            <a:endParaRPr lang="en-US" sz="1400" dirty="0"/>
          </a:p>
        </p:txBody>
      </p:sp>
      <p:sp>
        <p:nvSpPr>
          <p:cNvPr id="9" name="Text 6"/>
          <p:cNvSpPr txBox="1"/>
          <p:nvPr/>
        </p:nvSpPr>
        <p:spPr>
          <a:xfrm>
            <a:off x="1261872" y="1527048"/>
            <a:ext cx="2697480" cy="621792"/>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Detective: Key Word and Pattern Monitoring</a:t>
            </a:r>
            <a:endParaRPr lang="en-US" sz="1250" dirty="0"/>
          </a:p>
        </p:txBody>
      </p:sp>
      <p:sp>
        <p:nvSpPr>
          <p:cNvPr id="10" name="Text 7"/>
          <p:cNvSpPr txBox="1"/>
          <p:nvPr/>
        </p:nvSpPr>
        <p:spPr>
          <a:xfrm>
            <a:off x="594360" y="2240280"/>
            <a:ext cx="3337560" cy="214884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Focusing first on RBC Assist and RBC Assist Pro, key word and pattern matching identifies potential unmitigated risk and the users involved; the AI product team supports integration with Compliance to take appropriate action. In parallel, CNB instruments every path it owns (Apigee, Foundry, MCP tools), loads vendor exports and RBC metadata into Snowflake, and stands up dashboards. Review and credible challenge from all three lines of defence keeps the control sustainable; as it stabilizes it rolls out to all other AI product owners.</a:t>
            </a:r>
            <a:endParaRPr lang="en-US" sz="900" dirty="0"/>
          </a:p>
        </p:txBody>
      </p:sp>
      <p:sp>
        <p:nvSpPr>
          <p:cNvPr id="11" name="Text 8"/>
          <p:cNvSpPr txBox="1"/>
          <p:nvPr/>
        </p:nvSpPr>
        <p:spPr>
          <a:xfrm>
            <a:off x="594360" y="4434840"/>
            <a:ext cx="3337560" cy="228600"/>
          </a:xfrm>
          <a:prstGeom prst="rect">
            <a:avLst/>
          </a:prstGeom>
          <a:noFill/>
          <a:ln/>
        </p:spPr>
        <p:txBody>
          <a:bodyPr wrap="square" lIns="0" tIns="0" rIns="0" bIns="0" rtlCol="0" anchor="ctr"/>
          <a:lstStyle/>
          <a:p>
            <a:pPr indent="0" marL="0">
              <a:buNone/>
            </a:pPr>
            <a:r>
              <a:rPr lang="en-US" sz="950" b="1" dirty="0">
                <a:solidFill>
                  <a:srgbClr val="1F3864"/>
                </a:solidFill>
                <a:latin typeface="Arial" pitchFamily="34" charset="0"/>
                <a:ea typeface="Arial" pitchFamily="34" charset="-122"/>
                <a:cs typeface="Arial" pitchFamily="34" charset="-120"/>
              </a:rPr>
              <a:t>Capabilities delivered</a:t>
            </a:r>
            <a:endParaRPr lang="en-US" sz="950" dirty="0"/>
          </a:p>
        </p:txBody>
      </p:sp>
      <p:sp>
        <p:nvSpPr>
          <p:cNvPr id="12" name="Text 9"/>
          <p:cNvSpPr/>
          <p:nvPr/>
        </p:nvSpPr>
        <p:spPr>
          <a:xfrm>
            <a:off x="594360" y="4663440"/>
            <a:ext cx="3337560" cy="914400"/>
          </a:xfrm>
          <a:prstGeom prst="rect">
            <a:avLst/>
          </a:prstGeom>
          <a:noFill/>
          <a:ln/>
        </p:spPr>
        <p:txBody>
          <a:bodyPr wrap="square" lIns="0" tIns="0" rIns="0" bIns="0" rtlCol="0" anchor="t"/>
          <a:lstStyle/>
          <a:p>
            <a:pPr marL="152400" indent="-152400">
              <a:spcAft>
                <a:spcPts val="400"/>
              </a:spcAft>
              <a:buSzPct val="100000"/>
              <a:buChar char="•"/>
            </a:pPr>
            <a:r>
              <a:rPr lang="en-US" sz="850" dirty="0">
                <a:solidFill>
                  <a:srgbClr val="333333"/>
                </a:solidFill>
                <a:latin typeface="Arial" pitchFamily="34" charset="0"/>
                <a:ea typeface="Arial" pitchFamily="34" charset="-122"/>
                <a:cs typeface="Arial" pitchFamily="34" charset="-120"/>
              </a:rPr>
              <a:t>Usage and Access, Cost and Performance, Compliance and Audit at baseline</a:t>
            </a:r>
            <a:endParaRPr lang="en-US" sz="850" dirty="0"/>
          </a:p>
          <a:p>
            <a:pPr marL="152400" indent="-152400">
              <a:spcAft>
                <a:spcPts val="400"/>
              </a:spcAft>
              <a:buSzPct val="100000"/>
              <a:buChar char="•"/>
            </a:pPr>
            <a:r>
              <a:rPr lang="en-US" sz="850" dirty="0">
                <a:solidFill>
                  <a:srgbClr val="333333"/>
                </a:solidFill>
                <a:latin typeface="Arial" pitchFamily="34" charset="0"/>
                <a:ea typeface="Arial" pitchFamily="34" charset="-122"/>
                <a:cs typeface="Arial" pitchFamily="34" charset="-120"/>
              </a:rPr>
              <a:t>Prompts and Content: detective key word monitoring</a:t>
            </a:r>
            <a:endParaRPr lang="en-US" sz="850" dirty="0"/>
          </a:p>
          <a:p>
            <a:pPr marL="152400" indent="-152400">
              <a:spcAft>
                <a:spcPts val="400"/>
              </a:spcAft>
              <a:buSzPct val="100000"/>
              <a:buChar char="•"/>
            </a:pPr>
            <a:r>
              <a:rPr lang="en-US" sz="850" dirty="0">
                <a:solidFill>
                  <a:srgbClr val="333333"/>
                </a:solidFill>
                <a:latin typeface="Arial" pitchFamily="34" charset="0"/>
                <a:ea typeface="Arial" pitchFamily="34" charset="-122"/>
                <a:cs typeface="Arial" pitchFamily="34" charset="-120"/>
              </a:rPr>
              <a:t>Agents and Tool Calls, Retrieval: logging and audit joins</a:t>
            </a:r>
            <a:endParaRPr lang="en-US" sz="850" dirty="0"/>
          </a:p>
        </p:txBody>
      </p:sp>
      <p:sp>
        <p:nvSpPr>
          <p:cNvPr id="13" name="Shape 10"/>
          <p:cNvSpPr/>
          <p:nvPr/>
        </p:nvSpPr>
        <p:spPr>
          <a:xfrm>
            <a:off x="4297680" y="1417320"/>
            <a:ext cx="3611880" cy="4206240"/>
          </a:xfrm>
          <a:prstGeom prst="roundRect">
            <a:avLst>
              <a:gd name="adj" fmla="val 1266"/>
            </a:avLst>
          </a:prstGeom>
          <a:solidFill>
            <a:srgbClr val="FFFFFF"/>
          </a:solidFill>
          <a:ln w="25400">
            <a:solidFill>
              <a:srgbClr val="0B5CAD"/>
            </a:solidFill>
            <a:prstDash val="solid"/>
          </a:ln>
        </p:spPr>
      </p:sp>
      <p:sp>
        <p:nvSpPr>
          <p:cNvPr id="14" name="Text 11"/>
          <p:cNvSpPr/>
          <p:nvPr/>
        </p:nvSpPr>
        <p:spPr>
          <a:xfrm>
            <a:off x="4434840" y="1554480"/>
            <a:ext cx="566928" cy="566928"/>
          </a:xfrm>
          <a:prstGeom prst="ellipse">
            <a:avLst/>
          </a:prstGeom>
          <a:solidFill>
            <a:srgbClr val="0B5CAD"/>
          </a:solidFill>
          <a:ln>
            <a:solidFill>
              <a:srgbClr val="0B5CA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V2</a:t>
            </a:r>
            <a:endParaRPr lang="en-US" sz="1400" dirty="0"/>
          </a:p>
        </p:txBody>
      </p:sp>
      <p:sp>
        <p:nvSpPr>
          <p:cNvPr id="15" name="Text 12"/>
          <p:cNvSpPr txBox="1"/>
          <p:nvPr/>
        </p:nvSpPr>
        <p:spPr>
          <a:xfrm>
            <a:off x="5102352" y="1527048"/>
            <a:ext cx="2697480" cy="621792"/>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In-line Control: Warnings, Suspensions, Gateway Enforcement</a:t>
            </a:r>
            <a:endParaRPr lang="en-US" sz="1250" dirty="0"/>
          </a:p>
        </p:txBody>
      </p:sp>
      <p:sp>
        <p:nvSpPr>
          <p:cNvPr id="16" name="Text 13"/>
          <p:cNvSpPr txBox="1"/>
          <p:nvPr/>
        </p:nvSpPr>
        <p:spPr>
          <a:xfrm>
            <a:off x="4434840" y="2240280"/>
            <a:ext cx="3337560" cy="214884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Shifts to prevention of risk: in-line warnings, temporary suspensions, and escalation notifications, backed by ongoing detective monitoring for any non prevented risk. Apigee token quotas and Model Armor block at the gateway, the kill switch runbook maps alerts to actions, and semantic filtering reduces false positives. Agentic tooling supports the control activities, with the AI product team as the human in the loop to monitor drift and review high risk actions.</a:t>
            </a:r>
            <a:endParaRPr lang="en-US" sz="900" dirty="0"/>
          </a:p>
        </p:txBody>
      </p:sp>
      <p:sp>
        <p:nvSpPr>
          <p:cNvPr id="17" name="Text 14"/>
          <p:cNvSpPr txBox="1"/>
          <p:nvPr/>
        </p:nvSpPr>
        <p:spPr>
          <a:xfrm>
            <a:off x="4434840" y="4434840"/>
            <a:ext cx="3337560" cy="228600"/>
          </a:xfrm>
          <a:prstGeom prst="rect">
            <a:avLst/>
          </a:prstGeom>
          <a:noFill/>
          <a:ln/>
        </p:spPr>
        <p:txBody>
          <a:bodyPr wrap="square" lIns="0" tIns="0" rIns="0" bIns="0" rtlCol="0" anchor="ctr"/>
          <a:lstStyle/>
          <a:p>
            <a:pPr indent="0" marL="0">
              <a:buNone/>
            </a:pPr>
            <a:r>
              <a:rPr lang="en-US" sz="950" b="1" dirty="0">
                <a:solidFill>
                  <a:srgbClr val="1F3864"/>
                </a:solidFill>
                <a:latin typeface="Arial" pitchFamily="34" charset="0"/>
                <a:ea typeface="Arial" pitchFamily="34" charset="-122"/>
                <a:cs typeface="Arial" pitchFamily="34" charset="-120"/>
              </a:rPr>
              <a:t>Capabilities delivered</a:t>
            </a:r>
            <a:endParaRPr lang="en-US" sz="950" dirty="0"/>
          </a:p>
        </p:txBody>
      </p:sp>
      <p:sp>
        <p:nvSpPr>
          <p:cNvPr id="18" name="Text 15"/>
          <p:cNvSpPr/>
          <p:nvPr/>
        </p:nvSpPr>
        <p:spPr>
          <a:xfrm>
            <a:off x="4434840" y="4663440"/>
            <a:ext cx="3337560" cy="914400"/>
          </a:xfrm>
          <a:prstGeom prst="rect">
            <a:avLst/>
          </a:prstGeom>
          <a:noFill/>
          <a:ln/>
        </p:spPr>
        <p:txBody>
          <a:bodyPr wrap="square" lIns="0" tIns="0" rIns="0" bIns="0" rtlCol="0" anchor="t"/>
          <a:lstStyle/>
          <a:p>
            <a:pPr marL="152400" indent="-152400">
              <a:spcAft>
                <a:spcPts val="400"/>
              </a:spcAft>
              <a:buSzPct val="100000"/>
              <a:buChar char="•"/>
            </a:pPr>
            <a:r>
              <a:rPr lang="en-US" sz="850" dirty="0">
                <a:solidFill>
                  <a:srgbClr val="333333"/>
                </a:solidFill>
                <a:latin typeface="Arial" pitchFamily="34" charset="0"/>
                <a:ea typeface="Arial" pitchFamily="34" charset="-122"/>
                <a:cs typeface="Arial" pitchFamily="34" charset="-120"/>
              </a:rPr>
              <a:t>Prompts and Content, Agents and Tool Calls, Security: enforced at the control points</a:t>
            </a:r>
            <a:endParaRPr lang="en-US" sz="850" dirty="0"/>
          </a:p>
          <a:p>
            <a:pPr marL="152400" indent="-152400">
              <a:spcAft>
                <a:spcPts val="400"/>
              </a:spcAft>
              <a:buSzPct val="100000"/>
              <a:buChar char="•"/>
            </a:pPr>
            <a:r>
              <a:rPr lang="en-US" sz="850" dirty="0">
                <a:solidFill>
                  <a:srgbClr val="333333"/>
                </a:solidFill>
                <a:latin typeface="Arial" pitchFamily="34" charset="0"/>
                <a:ea typeface="Arial" pitchFamily="34" charset="-122"/>
                <a:cs typeface="Arial" pitchFamily="34" charset="-120"/>
              </a:rPr>
              <a:t>Retrieval: entitlement checks; RBC retrieval traces</a:t>
            </a:r>
            <a:endParaRPr lang="en-US" sz="850" dirty="0"/>
          </a:p>
          <a:p>
            <a:pPr marL="152400" indent="-152400">
              <a:spcAft>
                <a:spcPts val="400"/>
              </a:spcAft>
              <a:buSzPct val="100000"/>
              <a:buChar char="•"/>
            </a:pPr>
            <a:r>
              <a:rPr lang="en-US" sz="850" dirty="0">
                <a:solidFill>
                  <a:srgbClr val="333333"/>
                </a:solidFill>
                <a:latin typeface="Arial" pitchFamily="34" charset="0"/>
                <a:ea typeface="Arial" pitchFamily="34" charset="-122"/>
                <a:cs typeface="Arial" pitchFamily="34" charset="-120"/>
              </a:rPr>
              <a:t>Quality: sampled continuous evaluation with quality floors</a:t>
            </a:r>
            <a:endParaRPr lang="en-US" sz="850" dirty="0"/>
          </a:p>
        </p:txBody>
      </p:sp>
      <p:sp>
        <p:nvSpPr>
          <p:cNvPr id="19" name="Shape 16"/>
          <p:cNvSpPr/>
          <p:nvPr/>
        </p:nvSpPr>
        <p:spPr>
          <a:xfrm>
            <a:off x="8138160" y="1417320"/>
            <a:ext cx="3611880" cy="4206240"/>
          </a:xfrm>
          <a:prstGeom prst="roundRect">
            <a:avLst>
              <a:gd name="adj" fmla="val 1266"/>
            </a:avLst>
          </a:prstGeom>
          <a:solidFill>
            <a:srgbClr val="FFFFFF"/>
          </a:solidFill>
          <a:ln w="25400">
            <a:solidFill>
              <a:srgbClr val="0B5CAD"/>
            </a:solidFill>
            <a:prstDash val="solid"/>
          </a:ln>
        </p:spPr>
      </p:sp>
      <p:sp>
        <p:nvSpPr>
          <p:cNvPr id="20" name="Text 17"/>
          <p:cNvSpPr/>
          <p:nvPr/>
        </p:nvSpPr>
        <p:spPr>
          <a:xfrm>
            <a:off x="8275320" y="1554480"/>
            <a:ext cx="566928" cy="566928"/>
          </a:xfrm>
          <a:prstGeom prst="ellipse">
            <a:avLst/>
          </a:prstGeom>
          <a:solidFill>
            <a:srgbClr val="0B5CAD"/>
          </a:solidFill>
          <a:ln>
            <a:solidFill>
              <a:srgbClr val="0B5CA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V3+</a:t>
            </a:r>
            <a:endParaRPr lang="en-US" sz="1400" dirty="0"/>
          </a:p>
        </p:txBody>
      </p:sp>
      <p:sp>
        <p:nvSpPr>
          <p:cNvPr id="21" name="Text 18"/>
          <p:cNvSpPr txBox="1"/>
          <p:nvPr/>
        </p:nvSpPr>
        <p:spPr>
          <a:xfrm>
            <a:off x="8942832" y="1527048"/>
            <a:ext cx="2697480" cy="621792"/>
          </a:xfrm>
          <a:prstGeom prst="rect">
            <a:avLst/>
          </a:prstGeom>
          <a:noFill/>
          <a:ln/>
        </p:spPr>
        <p:txBody>
          <a:bodyPr wrap="square" lIns="0" tIns="0" rIns="0" bIns="0" rtlCol="0" anchor="ctr"/>
          <a:lstStyle/>
          <a:p>
            <a:pPr indent="0" marL="0">
              <a:buNone/>
            </a:pPr>
            <a:r>
              <a:rPr lang="en-US" sz="1250" b="1" dirty="0">
                <a:solidFill>
                  <a:srgbClr val="1F3864"/>
                </a:solidFill>
                <a:latin typeface="Arial" pitchFamily="34" charset="0"/>
                <a:ea typeface="Arial" pitchFamily="34" charset="-122"/>
                <a:cs typeface="Arial" pitchFamily="34" charset="-120"/>
              </a:rPr>
              <a:t>Preventative: Agentic Scale with Human Verification</a:t>
            </a:r>
            <a:endParaRPr lang="en-US" sz="1250" dirty="0"/>
          </a:p>
        </p:txBody>
      </p:sp>
      <p:sp>
        <p:nvSpPr>
          <p:cNvPr id="22" name="Text 19"/>
          <p:cNvSpPr txBox="1"/>
          <p:nvPr/>
        </p:nvSpPr>
        <p:spPr>
          <a:xfrm>
            <a:off x="8275320" y="2240280"/>
            <a:ext cx="3337560" cy="214884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Prevention first, backed by agentic scale: an observability agent team broadens the scope of sampled conversations, users are stopped in real time, and a human verifies anything more than a temporary suspension. Multi agent teams coordinate, with specific agents adopting an adversarial review persona to keep the control aligned to objectives. Continuous evaluation and the RBC feeds (retrieval traces, Evals results) close the loop across all eight capabilities.</a:t>
            </a:r>
            <a:endParaRPr lang="en-US" sz="900" dirty="0"/>
          </a:p>
        </p:txBody>
      </p:sp>
      <p:sp>
        <p:nvSpPr>
          <p:cNvPr id="23" name="Text 20"/>
          <p:cNvSpPr txBox="1"/>
          <p:nvPr/>
        </p:nvSpPr>
        <p:spPr>
          <a:xfrm>
            <a:off x="8275320" y="4434840"/>
            <a:ext cx="3337560" cy="228600"/>
          </a:xfrm>
          <a:prstGeom prst="rect">
            <a:avLst/>
          </a:prstGeom>
          <a:noFill/>
          <a:ln/>
        </p:spPr>
        <p:txBody>
          <a:bodyPr wrap="square" lIns="0" tIns="0" rIns="0" bIns="0" rtlCol="0" anchor="ctr"/>
          <a:lstStyle/>
          <a:p>
            <a:pPr indent="0" marL="0">
              <a:buNone/>
            </a:pPr>
            <a:r>
              <a:rPr lang="en-US" sz="950" b="1" dirty="0">
                <a:solidFill>
                  <a:srgbClr val="1F3864"/>
                </a:solidFill>
                <a:latin typeface="Arial" pitchFamily="34" charset="0"/>
                <a:ea typeface="Arial" pitchFamily="34" charset="-122"/>
                <a:cs typeface="Arial" pitchFamily="34" charset="-120"/>
              </a:rPr>
              <a:t>Capabilities delivered</a:t>
            </a:r>
            <a:endParaRPr lang="en-US" sz="950" dirty="0"/>
          </a:p>
        </p:txBody>
      </p:sp>
      <p:sp>
        <p:nvSpPr>
          <p:cNvPr id="24" name="Text 21"/>
          <p:cNvSpPr/>
          <p:nvPr/>
        </p:nvSpPr>
        <p:spPr>
          <a:xfrm>
            <a:off x="8275320" y="4663440"/>
            <a:ext cx="3337560" cy="914400"/>
          </a:xfrm>
          <a:prstGeom prst="rect">
            <a:avLst/>
          </a:prstGeom>
          <a:noFill/>
          <a:ln/>
        </p:spPr>
        <p:txBody>
          <a:bodyPr wrap="square" lIns="0" tIns="0" rIns="0" bIns="0" rtlCol="0" anchor="t"/>
          <a:lstStyle/>
          <a:p>
            <a:pPr marL="152400" indent="-152400">
              <a:spcAft>
                <a:spcPts val="400"/>
              </a:spcAft>
              <a:buSzPct val="100000"/>
              <a:buChar char="•"/>
            </a:pPr>
            <a:r>
              <a:rPr lang="en-US" sz="850" dirty="0">
                <a:solidFill>
                  <a:srgbClr val="333333"/>
                </a:solidFill>
                <a:latin typeface="Arial" pitchFamily="34" charset="0"/>
                <a:ea typeface="Arial" pitchFamily="34" charset="-122"/>
                <a:cs typeface="Arial" pitchFamily="34" charset="-120"/>
              </a:rPr>
              <a:t>All eight capabilities at target maturity</a:t>
            </a:r>
            <a:endParaRPr lang="en-US" sz="850" dirty="0"/>
          </a:p>
          <a:p>
            <a:pPr marL="152400" indent="-152400">
              <a:spcAft>
                <a:spcPts val="400"/>
              </a:spcAft>
              <a:buSzPct val="100000"/>
              <a:buChar char="•"/>
            </a:pPr>
            <a:r>
              <a:rPr lang="en-US" sz="850" dirty="0">
                <a:solidFill>
                  <a:srgbClr val="333333"/>
                </a:solidFill>
                <a:latin typeface="Arial" pitchFamily="34" charset="0"/>
                <a:ea typeface="Arial" pitchFamily="34" charset="-122"/>
                <a:cs typeface="Arial" pitchFamily="34" charset="-120"/>
              </a:rPr>
              <a:t>Quality and Drift: continuous evaluation and drift review by agents</a:t>
            </a:r>
            <a:endParaRPr lang="en-US" sz="850" dirty="0"/>
          </a:p>
          <a:p>
            <a:pPr marL="152400" indent="-152400">
              <a:spcAft>
                <a:spcPts val="400"/>
              </a:spcAft>
              <a:buSzPct val="100000"/>
              <a:buChar char="•"/>
            </a:pPr>
            <a:r>
              <a:rPr lang="en-US" sz="850" dirty="0">
                <a:solidFill>
                  <a:srgbClr val="333333"/>
                </a:solidFill>
                <a:latin typeface="Arial" pitchFamily="34" charset="0"/>
                <a:ea typeface="Arial" pitchFamily="34" charset="-122"/>
                <a:cs typeface="Arial" pitchFamily="34" charset="-120"/>
              </a:rPr>
              <a:t>Compliance and Audit: quarterly review of the framework and agent output</a:t>
            </a:r>
            <a:endParaRPr lang="en-US" sz="850" dirty="0"/>
          </a:p>
        </p:txBody>
      </p:sp>
      <p:sp>
        <p:nvSpPr>
          <p:cNvPr id="25" name="Text 22"/>
          <p:cNvSpPr txBox="1"/>
          <p:nvPr/>
        </p:nvSpPr>
        <p:spPr>
          <a:xfrm>
            <a:off x="457200" y="5760720"/>
            <a:ext cx="11274552" cy="438912"/>
          </a:xfrm>
          <a:prstGeom prst="rect">
            <a:avLst/>
          </a:prstGeom>
          <a:solidFill>
            <a:srgbClr val="0B5CAD"/>
          </a:solidFill>
          <a:ln w="6350">
            <a:solidFill>
              <a:srgbClr val="0B5CAD"/>
            </a:solidFill>
          </a:ln>
        </p:spPr>
        <p:txBody>
          <a:bodyPr wrap="square" lIns="635" tIns="635" rIns="635" bIns="635"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1st, 2nd and 3rd LOD coordinate on ongoing review and sustainability of risk mitigation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Capability Maturity by Version</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What each capability delivers at V1 Detective, V2 In-line control, and V3 Preventative</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2011680"/>
                <a:gridCol w="3063240"/>
                <a:gridCol w="3063240"/>
                <a:gridCol w="3136392"/>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Capability</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V1 Detective</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V2 In-line control</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V3 Preventative</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r>
              <a:tr h="0">
                <a:tc>
                  <a:txBody>
                    <a:bodyPr/>
                    <a:lstStyle/>
                    <a:p>
                      <a:pPr indent="0" marL="0">
                        <a:buNone/>
                      </a:pPr>
                      <a:r>
                        <a:rPr lang="en-US" sz="900" b="1" dirty="0">
                          <a:solidFill>
                            <a:srgbClr val="1F3864"/>
                          </a:solidFill>
                          <a:latin typeface="Arial" pitchFamily="34" charset="0"/>
                          <a:ea typeface="Arial" pitchFamily="34" charset="-122"/>
                          <a:cs typeface="Arial" pitchFamily="34" charset="-120"/>
                        </a:rPr>
                        <a:t>Usage and Access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Usage by application and user from Entra ID, Purview, and vendor exports; shadow AI from the web gateway</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Entitlement checks at Apigee; conditional access actions on findings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Automated access review; anomaly driven suspension with human verification</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1F3864"/>
                          </a:solidFill>
                          <a:latin typeface="Arial" pitchFamily="34" charset="0"/>
                          <a:ea typeface="Arial" pitchFamily="34" charset="-122"/>
                          <a:cs typeface="Arial" pitchFamily="34" charset="-120"/>
                        </a:rPr>
                        <a:t>Prompts and Content</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Key word, toxic combination, and sentiment match on logged interactions; monitoring report review</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In-line warning; Model Armor blocks injection and sensitive data; semantic filters cut false positives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Prompt monitoring agents; real time censoring and blocking; adversarial review persona</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1F3864"/>
                          </a:solidFill>
                          <a:latin typeface="Arial" pitchFamily="34" charset="0"/>
                          <a:ea typeface="Arial" pitchFamily="34" charset="-122"/>
                          <a:cs typeface="Arial" pitchFamily="34" charset="-120"/>
                        </a:rPr>
                        <a:t>Agents and Tool Calls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Tool call logging at MCP servers; token spend visibility per agent</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Token quotas and tool allowlists at Apigee; kill switch runbook; temporary suspension</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Automated suspension of runaway agents; agent to agent chain review</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1F3864"/>
                          </a:solidFill>
                          <a:latin typeface="Arial" pitchFamily="34" charset="0"/>
                          <a:ea typeface="Arial" pitchFamily="34" charset="-122"/>
                          <a:cs typeface="Arial" pitchFamily="34" charset="-120"/>
                        </a:rPr>
                        <a:t>Retrieval and Data (RAG)</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ACCESS_HISTORY joins; retrieval query log for CNB tools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Entitlement check on retrieved content; RBC retrieval traces integrated</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Groundedness checked per answer; index and embedding drift alerts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1F3864"/>
                          </a:solidFill>
                          <a:latin typeface="Arial" pitchFamily="34" charset="0"/>
                          <a:ea typeface="Arial" pitchFamily="34" charset="-122"/>
                          <a:cs typeface="Arial" pitchFamily="34" charset="-120"/>
                        </a:rPr>
                        <a:t>Quality and Drift</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Evaluation baseline per use case in Snowflake AI Observability</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Sampled continuous evaluation; quality floors raise alerts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Continuous evaluation and drift review by agents; RBC Evals results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1F3864"/>
                          </a:solidFill>
                          <a:latin typeface="Arial" pitchFamily="34" charset="0"/>
                          <a:ea typeface="Arial" pitchFamily="34" charset="-122"/>
                          <a:cs typeface="Arial" pitchFamily="34" charset="-120"/>
                        </a:rPr>
                        <a:t>Cost and Performance</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Tokens, latency, and errors in Datadog per use case</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Quota and rate limit headroom alerts; vendor SLA tracking</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Cost anomaly detection; automated throttling</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1F3864"/>
                          </a:solidFill>
                          <a:latin typeface="Arial" pitchFamily="34" charset="0"/>
                          <a:ea typeface="Arial" pitchFamily="34" charset="-122"/>
                          <a:cs typeface="Arial" pitchFamily="34" charset="-120"/>
                        </a:rPr>
                        <a:t>Security and Threats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SIEM feed of AI events; Purview DLP</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Gateway injection and DLP blocks; secret exposure detection</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Adversarial testing agents; provenance checks on models and plugins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1F3864"/>
                          </a:solidFill>
                          <a:latin typeface="Arial" pitchFamily="34" charset="0"/>
                          <a:ea typeface="Arial" pitchFamily="34" charset="-122"/>
                          <a:cs typeface="Arial" pitchFamily="34" charset="-120"/>
                        </a:rPr>
                        <a:t>Compliance and Audit</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Redacted record of interactions and control actions in Snowflake; quarterly pattern and key word revision</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Every enforcement action recorded with its escalation trail</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Regulator ready reporting; quarterly review of the monitoring framework and agent output</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AI Monitoring and Observability V1</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Detective: key word and pattern monitoring on baseline telemetry</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11</a:t>
            </a:r>
            <a:endParaRPr lang="en-US" sz="1000" dirty="0"/>
          </a:p>
        </p:txBody>
      </p:sp>
      <p:pic>
        <p:nvPicPr>
          <p:cNvPr id="7" name="Image 1" descr="preencoded.png">    </p:cNvPr>
          <p:cNvPicPr>
            <a:picLocks noChangeAspect="1"/>
          </p:cNvPicPr>
          <p:nvPr/>
        </p:nvPicPr>
        <p:blipFill>
          <a:blip r:embed="rId2"/>
          <a:stretch>
            <a:fillRect/>
          </a:stretch>
        </p:blipFill>
        <p:spPr>
          <a:xfrm>
            <a:off x="640080" y="1417320"/>
            <a:ext cx="384048" cy="384048"/>
          </a:xfrm>
          <a:prstGeom prst="rect">
            <a:avLst/>
          </a:prstGeom>
        </p:spPr>
      </p:pic>
      <p:sp>
        <p:nvSpPr>
          <p:cNvPr id="8" name="Text 4"/>
          <p:cNvSpPr txBox="1"/>
          <p:nvPr/>
        </p:nvSpPr>
        <p:spPr>
          <a:xfrm>
            <a:off x="1097280" y="1417320"/>
            <a:ext cx="1371600" cy="384048"/>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End User</a:t>
            </a:r>
            <a:endParaRPr lang="en-US" sz="1400" dirty="0"/>
          </a:p>
        </p:txBody>
      </p:sp>
      <p:sp>
        <p:nvSpPr>
          <p:cNvPr id="9" name="Shape 5"/>
          <p:cNvSpPr/>
          <p:nvPr/>
        </p:nvSpPr>
        <p:spPr>
          <a:xfrm rot="10800000">
            <a:off x="914400" y="1847088"/>
            <a:ext cx="457200" cy="164592"/>
          </a:xfrm>
          <a:prstGeom prst="triangle">
            <a:avLst/>
          </a:prstGeom>
          <a:solidFill>
            <a:srgbClr val="BFBFBF"/>
          </a:solidFill>
          <a:ln w="12700">
            <a:solidFill>
              <a:srgbClr val="BFBFBF"/>
            </a:solidFill>
            <a:prstDash val="solid"/>
          </a:ln>
        </p:spPr>
      </p:sp>
      <p:sp>
        <p:nvSpPr>
          <p:cNvPr id="10" name="Shape 6"/>
          <p:cNvSpPr/>
          <p:nvPr/>
        </p:nvSpPr>
        <p:spPr>
          <a:xfrm>
            <a:off x="457200" y="2103120"/>
            <a:ext cx="2926080" cy="3246120"/>
          </a:xfrm>
          <a:prstGeom prst="rect">
            <a:avLst/>
          </a:prstGeom>
          <a:solidFill>
            <a:srgbClr val="FFFFFF"/>
          </a:solidFill>
          <a:ln w="9525">
            <a:solidFill>
              <a:srgbClr val="7F7F7F"/>
            </a:solidFill>
            <a:prstDash val="dash"/>
          </a:ln>
        </p:spPr>
      </p:sp>
      <p:sp>
        <p:nvSpPr>
          <p:cNvPr id="11" name="Text 7"/>
          <p:cNvSpPr txBox="1"/>
          <p:nvPr/>
        </p:nvSpPr>
        <p:spPr>
          <a:xfrm>
            <a:off x="548640" y="2157984"/>
            <a:ext cx="274320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Generative / Agentic Tool</a:t>
            </a:r>
            <a:endParaRPr lang="en-US" sz="1300" dirty="0"/>
          </a:p>
        </p:txBody>
      </p:sp>
      <p:sp>
        <p:nvSpPr>
          <p:cNvPr id="12" name="Text 8"/>
          <p:cNvSpPr txBox="1"/>
          <p:nvPr/>
        </p:nvSpPr>
        <p:spPr>
          <a:xfrm>
            <a:off x="685800" y="2514600"/>
            <a:ext cx="2468880" cy="310896"/>
          </a:xfrm>
          <a:prstGeom prst="roundRect">
            <a:avLst>
              <a:gd name="adj" fmla="val 14706"/>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Chat Interface</a:t>
            </a:r>
            <a:endParaRPr lang="en-US" sz="1000" dirty="0"/>
          </a:p>
        </p:txBody>
      </p:sp>
      <p:sp>
        <p:nvSpPr>
          <p:cNvPr id="13" name="Text 9"/>
          <p:cNvSpPr txBox="1"/>
          <p:nvPr/>
        </p:nvSpPr>
        <p:spPr>
          <a:xfrm>
            <a:off x="685800" y="2880360"/>
            <a:ext cx="2468880" cy="310896"/>
          </a:xfrm>
          <a:prstGeom prst="roundRect">
            <a:avLst>
              <a:gd name="adj" fmla="val 14706"/>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Agent Builder</a:t>
            </a:r>
            <a:endParaRPr lang="en-US" sz="1000" dirty="0"/>
          </a:p>
        </p:txBody>
      </p:sp>
      <p:sp>
        <p:nvSpPr>
          <p:cNvPr id="14" name="Text 10"/>
          <p:cNvSpPr txBox="1"/>
          <p:nvPr/>
        </p:nvSpPr>
        <p:spPr>
          <a:xfrm>
            <a:off x="685800" y="3218688"/>
            <a:ext cx="2468880" cy="310896"/>
          </a:xfrm>
          <a:prstGeom prst="rect">
            <a:avLst/>
          </a:prstGeom>
          <a:noFill/>
          <a:ln/>
        </p:spPr>
        <p:txBody>
          <a:bodyPr wrap="square" lIns="0" tIns="0" rIns="0" bIns="0" rtlCol="0" anchor="t"/>
          <a:lstStyle/>
          <a:p>
            <a:pPr algn="ctr" indent="0" marL="0">
              <a:buNone/>
            </a:pPr>
            <a:r>
              <a:rPr lang="en-US" sz="750" i="1" dirty="0">
                <a:solidFill>
                  <a:srgbClr val="595959"/>
                </a:solidFill>
                <a:latin typeface="Arial" pitchFamily="34" charset="0"/>
                <a:ea typeface="Arial" pitchFamily="34" charset="-122"/>
                <a:cs typeface="Arial" pitchFamily="34" charset="-120"/>
              </a:rPr>
              <a:t>RBC Assist and Assist Pro first; Helios, AgilLink, Rovo AI, Foundry apps, and MCP tools follow</a:t>
            </a:r>
            <a:endParaRPr lang="en-US" sz="750" dirty="0"/>
          </a:p>
        </p:txBody>
      </p:sp>
      <p:sp>
        <p:nvSpPr>
          <p:cNvPr id="15" name="Text 11"/>
          <p:cNvSpPr txBox="1"/>
          <p:nvPr/>
        </p:nvSpPr>
        <p:spPr>
          <a:xfrm>
            <a:off x="685800" y="3749040"/>
            <a:ext cx="2468880" cy="1280160"/>
          </a:xfrm>
          <a:prstGeom prst="rect">
            <a:avLst/>
          </a:prstGeom>
          <a:solidFill>
            <a:srgbClr val="F2F2F2"/>
          </a:solidFill>
          <a:ln w="6350">
            <a:solidFill>
              <a:srgbClr val="7F7F7F"/>
            </a:solidFill>
          </a:ln>
        </p:spPr>
        <p:txBody>
          <a:bodyPr wrap="square" lIns="762" tIns="762" rIns="762" bIns="762" rtlCol="0" anchor="ctr"/>
          <a:lstStyle/>
          <a:p>
            <a:pPr algn="ctr" indent="0" marL="0">
              <a:buNone/>
            </a:pPr>
            <a:r>
              <a:rPr lang="en-US" sz="850" dirty="0">
                <a:solidFill>
                  <a:srgbClr val="333333"/>
                </a:solidFill>
                <a:latin typeface="Arial" pitchFamily="34" charset="0"/>
                <a:ea typeface="Arial" pitchFamily="34" charset="-122"/>
                <a:cs typeface="Arial" pitchFamily="34" charset="-120"/>
              </a:rPr>
              <a:t>RBC Assist and RBC Assist Pro initiate the control first, with remaining CNB AI tools (e.g. Helios) to follow through the V2 release. Vendor hosted applications are observed through vendor exports, identity, and data side access records.</a:t>
            </a:r>
            <a:endParaRPr lang="en-US" sz="850" dirty="0"/>
          </a:p>
        </p:txBody>
      </p:sp>
      <p:sp>
        <p:nvSpPr>
          <p:cNvPr id="16" name="Shape 12"/>
          <p:cNvSpPr/>
          <p:nvPr/>
        </p:nvSpPr>
        <p:spPr>
          <a:xfrm>
            <a:off x="4206240" y="1417320"/>
            <a:ext cx="3383280" cy="2148840"/>
          </a:xfrm>
          <a:prstGeom prst="rect">
            <a:avLst/>
          </a:prstGeom>
          <a:solidFill>
            <a:srgbClr val="D6E6F5"/>
          </a:solidFill>
          <a:ln w="12700">
            <a:solidFill>
              <a:srgbClr val="D6E6F5"/>
            </a:solidFill>
            <a:prstDash val="solid"/>
          </a:ln>
        </p:spPr>
      </p:sp>
      <p:sp>
        <p:nvSpPr>
          <p:cNvPr id="17" name="Text 13"/>
          <p:cNvSpPr txBox="1"/>
          <p:nvPr/>
        </p:nvSpPr>
        <p:spPr>
          <a:xfrm>
            <a:off x="4297680" y="1490472"/>
            <a:ext cx="320040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Monitoring Inputs</a:t>
            </a:r>
            <a:endParaRPr lang="en-US" sz="1300" dirty="0"/>
          </a:p>
        </p:txBody>
      </p:sp>
      <p:sp>
        <p:nvSpPr>
          <p:cNvPr id="18" name="Text 14"/>
          <p:cNvSpPr txBox="1"/>
          <p:nvPr/>
        </p:nvSpPr>
        <p:spPr>
          <a:xfrm>
            <a:off x="4434840" y="1828800"/>
            <a:ext cx="2926080" cy="292608"/>
          </a:xfrm>
          <a:prstGeom prst="roundRect">
            <a:avLst>
              <a:gd name="adj" fmla="val 15625"/>
            </a:avLst>
          </a:prstGeom>
          <a:solidFill>
            <a:srgbClr val="8C8C8C"/>
          </a:solidFill>
          <a:ln w="6350">
            <a:solidFill>
              <a:srgbClr val="8C8C8C"/>
            </a:solidFill>
          </a:ln>
        </p:spPr>
        <p:txBody>
          <a:bodyPr wrap="square" lIns="381" tIns="381" rIns="381" bIns="381"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Key Words</a:t>
            </a:r>
            <a:endParaRPr lang="en-US" sz="950" dirty="0"/>
          </a:p>
        </p:txBody>
      </p:sp>
      <p:sp>
        <p:nvSpPr>
          <p:cNvPr id="19" name="Text 15"/>
          <p:cNvSpPr txBox="1"/>
          <p:nvPr/>
        </p:nvSpPr>
        <p:spPr>
          <a:xfrm>
            <a:off x="4434840" y="2167128"/>
            <a:ext cx="2926080" cy="292608"/>
          </a:xfrm>
          <a:prstGeom prst="roundRect">
            <a:avLst>
              <a:gd name="adj" fmla="val 15625"/>
            </a:avLst>
          </a:prstGeom>
          <a:solidFill>
            <a:srgbClr val="8C8C8C"/>
          </a:solidFill>
          <a:ln w="6350">
            <a:solidFill>
              <a:srgbClr val="8C8C8C"/>
            </a:solidFill>
          </a:ln>
        </p:spPr>
        <p:txBody>
          <a:bodyPr wrap="square" lIns="381" tIns="381" rIns="381" bIns="381"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Toxic Combinations</a:t>
            </a:r>
            <a:endParaRPr lang="en-US" sz="950" dirty="0"/>
          </a:p>
        </p:txBody>
      </p:sp>
      <p:sp>
        <p:nvSpPr>
          <p:cNvPr id="20" name="Text 16"/>
          <p:cNvSpPr txBox="1"/>
          <p:nvPr/>
        </p:nvSpPr>
        <p:spPr>
          <a:xfrm>
            <a:off x="4434840" y="2505456"/>
            <a:ext cx="2926080" cy="292608"/>
          </a:xfrm>
          <a:prstGeom prst="roundRect">
            <a:avLst>
              <a:gd name="adj" fmla="val 15625"/>
            </a:avLst>
          </a:prstGeom>
          <a:solidFill>
            <a:srgbClr val="8C8C8C"/>
          </a:solidFill>
          <a:ln w="6350">
            <a:solidFill>
              <a:srgbClr val="8C8C8C"/>
            </a:solidFill>
          </a:ln>
        </p:spPr>
        <p:txBody>
          <a:bodyPr wrap="square" lIns="381" tIns="381" rIns="381" bIns="381"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Sentiment Refinement</a:t>
            </a:r>
            <a:endParaRPr lang="en-US" sz="950" dirty="0"/>
          </a:p>
        </p:txBody>
      </p:sp>
      <p:pic>
        <p:nvPicPr>
          <p:cNvPr id="21" name="Image 2" descr="preencoded.png">    </p:cNvPr>
          <p:cNvPicPr>
            <a:picLocks noChangeAspect="1"/>
          </p:cNvPicPr>
          <p:nvPr/>
        </p:nvPicPr>
        <p:blipFill>
          <a:blip r:embed="rId3"/>
          <a:stretch>
            <a:fillRect/>
          </a:stretch>
        </p:blipFill>
        <p:spPr>
          <a:xfrm>
            <a:off x="4572000" y="3063240"/>
            <a:ext cx="237744" cy="237744"/>
          </a:xfrm>
          <a:prstGeom prst="rect">
            <a:avLst/>
          </a:prstGeom>
        </p:spPr>
      </p:pic>
      <p:pic>
        <p:nvPicPr>
          <p:cNvPr id="22" name="Image 3" descr="preencoded.png">    </p:cNvPr>
          <p:cNvPicPr>
            <a:picLocks noChangeAspect="1"/>
          </p:cNvPicPr>
          <p:nvPr/>
        </p:nvPicPr>
        <p:blipFill>
          <a:blip r:embed="rId4"/>
          <a:stretch>
            <a:fillRect/>
          </a:stretch>
        </p:blipFill>
        <p:spPr>
          <a:xfrm>
            <a:off x="4901184" y="3063240"/>
            <a:ext cx="237744" cy="237744"/>
          </a:xfrm>
          <a:prstGeom prst="rect">
            <a:avLst/>
          </a:prstGeom>
        </p:spPr>
      </p:pic>
      <p:pic>
        <p:nvPicPr>
          <p:cNvPr id="23" name="Image 4" descr="preencoded.png">    </p:cNvPr>
          <p:cNvPicPr>
            <a:picLocks noChangeAspect="1"/>
          </p:cNvPicPr>
          <p:nvPr/>
        </p:nvPicPr>
        <p:blipFill>
          <a:blip r:embed="rId5"/>
          <a:stretch>
            <a:fillRect/>
          </a:stretch>
        </p:blipFill>
        <p:spPr>
          <a:xfrm>
            <a:off x="5230368" y="3063240"/>
            <a:ext cx="237744" cy="237744"/>
          </a:xfrm>
          <a:prstGeom prst="rect">
            <a:avLst/>
          </a:prstGeom>
        </p:spPr>
      </p:pic>
      <p:pic>
        <p:nvPicPr>
          <p:cNvPr id="24" name="Image 5" descr="preencoded.png">    </p:cNvPr>
          <p:cNvPicPr>
            <a:picLocks noChangeAspect="1"/>
          </p:cNvPicPr>
          <p:nvPr/>
        </p:nvPicPr>
        <p:blipFill>
          <a:blip r:embed="rId6"/>
          <a:stretch>
            <a:fillRect/>
          </a:stretch>
        </p:blipFill>
        <p:spPr>
          <a:xfrm>
            <a:off x="5559552" y="3063240"/>
            <a:ext cx="237744" cy="237744"/>
          </a:xfrm>
          <a:prstGeom prst="rect">
            <a:avLst/>
          </a:prstGeom>
        </p:spPr>
      </p:pic>
      <p:pic>
        <p:nvPicPr>
          <p:cNvPr id="25" name="Image 6" descr="preencoded.png">    </p:cNvPr>
          <p:cNvPicPr>
            <a:picLocks noChangeAspect="1"/>
          </p:cNvPicPr>
          <p:nvPr/>
        </p:nvPicPr>
        <p:blipFill>
          <a:blip r:embed="rId7"/>
          <a:stretch>
            <a:fillRect/>
          </a:stretch>
        </p:blipFill>
        <p:spPr>
          <a:xfrm>
            <a:off x="5888736" y="3063240"/>
            <a:ext cx="237744" cy="237744"/>
          </a:xfrm>
          <a:prstGeom prst="rect">
            <a:avLst/>
          </a:prstGeom>
        </p:spPr>
      </p:pic>
      <p:pic>
        <p:nvPicPr>
          <p:cNvPr id="26" name="Image 7" descr="preencoded.png">    </p:cNvPr>
          <p:cNvPicPr>
            <a:picLocks noChangeAspect="1"/>
          </p:cNvPicPr>
          <p:nvPr/>
        </p:nvPicPr>
        <p:blipFill>
          <a:blip r:embed="rId8"/>
          <a:stretch>
            <a:fillRect/>
          </a:stretch>
        </p:blipFill>
        <p:spPr>
          <a:xfrm>
            <a:off x="6217920" y="3063240"/>
            <a:ext cx="237744" cy="237744"/>
          </a:xfrm>
          <a:prstGeom prst="rect">
            <a:avLst/>
          </a:prstGeom>
        </p:spPr>
      </p:pic>
      <p:pic>
        <p:nvPicPr>
          <p:cNvPr id="27" name="Image 8" descr="preencoded.png">    </p:cNvPr>
          <p:cNvPicPr>
            <a:picLocks noChangeAspect="1"/>
          </p:cNvPicPr>
          <p:nvPr/>
        </p:nvPicPr>
        <p:blipFill>
          <a:blip r:embed="rId9"/>
          <a:stretch>
            <a:fillRect/>
          </a:stretch>
        </p:blipFill>
        <p:spPr>
          <a:xfrm>
            <a:off x="6547104" y="3063240"/>
            <a:ext cx="237744" cy="237744"/>
          </a:xfrm>
          <a:prstGeom prst="rect">
            <a:avLst/>
          </a:prstGeom>
        </p:spPr>
      </p:pic>
      <p:pic>
        <p:nvPicPr>
          <p:cNvPr id="28" name="Image 9" descr="preencoded.png">    </p:cNvPr>
          <p:cNvPicPr>
            <a:picLocks noChangeAspect="1"/>
          </p:cNvPicPr>
          <p:nvPr/>
        </p:nvPicPr>
        <p:blipFill>
          <a:blip r:embed="rId10"/>
          <a:stretch>
            <a:fillRect/>
          </a:stretch>
        </p:blipFill>
        <p:spPr>
          <a:xfrm>
            <a:off x="6876288" y="3063240"/>
            <a:ext cx="237744" cy="237744"/>
          </a:xfrm>
          <a:prstGeom prst="rect">
            <a:avLst/>
          </a:prstGeom>
        </p:spPr>
      </p:pic>
      <p:sp>
        <p:nvSpPr>
          <p:cNvPr id="29" name="Shape 17"/>
          <p:cNvSpPr/>
          <p:nvPr/>
        </p:nvSpPr>
        <p:spPr>
          <a:xfrm rot="10800000">
            <a:off x="5669280" y="3584448"/>
            <a:ext cx="457200" cy="164592"/>
          </a:xfrm>
          <a:prstGeom prst="triangle">
            <a:avLst/>
          </a:prstGeom>
          <a:solidFill>
            <a:srgbClr val="BFBFBF"/>
          </a:solidFill>
          <a:ln w="12700">
            <a:solidFill>
              <a:srgbClr val="BFBFBF"/>
            </a:solidFill>
            <a:prstDash val="solid"/>
          </a:ln>
        </p:spPr>
      </p:sp>
      <p:sp>
        <p:nvSpPr>
          <p:cNvPr id="30" name="Shape 18"/>
          <p:cNvSpPr/>
          <p:nvPr/>
        </p:nvSpPr>
        <p:spPr>
          <a:xfrm>
            <a:off x="4206240" y="3767328"/>
            <a:ext cx="3383280" cy="1627632"/>
          </a:xfrm>
          <a:prstGeom prst="rect">
            <a:avLst/>
          </a:prstGeom>
          <a:solidFill>
            <a:srgbClr val="FFFFFF"/>
          </a:solidFill>
          <a:ln w="9525">
            <a:solidFill>
              <a:srgbClr val="7F7F7F"/>
            </a:solidFill>
            <a:prstDash val="dash"/>
          </a:ln>
        </p:spPr>
      </p:sp>
      <p:sp>
        <p:nvSpPr>
          <p:cNvPr id="31" name="Text 19"/>
          <p:cNvSpPr txBox="1"/>
          <p:nvPr/>
        </p:nvSpPr>
        <p:spPr>
          <a:xfrm>
            <a:off x="4297680" y="3822192"/>
            <a:ext cx="320040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Monitoring</a:t>
            </a:r>
            <a:endParaRPr lang="en-US" sz="1300" dirty="0"/>
          </a:p>
        </p:txBody>
      </p:sp>
      <p:pic>
        <p:nvPicPr>
          <p:cNvPr id="32" name="Image 10" descr="preencoded.png">    </p:cNvPr>
          <p:cNvPicPr>
            <a:picLocks noChangeAspect="1"/>
          </p:cNvPicPr>
          <p:nvPr/>
        </p:nvPicPr>
        <p:blipFill>
          <a:blip r:embed="rId11"/>
          <a:stretch>
            <a:fillRect/>
          </a:stretch>
        </p:blipFill>
        <p:spPr>
          <a:xfrm>
            <a:off x="7223760" y="3803904"/>
            <a:ext cx="256032" cy="256032"/>
          </a:xfrm>
          <a:prstGeom prst="rect">
            <a:avLst/>
          </a:prstGeom>
        </p:spPr>
      </p:pic>
      <p:sp>
        <p:nvSpPr>
          <p:cNvPr id="33" name="Text 20"/>
          <p:cNvSpPr txBox="1"/>
          <p:nvPr/>
        </p:nvSpPr>
        <p:spPr>
          <a:xfrm>
            <a:off x="4434840" y="4133088"/>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Interaction Logging: OpenTelemetry traces to Datadog and Snowflake</a:t>
            </a:r>
            <a:endParaRPr lang="en-US" sz="850" dirty="0"/>
          </a:p>
        </p:txBody>
      </p:sp>
      <p:sp>
        <p:nvSpPr>
          <p:cNvPr id="34" name="Text 21"/>
          <p:cNvSpPr txBox="1"/>
          <p:nvPr/>
        </p:nvSpPr>
        <p:spPr>
          <a:xfrm>
            <a:off x="4434840" y="4507992"/>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Key Word Match on logged interactions</a:t>
            </a:r>
            <a:endParaRPr lang="en-US" sz="850" dirty="0"/>
          </a:p>
        </p:txBody>
      </p:sp>
      <p:sp>
        <p:nvSpPr>
          <p:cNvPr id="35" name="Text 22"/>
          <p:cNvSpPr txBox="1"/>
          <p:nvPr/>
        </p:nvSpPr>
        <p:spPr>
          <a:xfrm>
            <a:off x="4434840" y="4882896"/>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Report Generation: Snowflake audit views and Datadog monitors</a:t>
            </a:r>
            <a:endParaRPr lang="en-US" sz="850" dirty="0"/>
          </a:p>
        </p:txBody>
      </p:sp>
      <p:pic>
        <p:nvPicPr>
          <p:cNvPr id="36" name="Image 11" descr="preencoded.png">    </p:cNvPr>
          <p:cNvPicPr>
            <a:picLocks noChangeAspect="1"/>
          </p:cNvPicPr>
          <p:nvPr/>
        </p:nvPicPr>
        <p:blipFill>
          <a:blip r:embed="rId12"/>
          <a:stretch>
            <a:fillRect/>
          </a:stretch>
        </p:blipFill>
        <p:spPr>
          <a:xfrm>
            <a:off x="3611880" y="4206240"/>
            <a:ext cx="329184" cy="329184"/>
          </a:xfrm>
          <a:prstGeom prst="rect">
            <a:avLst/>
          </a:prstGeom>
        </p:spPr>
      </p:pic>
      <p:sp>
        <p:nvSpPr>
          <p:cNvPr id="37" name="Text 23"/>
          <p:cNvSpPr txBox="1"/>
          <p:nvPr/>
        </p:nvSpPr>
        <p:spPr>
          <a:xfrm>
            <a:off x="3438144" y="4553712"/>
            <a:ext cx="676656" cy="365760"/>
          </a:xfrm>
          <a:prstGeom prst="rect">
            <a:avLst/>
          </a:prstGeom>
          <a:noFill/>
          <a:ln/>
        </p:spPr>
        <p:txBody>
          <a:bodyPr wrap="square" lIns="0" tIns="0" rIns="0" bIns="0" rtlCol="0" anchor="t"/>
          <a:lstStyle/>
          <a:p>
            <a:pPr algn="ctr" indent="0" marL="0">
              <a:buNone/>
            </a:pPr>
            <a:r>
              <a:rPr lang="en-US" sz="700" dirty="0">
                <a:solidFill>
                  <a:srgbClr val="333333"/>
                </a:solidFill>
                <a:latin typeface="Arial" pitchFamily="34" charset="0"/>
                <a:ea typeface="Arial" pitchFamily="34" charset="-122"/>
                <a:cs typeface="Arial" pitchFamily="34" charset="-120"/>
              </a:rPr>
              <a:t>logs</a:t>
            </a:r>
            <a:endParaRPr lang="en-US" sz="700" dirty="0"/>
          </a:p>
        </p:txBody>
      </p:sp>
      <p:sp>
        <p:nvSpPr>
          <p:cNvPr id="38" name="Shape 24"/>
          <p:cNvSpPr/>
          <p:nvPr/>
        </p:nvSpPr>
        <p:spPr>
          <a:xfrm>
            <a:off x="3383280" y="4754880"/>
            <a:ext cx="822960" cy="0"/>
          </a:xfrm>
          <a:prstGeom prst="line">
            <a:avLst/>
          </a:prstGeom>
          <a:noFill/>
          <a:ln w="15875">
            <a:solidFill>
              <a:srgbClr val="0B5CAD"/>
            </a:solidFill>
            <a:prstDash val="solid"/>
            <a:tailEnd type="triangle"/>
          </a:ln>
        </p:spPr>
      </p:sp>
      <p:pic>
        <p:nvPicPr>
          <p:cNvPr id="39" name="Image 12" descr="preencoded.png">    </p:cNvPr>
          <p:cNvPicPr>
            <a:picLocks noChangeAspect="1"/>
          </p:cNvPicPr>
          <p:nvPr/>
        </p:nvPicPr>
        <p:blipFill>
          <a:blip r:embed="rId13"/>
          <a:stretch>
            <a:fillRect/>
          </a:stretch>
        </p:blipFill>
        <p:spPr>
          <a:xfrm>
            <a:off x="7680960" y="4206240"/>
            <a:ext cx="329184" cy="329184"/>
          </a:xfrm>
          <a:prstGeom prst="rect">
            <a:avLst/>
          </a:prstGeom>
        </p:spPr>
      </p:pic>
      <p:sp>
        <p:nvSpPr>
          <p:cNvPr id="40" name="Text 25"/>
          <p:cNvSpPr txBox="1"/>
          <p:nvPr/>
        </p:nvSpPr>
        <p:spPr>
          <a:xfrm>
            <a:off x="7507224" y="4553712"/>
            <a:ext cx="676656" cy="365760"/>
          </a:xfrm>
          <a:prstGeom prst="rect">
            <a:avLst/>
          </a:prstGeom>
          <a:noFill/>
          <a:ln/>
        </p:spPr>
        <p:txBody>
          <a:bodyPr wrap="square" lIns="0" tIns="0" rIns="0" bIns="0" rtlCol="0" anchor="t"/>
          <a:lstStyle/>
          <a:p>
            <a:pPr algn="ctr" indent="0" marL="0">
              <a:buNone/>
            </a:pPr>
            <a:r>
              <a:rPr lang="en-US" sz="700" dirty="0">
                <a:solidFill>
                  <a:srgbClr val="333333"/>
                </a:solidFill>
                <a:latin typeface="Arial" pitchFamily="34" charset="0"/>
                <a:ea typeface="Arial" pitchFamily="34" charset="-122"/>
                <a:cs typeface="Arial" pitchFamily="34" charset="-120"/>
              </a:rPr>
              <a:t>Monitoring</a:t>
            </a:r>
            <a:endParaRPr lang="en-US" sz="700" dirty="0"/>
          </a:p>
          <a:p>
            <a:pPr algn="ctr" indent="0" marL="0">
              <a:buNone/>
            </a:pPr>
            <a:r>
              <a:rPr lang="en-US" sz="700" dirty="0">
                <a:solidFill>
                  <a:srgbClr val="333333"/>
                </a:solidFill>
                <a:latin typeface="Arial" pitchFamily="34" charset="0"/>
                <a:ea typeface="Arial" pitchFamily="34" charset="-122"/>
                <a:cs typeface="Arial" pitchFamily="34" charset="-120"/>
              </a:rPr>
              <a:t>Report</a:t>
            </a:r>
            <a:endParaRPr lang="en-US" sz="700" dirty="0"/>
          </a:p>
        </p:txBody>
      </p:sp>
      <p:sp>
        <p:nvSpPr>
          <p:cNvPr id="41" name="Shape 26"/>
          <p:cNvSpPr/>
          <p:nvPr/>
        </p:nvSpPr>
        <p:spPr>
          <a:xfrm>
            <a:off x="7589520" y="4754880"/>
            <a:ext cx="594360" cy="0"/>
          </a:xfrm>
          <a:prstGeom prst="line">
            <a:avLst/>
          </a:prstGeom>
          <a:noFill/>
          <a:ln w="15875">
            <a:solidFill>
              <a:srgbClr val="0B5CAD"/>
            </a:solidFill>
            <a:prstDash val="solid"/>
            <a:tailEnd type="triangle"/>
          </a:ln>
        </p:spPr>
      </p:sp>
      <p:sp>
        <p:nvSpPr>
          <p:cNvPr id="42" name="Shape 27"/>
          <p:cNvSpPr/>
          <p:nvPr/>
        </p:nvSpPr>
        <p:spPr>
          <a:xfrm>
            <a:off x="8183880" y="1417320"/>
            <a:ext cx="3566160" cy="3977640"/>
          </a:xfrm>
          <a:prstGeom prst="rect">
            <a:avLst/>
          </a:prstGeom>
          <a:solidFill>
            <a:srgbClr val="D6E6F5"/>
          </a:solidFill>
          <a:ln w="12700">
            <a:solidFill>
              <a:srgbClr val="D6E6F5"/>
            </a:solidFill>
            <a:prstDash val="solid"/>
          </a:ln>
        </p:spPr>
      </p:sp>
      <p:sp>
        <p:nvSpPr>
          <p:cNvPr id="43" name="Text 28"/>
          <p:cNvSpPr txBox="1"/>
          <p:nvPr/>
        </p:nvSpPr>
        <p:spPr>
          <a:xfrm>
            <a:off x="8275320" y="1490472"/>
            <a:ext cx="338328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Monitoring Review</a:t>
            </a:r>
            <a:endParaRPr lang="en-US" sz="1300" dirty="0"/>
          </a:p>
        </p:txBody>
      </p:sp>
      <p:pic>
        <p:nvPicPr>
          <p:cNvPr id="44" name="Image 13" descr="preencoded.png">    </p:cNvPr>
          <p:cNvPicPr>
            <a:picLocks noChangeAspect="1"/>
          </p:cNvPicPr>
          <p:nvPr/>
        </p:nvPicPr>
        <p:blipFill>
          <a:blip r:embed="rId14"/>
          <a:stretch>
            <a:fillRect/>
          </a:stretch>
        </p:blipFill>
        <p:spPr>
          <a:xfrm>
            <a:off x="8302752" y="1892808"/>
            <a:ext cx="274320" cy="274320"/>
          </a:xfrm>
          <a:prstGeom prst="rect">
            <a:avLst/>
          </a:prstGeom>
        </p:spPr>
      </p:pic>
      <p:sp>
        <p:nvSpPr>
          <p:cNvPr id="45" name="Text 29"/>
          <p:cNvSpPr txBox="1"/>
          <p:nvPr/>
        </p:nvSpPr>
        <p:spPr>
          <a:xfrm>
            <a:off x="8686800" y="1874520"/>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Key-Word Report Review</a:t>
            </a:r>
            <a:endParaRPr lang="en-US" sz="1000" dirty="0"/>
          </a:p>
        </p:txBody>
      </p:sp>
      <p:pic>
        <p:nvPicPr>
          <p:cNvPr id="46" name="Image 14" descr="preencoded.png">    </p:cNvPr>
          <p:cNvPicPr>
            <a:picLocks noChangeAspect="1"/>
          </p:cNvPicPr>
          <p:nvPr/>
        </p:nvPicPr>
        <p:blipFill>
          <a:blip r:embed="rId15"/>
          <a:stretch>
            <a:fillRect/>
          </a:stretch>
        </p:blipFill>
        <p:spPr>
          <a:xfrm>
            <a:off x="8302752" y="2496312"/>
            <a:ext cx="274320" cy="274320"/>
          </a:xfrm>
          <a:prstGeom prst="rect">
            <a:avLst/>
          </a:prstGeom>
        </p:spPr>
      </p:pic>
      <p:sp>
        <p:nvSpPr>
          <p:cNvPr id="47" name="Text 30"/>
          <p:cNvSpPr txBox="1"/>
          <p:nvPr/>
        </p:nvSpPr>
        <p:spPr>
          <a:xfrm>
            <a:off x="8686800" y="2478024"/>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New Pattern Identification</a:t>
            </a:r>
            <a:endParaRPr lang="en-US" sz="1000" dirty="0"/>
          </a:p>
        </p:txBody>
      </p:sp>
      <p:sp>
        <p:nvSpPr>
          <p:cNvPr id="48" name="Shape 31"/>
          <p:cNvSpPr/>
          <p:nvPr/>
        </p:nvSpPr>
        <p:spPr>
          <a:xfrm rot="10800000">
            <a:off x="9921240" y="2880360"/>
            <a:ext cx="457200" cy="164592"/>
          </a:xfrm>
          <a:prstGeom prst="triangle">
            <a:avLst/>
          </a:prstGeom>
          <a:solidFill>
            <a:srgbClr val="BFBFBF"/>
          </a:solidFill>
          <a:ln w="12700">
            <a:solidFill>
              <a:srgbClr val="BFBFBF"/>
            </a:solidFill>
            <a:prstDash val="solid"/>
          </a:ln>
        </p:spPr>
      </p:sp>
      <p:pic>
        <p:nvPicPr>
          <p:cNvPr id="49" name="Image 15" descr="preencoded.png">    </p:cNvPr>
          <p:cNvPicPr>
            <a:picLocks noChangeAspect="1"/>
          </p:cNvPicPr>
          <p:nvPr/>
        </p:nvPicPr>
        <p:blipFill>
          <a:blip r:embed="rId16"/>
          <a:stretch>
            <a:fillRect/>
          </a:stretch>
        </p:blipFill>
        <p:spPr>
          <a:xfrm>
            <a:off x="8302752" y="3099816"/>
            <a:ext cx="274320" cy="274320"/>
          </a:xfrm>
          <a:prstGeom prst="rect">
            <a:avLst/>
          </a:prstGeom>
        </p:spPr>
      </p:pic>
      <p:sp>
        <p:nvSpPr>
          <p:cNvPr id="50" name="Text 32"/>
          <p:cNvSpPr txBox="1"/>
          <p:nvPr/>
        </p:nvSpPr>
        <p:spPr>
          <a:xfrm>
            <a:off x="8686800" y="3081528"/>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Verification of AI Output</a:t>
            </a:r>
            <a:endParaRPr lang="en-US" sz="1000" dirty="0"/>
          </a:p>
        </p:txBody>
      </p:sp>
      <p:pic>
        <p:nvPicPr>
          <p:cNvPr id="51" name="Image 16" descr="preencoded.png">    </p:cNvPr>
          <p:cNvPicPr>
            <a:picLocks noChangeAspect="1"/>
          </p:cNvPicPr>
          <p:nvPr/>
        </p:nvPicPr>
        <p:blipFill>
          <a:blip r:embed="rId17"/>
          <a:stretch>
            <a:fillRect/>
          </a:stretch>
        </p:blipFill>
        <p:spPr>
          <a:xfrm>
            <a:off x="8302752" y="3703320"/>
            <a:ext cx="274320" cy="274320"/>
          </a:xfrm>
          <a:prstGeom prst="rect">
            <a:avLst/>
          </a:prstGeom>
        </p:spPr>
      </p:pic>
      <p:sp>
        <p:nvSpPr>
          <p:cNvPr id="52" name="Text 33"/>
          <p:cNvSpPr txBox="1"/>
          <p:nvPr/>
        </p:nvSpPr>
        <p:spPr>
          <a:xfrm>
            <a:off x="8686800" y="3685032"/>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Compliance Review</a:t>
            </a:r>
            <a:endParaRPr lang="en-US" sz="1000" dirty="0"/>
          </a:p>
        </p:txBody>
      </p:sp>
      <p:pic>
        <p:nvPicPr>
          <p:cNvPr id="53" name="Image 17" descr="preencoded.png">    </p:cNvPr>
          <p:cNvPicPr>
            <a:picLocks noChangeAspect="1"/>
          </p:cNvPicPr>
          <p:nvPr/>
        </p:nvPicPr>
        <p:blipFill>
          <a:blip r:embed="rId18"/>
          <a:stretch>
            <a:fillRect/>
          </a:stretch>
        </p:blipFill>
        <p:spPr>
          <a:xfrm>
            <a:off x="8302752" y="4306824"/>
            <a:ext cx="274320" cy="274320"/>
          </a:xfrm>
          <a:prstGeom prst="rect">
            <a:avLst/>
          </a:prstGeom>
        </p:spPr>
      </p:pic>
      <p:sp>
        <p:nvSpPr>
          <p:cNvPr id="54" name="Text 34"/>
          <p:cNvSpPr txBox="1"/>
          <p:nvPr/>
        </p:nvSpPr>
        <p:spPr>
          <a:xfrm>
            <a:off x="8686800" y="4288536"/>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Employee Action Initiation</a:t>
            </a:r>
            <a:endParaRPr lang="en-US" sz="1000" dirty="0"/>
          </a:p>
        </p:txBody>
      </p:sp>
      <p:pic>
        <p:nvPicPr>
          <p:cNvPr id="55" name="Image 18" descr="preencoded.png">    </p:cNvPr>
          <p:cNvPicPr>
            <a:picLocks noChangeAspect="1"/>
          </p:cNvPicPr>
          <p:nvPr/>
        </p:nvPicPr>
        <p:blipFill>
          <a:blip r:embed="rId19"/>
          <a:stretch>
            <a:fillRect/>
          </a:stretch>
        </p:blipFill>
        <p:spPr>
          <a:xfrm>
            <a:off x="10881360" y="4956048"/>
            <a:ext cx="292608" cy="292608"/>
          </a:xfrm>
          <a:prstGeom prst="rect">
            <a:avLst/>
          </a:prstGeom>
        </p:spPr>
      </p:pic>
      <p:sp>
        <p:nvSpPr>
          <p:cNvPr id="56" name="Text 35"/>
          <p:cNvSpPr txBox="1"/>
          <p:nvPr/>
        </p:nvSpPr>
        <p:spPr>
          <a:xfrm>
            <a:off x="11201400" y="4956048"/>
            <a:ext cx="640080" cy="292608"/>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End User</a:t>
            </a:r>
            <a:endParaRPr lang="en-US" sz="900" dirty="0"/>
          </a:p>
        </p:txBody>
      </p:sp>
      <p:sp>
        <p:nvSpPr>
          <p:cNvPr id="57" name="Text 36"/>
          <p:cNvSpPr txBox="1"/>
          <p:nvPr/>
        </p:nvSpPr>
        <p:spPr>
          <a:xfrm>
            <a:off x="457200" y="5440680"/>
            <a:ext cx="7589520" cy="274320"/>
          </a:xfrm>
          <a:prstGeom prst="rect">
            <a:avLst/>
          </a:prstGeom>
          <a:noFill/>
          <a:ln/>
        </p:spPr>
        <p:txBody>
          <a:bodyPr wrap="square" lIns="0" tIns="0" rIns="0" bIns="0" rtlCol="0" anchor="ctr"/>
          <a:lstStyle/>
          <a:p>
            <a:pPr indent="0" marL="0">
              <a:buNone/>
            </a:pPr>
            <a:r>
              <a:rPr lang="en-US" sz="800" i="1" dirty="0">
                <a:solidFill>
                  <a:srgbClr val="595959"/>
                </a:solidFill>
                <a:latin typeface="Arial" pitchFamily="34" charset="0"/>
                <a:ea typeface="Arial" pitchFamily="34" charset="-122"/>
                <a:cs typeface="Arial" pitchFamily="34" charset="-120"/>
              </a:rPr>
              <a:t>Telemetry: Apigee and Foundry traces, MCP tool logs, vendor exports, and RBC feeds enter the OpenTelemetry Collector, then Datadog (hot path) and Snowflake (system of record).</a:t>
            </a:r>
            <a:endParaRPr lang="en-US" sz="800" dirty="0"/>
          </a:p>
        </p:txBody>
      </p:sp>
      <p:sp>
        <p:nvSpPr>
          <p:cNvPr id="58" name="Text 37"/>
          <p:cNvSpPr txBox="1"/>
          <p:nvPr/>
        </p:nvSpPr>
        <p:spPr>
          <a:xfrm>
            <a:off x="457200" y="5760720"/>
            <a:ext cx="11274552" cy="384048"/>
          </a:xfrm>
          <a:prstGeom prst="rect">
            <a:avLst/>
          </a:prstGeom>
          <a:solidFill>
            <a:srgbClr val="0B5CAD"/>
          </a:solidFill>
          <a:ln w="6350">
            <a:solidFill>
              <a:srgbClr val="0B5CAD"/>
            </a:solidFill>
          </a:ln>
        </p:spPr>
        <p:txBody>
          <a:bodyPr wrap="square" lIns="635" tIns="635" rIns="635" bIns="635"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Quarterly: Pattern Review &amp; Key-Word Revision</a:t>
            </a:r>
            <a:endParaRPr lang="en-US" sz="1400" dirty="0"/>
          </a:p>
        </p:txBody>
      </p:sp>
      <p:sp>
        <p:nvSpPr>
          <p:cNvPr id="59" name="Text 38"/>
          <p:cNvSpPr txBox="1"/>
          <p:nvPr/>
        </p:nvSpPr>
        <p:spPr>
          <a:xfrm>
            <a:off x="502920" y="6263640"/>
            <a:ext cx="457200" cy="256032"/>
          </a:xfrm>
          <a:prstGeom prst="rect">
            <a:avLst/>
          </a:prstGeom>
          <a:noFill/>
          <a:ln/>
        </p:spPr>
        <p:txBody>
          <a:bodyPr wrap="square" lIns="0" tIns="0" rIns="0" bIns="0" rtlCol="0" anchor="ctr"/>
          <a:lstStyle/>
          <a:p>
            <a:pPr indent="0" marL="0">
              <a:buNone/>
            </a:pPr>
            <a:r>
              <a:rPr lang="en-US" sz="900" b="1" dirty="0">
                <a:solidFill>
                  <a:srgbClr val="333333"/>
                </a:solidFill>
                <a:latin typeface="Arial" pitchFamily="34" charset="0"/>
                <a:ea typeface="Arial" pitchFamily="34" charset="-122"/>
                <a:cs typeface="Arial" pitchFamily="34" charset="-120"/>
              </a:rPr>
              <a:t>Key:</a:t>
            </a:r>
            <a:endParaRPr lang="en-US" sz="900" dirty="0"/>
          </a:p>
        </p:txBody>
      </p:sp>
      <p:pic>
        <p:nvPicPr>
          <p:cNvPr id="60" name="Image 19" descr="preencoded.png">    </p:cNvPr>
          <p:cNvPicPr>
            <a:picLocks noChangeAspect="1"/>
          </p:cNvPicPr>
          <p:nvPr/>
        </p:nvPicPr>
        <p:blipFill>
          <a:blip r:embed="rId20"/>
          <a:stretch>
            <a:fillRect/>
          </a:stretch>
        </p:blipFill>
        <p:spPr>
          <a:xfrm>
            <a:off x="960120" y="6300216"/>
            <a:ext cx="182880" cy="182880"/>
          </a:xfrm>
          <a:prstGeom prst="rect">
            <a:avLst/>
          </a:prstGeom>
        </p:spPr>
      </p:pic>
      <p:sp>
        <p:nvSpPr>
          <p:cNvPr id="61" name="Text 39"/>
          <p:cNvSpPr txBox="1"/>
          <p:nvPr/>
        </p:nvSpPr>
        <p:spPr>
          <a:xfrm>
            <a:off x="1179576"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AI Agent</a:t>
            </a:r>
            <a:endParaRPr lang="en-US" sz="850" dirty="0"/>
          </a:p>
        </p:txBody>
      </p:sp>
      <p:pic>
        <p:nvPicPr>
          <p:cNvPr id="62" name="Image 20" descr="preencoded.png">    </p:cNvPr>
          <p:cNvPicPr>
            <a:picLocks noChangeAspect="1"/>
          </p:cNvPicPr>
          <p:nvPr/>
        </p:nvPicPr>
        <p:blipFill>
          <a:blip r:embed="rId21"/>
          <a:stretch>
            <a:fillRect/>
          </a:stretch>
        </p:blipFill>
        <p:spPr>
          <a:xfrm>
            <a:off x="1889150" y="6300216"/>
            <a:ext cx="182880" cy="182880"/>
          </a:xfrm>
          <a:prstGeom prst="rect">
            <a:avLst/>
          </a:prstGeom>
        </p:spPr>
      </p:pic>
      <p:sp>
        <p:nvSpPr>
          <p:cNvPr id="63" name="Text 40"/>
          <p:cNvSpPr txBox="1"/>
          <p:nvPr/>
        </p:nvSpPr>
        <p:spPr>
          <a:xfrm>
            <a:off x="2108606"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End User</a:t>
            </a:r>
            <a:endParaRPr lang="en-US" sz="850" dirty="0"/>
          </a:p>
        </p:txBody>
      </p:sp>
      <p:pic>
        <p:nvPicPr>
          <p:cNvPr id="64" name="Image 21" descr="preencoded.png">    </p:cNvPr>
          <p:cNvPicPr>
            <a:picLocks noChangeAspect="1"/>
          </p:cNvPicPr>
          <p:nvPr/>
        </p:nvPicPr>
        <p:blipFill>
          <a:blip r:embed="rId22"/>
          <a:stretch>
            <a:fillRect/>
          </a:stretch>
        </p:blipFill>
        <p:spPr>
          <a:xfrm>
            <a:off x="2818181" y="6300216"/>
            <a:ext cx="182880" cy="182880"/>
          </a:xfrm>
          <a:prstGeom prst="rect">
            <a:avLst/>
          </a:prstGeom>
        </p:spPr>
      </p:pic>
      <p:sp>
        <p:nvSpPr>
          <p:cNvPr id="65" name="Text 41"/>
          <p:cNvSpPr txBox="1"/>
          <p:nvPr/>
        </p:nvSpPr>
        <p:spPr>
          <a:xfrm>
            <a:off x="3037637"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T&amp;I Teams</a:t>
            </a:r>
            <a:endParaRPr lang="en-US" sz="850" dirty="0"/>
          </a:p>
        </p:txBody>
      </p:sp>
      <p:pic>
        <p:nvPicPr>
          <p:cNvPr id="66" name="Image 22" descr="preencoded.png">    </p:cNvPr>
          <p:cNvPicPr>
            <a:picLocks noChangeAspect="1"/>
          </p:cNvPicPr>
          <p:nvPr/>
        </p:nvPicPr>
        <p:blipFill>
          <a:blip r:embed="rId23"/>
          <a:stretch>
            <a:fillRect/>
          </a:stretch>
        </p:blipFill>
        <p:spPr>
          <a:xfrm>
            <a:off x="3803904" y="6300216"/>
            <a:ext cx="182880" cy="182880"/>
          </a:xfrm>
          <a:prstGeom prst="rect">
            <a:avLst/>
          </a:prstGeom>
        </p:spPr>
      </p:pic>
      <p:sp>
        <p:nvSpPr>
          <p:cNvPr id="67" name="Text 42"/>
          <p:cNvSpPr txBox="1"/>
          <p:nvPr/>
        </p:nvSpPr>
        <p:spPr>
          <a:xfrm>
            <a:off x="4023360"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AI Product Team</a:t>
            </a:r>
            <a:endParaRPr lang="en-US" sz="850" dirty="0"/>
          </a:p>
        </p:txBody>
      </p:sp>
      <p:pic>
        <p:nvPicPr>
          <p:cNvPr id="68" name="Image 23" descr="preencoded.png">    </p:cNvPr>
          <p:cNvPicPr>
            <a:picLocks noChangeAspect="1"/>
          </p:cNvPicPr>
          <p:nvPr/>
        </p:nvPicPr>
        <p:blipFill>
          <a:blip r:embed="rId24"/>
          <a:stretch>
            <a:fillRect/>
          </a:stretch>
        </p:blipFill>
        <p:spPr>
          <a:xfrm>
            <a:off x="5129784" y="6300216"/>
            <a:ext cx="182880" cy="182880"/>
          </a:xfrm>
          <a:prstGeom prst="rect">
            <a:avLst/>
          </a:prstGeom>
        </p:spPr>
      </p:pic>
      <p:sp>
        <p:nvSpPr>
          <p:cNvPr id="69" name="Text 43"/>
          <p:cNvSpPr txBox="1"/>
          <p:nvPr/>
        </p:nvSpPr>
        <p:spPr>
          <a:xfrm>
            <a:off x="5349240"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Risk Team</a:t>
            </a:r>
            <a:endParaRPr lang="en-US" sz="850" dirty="0"/>
          </a:p>
        </p:txBody>
      </p:sp>
      <p:pic>
        <p:nvPicPr>
          <p:cNvPr id="70" name="Image 24" descr="preencoded.png">    </p:cNvPr>
          <p:cNvPicPr>
            <a:picLocks noChangeAspect="1"/>
          </p:cNvPicPr>
          <p:nvPr/>
        </p:nvPicPr>
        <p:blipFill>
          <a:blip r:embed="rId25"/>
          <a:stretch>
            <a:fillRect/>
          </a:stretch>
        </p:blipFill>
        <p:spPr>
          <a:xfrm>
            <a:off x="6115507" y="6300216"/>
            <a:ext cx="182880" cy="182880"/>
          </a:xfrm>
          <a:prstGeom prst="rect">
            <a:avLst/>
          </a:prstGeom>
        </p:spPr>
      </p:pic>
      <p:sp>
        <p:nvSpPr>
          <p:cNvPr id="71" name="Text 44"/>
          <p:cNvSpPr txBox="1"/>
          <p:nvPr/>
        </p:nvSpPr>
        <p:spPr>
          <a:xfrm>
            <a:off x="6334963"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Audit Team</a:t>
            </a:r>
            <a:endParaRPr lang="en-US" sz="850" dirty="0"/>
          </a:p>
        </p:txBody>
      </p:sp>
      <p:pic>
        <p:nvPicPr>
          <p:cNvPr id="72" name="Image 25" descr="preencoded.png">    </p:cNvPr>
          <p:cNvPicPr>
            <a:picLocks noChangeAspect="1"/>
          </p:cNvPicPr>
          <p:nvPr/>
        </p:nvPicPr>
        <p:blipFill>
          <a:blip r:embed="rId26"/>
          <a:stretch>
            <a:fillRect/>
          </a:stretch>
        </p:blipFill>
        <p:spPr>
          <a:xfrm>
            <a:off x="7157923" y="6300216"/>
            <a:ext cx="182880" cy="182880"/>
          </a:xfrm>
          <a:prstGeom prst="rect">
            <a:avLst/>
          </a:prstGeom>
        </p:spPr>
      </p:pic>
      <p:sp>
        <p:nvSpPr>
          <p:cNvPr id="73" name="Text 45"/>
          <p:cNvSpPr txBox="1"/>
          <p:nvPr/>
        </p:nvSpPr>
        <p:spPr>
          <a:xfrm>
            <a:off x="7377379"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Business SMAs</a:t>
            </a:r>
            <a:endParaRPr lang="en-US" sz="850" dirty="0"/>
          </a:p>
        </p:txBody>
      </p:sp>
      <p:pic>
        <p:nvPicPr>
          <p:cNvPr id="74" name="Image 26" descr="preencoded.png">    </p:cNvPr>
          <p:cNvPicPr>
            <a:picLocks noChangeAspect="1"/>
          </p:cNvPicPr>
          <p:nvPr/>
        </p:nvPicPr>
        <p:blipFill>
          <a:blip r:embed="rId27"/>
          <a:stretch>
            <a:fillRect/>
          </a:stretch>
        </p:blipFill>
        <p:spPr>
          <a:xfrm>
            <a:off x="8370418" y="6300216"/>
            <a:ext cx="182880" cy="182880"/>
          </a:xfrm>
          <a:prstGeom prst="rect">
            <a:avLst/>
          </a:prstGeom>
        </p:spPr>
      </p:pic>
      <p:sp>
        <p:nvSpPr>
          <p:cNvPr id="75" name="Text 46"/>
          <p:cNvSpPr txBox="1"/>
          <p:nvPr/>
        </p:nvSpPr>
        <p:spPr>
          <a:xfrm>
            <a:off x="8589874"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RBC Borealis</a:t>
            </a:r>
            <a:endParaRPr lang="en-US" sz="850" dirty="0"/>
          </a:p>
        </p:txBody>
      </p:sp>
      <p:pic>
        <p:nvPicPr>
          <p:cNvPr id="76" name="Image 27" descr="preencoded.png">    </p:cNvPr>
          <p:cNvPicPr>
            <a:picLocks noChangeAspect="1"/>
          </p:cNvPicPr>
          <p:nvPr/>
        </p:nvPicPr>
        <p:blipFill>
          <a:blip r:embed="rId28"/>
          <a:stretch>
            <a:fillRect/>
          </a:stretch>
        </p:blipFill>
        <p:spPr>
          <a:xfrm>
            <a:off x="9526219" y="6300216"/>
            <a:ext cx="182880" cy="182880"/>
          </a:xfrm>
          <a:prstGeom prst="rect">
            <a:avLst/>
          </a:prstGeom>
        </p:spPr>
      </p:pic>
      <p:sp>
        <p:nvSpPr>
          <p:cNvPr id="77" name="Text 47"/>
          <p:cNvSpPr txBox="1"/>
          <p:nvPr/>
        </p:nvSpPr>
        <p:spPr>
          <a:xfrm>
            <a:off x="9745675"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Compliance Team</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AI Monitoring and Observability V2</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In-line control: warnings, suspensions, and gateway enforcement</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12</a:t>
            </a:r>
            <a:endParaRPr lang="en-US" sz="1000" dirty="0"/>
          </a:p>
        </p:txBody>
      </p:sp>
      <p:pic>
        <p:nvPicPr>
          <p:cNvPr id="7" name="Image 1" descr="preencoded.png">    </p:cNvPr>
          <p:cNvPicPr>
            <a:picLocks noChangeAspect="1"/>
          </p:cNvPicPr>
          <p:nvPr/>
        </p:nvPicPr>
        <p:blipFill>
          <a:blip r:embed="rId2"/>
          <a:stretch>
            <a:fillRect/>
          </a:stretch>
        </p:blipFill>
        <p:spPr>
          <a:xfrm>
            <a:off x="640080" y="1417320"/>
            <a:ext cx="384048" cy="384048"/>
          </a:xfrm>
          <a:prstGeom prst="rect">
            <a:avLst/>
          </a:prstGeom>
        </p:spPr>
      </p:pic>
      <p:sp>
        <p:nvSpPr>
          <p:cNvPr id="8" name="Text 4"/>
          <p:cNvSpPr txBox="1"/>
          <p:nvPr/>
        </p:nvSpPr>
        <p:spPr>
          <a:xfrm>
            <a:off x="1097280" y="1417320"/>
            <a:ext cx="1371600" cy="384048"/>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End User</a:t>
            </a:r>
            <a:endParaRPr lang="en-US" sz="1400" dirty="0"/>
          </a:p>
        </p:txBody>
      </p:sp>
      <p:sp>
        <p:nvSpPr>
          <p:cNvPr id="9" name="Shape 5"/>
          <p:cNvSpPr/>
          <p:nvPr/>
        </p:nvSpPr>
        <p:spPr>
          <a:xfrm rot="10800000">
            <a:off x="914400" y="1847088"/>
            <a:ext cx="457200" cy="164592"/>
          </a:xfrm>
          <a:prstGeom prst="triangle">
            <a:avLst/>
          </a:prstGeom>
          <a:solidFill>
            <a:srgbClr val="BFBFBF"/>
          </a:solidFill>
          <a:ln w="12700">
            <a:solidFill>
              <a:srgbClr val="BFBFBF"/>
            </a:solidFill>
            <a:prstDash val="solid"/>
          </a:ln>
        </p:spPr>
      </p:sp>
      <p:sp>
        <p:nvSpPr>
          <p:cNvPr id="10" name="Shape 6"/>
          <p:cNvSpPr/>
          <p:nvPr/>
        </p:nvSpPr>
        <p:spPr>
          <a:xfrm>
            <a:off x="457200" y="2103120"/>
            <a:ext cx="2926080" cy="3246120"/>
          </a:xfrm>
          <a:prstGeom prst="rect">
            <a:avLst/>
          </a:prstGeom>
          <a:solidFill>
            <a:srgbClr val="FFFFFF"/>
          </a:solidFill>
          <a:ln w="9525">
            <a:solidFill>
              <a:srgbClr val="7F7F7F"/>
            </a:solidFill>
            <a:prstDash val="dash"/>
          </a:ln>
        </p:spPr>
      </p:sp>
      <p:sp>
        <p:nvSpPr>
          <p:cNvPr id="11" name="Text 7"/>
          <p:cNvSpPr txBox="1"/>
          <p:nvPr/>
        </p:nvSpPr>
        <p:spPr>
          <a:xfrm>
            <a:off x="548640" y="2157984"/>
            <a:ext cx="274320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Generative / Agentic Tool</a:t>
            </a:r>
            <a:endParaRPr lang="en-US" sz="1300" dirty="0"/>
          </a:p>
        </p:txBody>
      </p:sp>
      <p:sp>
        <p:nvSpPr>
          <p:cNvPr id="12" name="Text 8"/>
          <p:cNvSpPr txBox="1"/>
          <p:nvPr/>
        </p:nvSpPr>
        <p:spPr>
          <a:xfrm>
            <a:off x="685800" y="2514600"/>
            <a:ext cx="2468880" cy="310896"/>
          </a:xfrm>
          <a:prstGeom prst="roundRect">
            <a:avLst>
              <a:gd name="adj" fmla="val 14706"/>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Chat Interface</a:t>
            </a:r>
            <a:endParaRPr lang="en-US" sz="1000" dirty="0"/>
          </a:p>
        </p:txBody>
      </p:sp>
      <p:sp>
        <p:nvSpPr>
          <p:cNvPr id="13" name="Text 9"/>
          <p:cNvSpPr txBox="1"/>
          <p:nvPr/>
        </p:nvSpPr>
        <p:spPr>
          <a:xfrm>
            <a:off x="685800" y="2880360"/>
            <a:ext cx="2468880" cy="310896"/>
          </a:xfrm>
          <a:prstGeom prst="roundRect">
            <a:avLst>
              <a:gd name="adj" fmla="val 14706"/>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Agent Builder</a:t>
            </a:r>
            <a:endParaRPr lang="en-US" sz="1000" dirty="0"/>
          </a:p>
        </p:txBody>
      </p:sp>
      <p:sp>
        <p:nvSpPr>
          <p:cNvPr id="14" name="Text 10"/>
          <p:cNvSpPr txBox="1"/>
          <p:nvPr/>
        </p:nvSpPr>
        <p:spPr>
          <a:xfrm>
            <a:off x="685800" y="3218688"/>
            <a:ext cx="2468880" cy="310896"/>
          </a:xfrm>
          <a:prstGeom prst="rect">
            <a:avLst/>
          </a:prstGeom>
          <a:noFill/>
          <a:ln/>
        </p:spPr>
        <p:txBody>
          <a:bodyPr wrap="square" lIns="0" tIns="0" rIns="0" bIns="0" rtlCol="0" anchor="t"/>
          <a:lstStyle/>
          <a:p>
            <a:pPr algn="ctr" indent="0" marL="0">
              <a:buNone/>
            </a:pPr>
            <a:r>
              <a:rPr lang="en-US" sz="750" i="1" dirty="0">
                <a:solidFill>
                  <a:srgbClr val="595959"/>
                </a:solidFill>
                <a:latin typeface="Arial" pitchFamily="34" charset="0"/>
                <a:ea typeface="Arial" pitchFamily="34" charset="-122"/>
                <a:cs typeface="Arial" pitchFamily="34" charset="-120"/>
              </a:rPr>
              <a:t>RBC Assist and Assist Pro first; Helios, AgilLink, Rovo AI, Foundry apps, and MCP tools follow</a:t>
            </a:r>
            <a:endParaRPr lang="en-US" sz="750" dirty="0"/>
          </a:p>
        </p:txBody>
      </p:sp>
      <p:sp>
        <p:nvSpPr>
          <p:cNvPr id="15" name="Shape 11"/>
          <p:cNvSpPr/>
          <p:nvPr/>
        </p:nvSpPr>
        <p:spPr>
          <a:xfrm rot="10800000">
            <a:off x="1691640" y="3547872"/>
            <a:ext cx="457200" cy="164592"/>
          </a:xfrm>
          <a:prstGeom prst="triangle">
            <a:avLst/>
          </a:prstGeom>
          <a:solidFill>
            <a:srgbClr val="BFBFBF"/>
          </a:solidFill>
          <a:ln w="12700">
            <a:solidFill>
              <a:srgbClr val="BFBFBF"/>
            </a:solidFill>
            <a:prstDash val="solid"/>
          </a:ln>
        </p:spPr>
      </p:sp>
      <p:sp>
        <p:nvSpPr>
          <p:cNvPr id="16" name="Text 12"/>
          <p:cNvSpPr txBox="1"/>
          <p:nvPr/>
        </p:nvSpPr>
        <p:spPr>
          <a:xfrm>
            <a:off x="685800" y="3749040"/>
            <a:ext cx="2468880" cy="301752"/>
          </a:xfrm>
          <a:prstGeom prst="roundRect">
            <a:avLst>
              <a:gd name="adj" fmla="val 15152"/>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In-Line Warning</a:t>
            </a:r>
            <a:endParaRPr lang="en-US" sz="950" dirty="0"/>
          </a:p>
        </p:txBody>
      </p:sp>
      <p:sp>
        <p:nvSpPr>
          <p:cNvPr id="17" name="Text 13"/>
          <p:cNvSpPr txBox="1"/>
          <p:nvPr/>
        </p:nvSpPr>
        <p:spPr>
          <a:xfrm>
            <a:off x="685800" y="4114800"/>
            <a:ext cx="2468880" cy="301752"/>
          </a:xfrm>
          <a:prstGeom prst="roundRect">
            <a:avLst>
              <a:gd name="adj" fmla="val 15152"/>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Temporary Suspension</a:t>
            </a:r>
            <a:endParaRPr lang="en-US" sz="950" dirty="0"/>
          </a:p>
        </p:txBody>
      </p:sp>
      <p:sp>
        <p:nvSpPr>
          <p:cNvPr id="18" name="Text 14"/>
          <p:cNvSpPr txBox="1"/>
          <p:nvPr/>
        </p:nvSpPr>
        <p:spPr>
          <a:xfrm>
            <a:off x="685800" y="4480560"/>
            <a:ext cx="2468880" cy="301752"/>
          </a:xfrm>
          <a:prstGeom prst="roundRect">
            <a:avLst>
              <a:gd name="adj" fmla="val 15152"/>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Escalation Notification</a:t>
            </a:r>
            <a:endParaRPr lang="en-US" sz="950" dirty="0"/>
          </a:p>
        </p:txBody>
      </p:sp>
      <p:sp>
        <p:nvSpPr>
          <p:cNvPr id="19" name="Text 15"/>
          <p:cNvSpPr txBox="1"/>
          <p:nvPr/>
        </p:nvSpPr>
        <p:spPr>
          <a:xfrm>
            <a:off x="685800" y="4846320"/>
            <a:ext cx="2468880" cy="301752"/>
          </a:xfrm>
          <a:prstGeom prst="roundRect">
            <a:avLst>
              <a:gd name="adj" fmla="val 15152"/>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Agent Deletion</a:t>
            </a:r>
            <a:endParaRPr lang="en-US" sz="950" dirty="0"/>
          </a:p>
        </p:txBody>
      </p:sp>
      <p:sp>
        <p:nvSpPr>
          <p:cNvPr id="20" name="Shape 16"/>
          <p:cNvSpPr/>
          <p:nvPr/>
        </p:nvSpPr>
        <p:spPr>
          <a:xfrm>
            <a:off x="4206240" y="1417320"/>
            <a:ext cx="3383280" cy="2148840"/>
          </a:xfrm>
          <a:prstGeom prst="rect">
            <a:avLst/>
          </a:prstGeom>
          <a:solidFill>
            <a:srgbClr val="D6E6F5"/>
          </a:solidFill>
          <a:ln w="12700">
            <a:solidFill>
              <a:srgbClr val="D6E6F5"/>
            </a:solidFill>
            <a:prstDash val="solid"/>
          </a:ln>
        </p:spPr>
      </p:sp>
      <p:sp>
        <p:nvSpPr>
          <p:cNvPr id="21" name="Text 17"/>
          <p:cNvSpPr txBox="1"/>
          <p:nvPr/>
        </p:nvSpPr>
        <p:spPr>
          <a:xfrm>
            <a:off x="4297680" y="1490472"/>
            <a:ext cx="320040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Monitoring Inputs</a:t>
            </a:r>
            <a:endParaRPr lang="en-US" sz="1300" dirty="0"/>
          </a:p>
        </p:txBody>
      </p:sp>
      <p:sp>
        <p:nvSpPr>
          <p:cNvPr id="22" name="Text 18"/>
          <p:cNvSpPr txBox="1"/>
          <p:nvPr/>
        </p:nvSpPr>
        <p:spPr>
          <a:xfrm>
            <a:off x="4434840" y="1828800"/>
            <a:ext cx="2926080" cy="292608"/>
          </a:xfrm>
          <a:prstGeom prst="roundRect">
            <a:avLst>
              <a:gd name="adj" fmla="val 15625"/>
            </a:avLst>
          </a:prstGeom>
          <a:solidFill>
            <a:srgbClr val="8C8C8C"/>
          </a:solidFill>
          <a:ln w="6350">
            <a:solidFill>
              <a:srgbClr val="8C8C8C"/>
            </a:solidFill>
          </a:ln>
        </p:spPr>
        <p:txBody>
          <a:bodyPr wrap="square" lIns="381" tIns="381" rIns="381" bIns="381"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Key Words and Semantic Filters</a:t>
            </a:r>
            <a:endParaRPr lang="en-US" sz="950" dirty="0"/>
          </a:p>
        </p:txBody>
      </p:sp>
      <p:sp>
        <p:nvSpPr>
          <p:cNvPr id="23" name="Text 19"/>
          <p:cNvSpPr txBox="1"/>
          <p:nvPr/>
        </p:nvSpPr>
        <p:spPr>
          <a:xfrm>
            <a:off x="4434840" y="2167128"/>
            <a:ext cx="2926080" cy="292608"/>
          </a:xfrm>
          <a:prstGeom prst="roundRect">
            <a:avLst>
              <a:gd name="adj" fmla="val 15625"/>
            </a:avLst>
          </a:prstGeom>
          <a:solidFill>
            <a:srgbClr val="8C8C8C"/>
          </a:solidFill>
          <a:ln w="6350">
            <a:solidFill>
              <a:srgbClr val="8C8C8C"/>
            </a:solidFill>
          </a:ln>
        </p:spPr>
        <p:txBody>
          <a:bodyPr wrap="square" lIns="381" tIns="381" rIns="381" bIns="381"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Toxic Combinations</a:t>
            </a:r>
            <a:endParaRPr lang="en-US" sz="950" dirty="0"/>
          </a:p>
        </p:txBody>
      </p:sp>
      <p:sp>
        <p:nvSpPr>
          <p:cNvPr id="24" name="Text 20"/>
          <p:cNvSpPr txBox="1"/>
          <p:nvPr/>
        </p:nvSpPr>
        <p:spPr>
          <a:xfrm>
            <a:off x="4434840" y="2505456"/>
            <a:ext cx="2926080" cy="292608"/>
          </a:xfrm>
          <a:prstGeom prst="roundRect">
            <a:avLst>
              <a:gd name="adj" fmla="val 15625"/>
            </a:avLst>
          </a:prstGeom>
          <a:solidFill>
            <a:srgbClr val="8C8C8C"/>
          </a:solidFill>
          <a:ln w="6350">
            <a:solidFill>
              <a:srgbClr val="8C8C8C"/>
            </a:solidFill>
          </a:ln>
        </p:spPr>
        <p:txBody>
          <a:bodyPr wrap="square" lIns="381" tIns="381" rIns="381" bIns="381"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Sentiment Refinement</a:t>
            </a:r>
            <a:endParaRPr lang="en-US" sz="950" dirty="0"/>
          </a:p>
        </p:txBody>
      </p:sp>
      <p:sp>
        <p:nvSpPr>
          <p:cNvPr id="25" name="Text 21"/>
          <p:cNvSpPr txBox="1"/>
          <p:nvPr/>
        </p:nvSpPr>
        <p:spPr>
          <a:xfrm>
            <a:off x="4434840" y="2843784"/>
            <a:ext cx="2926080" cy="292608"/>
          </a:xfrm>
          <a:prstGeom prst="roundRect">
            <a:avLst>
              <a:gd name="adj" fmla="val 15625"/>
            </a:avLst>
          </a:prstGeom>
          <a:solidFill>
            <a:srgbClr val="8C8C8C"/>
          </a:solidFill>
          <a:ln w="6350">
            <a:solidFill>
              <a:srgbClr val="8C8C8C"/>
            </a:solidFill>
          </a:ln>
        </p:spPr>
        <p:txBody>
          <a:bodyPr wrap="square" lIns="381" tIns="381" rIns="381" bIns="381"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Token Thresholds and Tool Allowlists</a:t>
            </a:r>
            <a:endParaRPr lang="en-US" sz="950" dirty="0"/>
          </a:p>
        </p:txBody>
      </p:sp>
      <p:pic>
        <p:nvPicPr>
          <p:cNvPr id="26" name="Image 2" descr="preencoded.png">    </p:cNvPr>
          <p:cNvPicPr>
            <a:picLocks noChangeAspect="1"/>
          </p:cNvPicPr>
          <p:nvPr/>
        </p:nvPicPr>
        <p:blipFill>
          <a:blip r:embed="rId3"/>
          <a:stretch>
            <a:fillRect/>
          </a:stretch>
        </p:blipFill>
        <p:spPr>
          <a:xfrm>
            <a:off x="4572000" y="3246120"/>
            <a:ext cx="237744" cy="237744"/>
          </a:xfrm>
          <a:prstGeom prst="rect">
            <a:avLst/>
          </a:prstGeom>
        </p:spPr>
      </p:pic>
      <p:pic>
        <p:nvPicPr>
          <p:cNvPr id="27" name="Image 3" descr="preencoded.png">    </p:cNvPr>
          <p:cNvPicPr>
            <a:picLocks noChangeAspect="1"/>
          </p:cNvPicPr>
          <p:nvPr/>
        </p:nvPicPr>
        <p:blipFill>
          <a:blip r:embed="rId4"/>
          <a:stretch>
            <a:fillRect/>
          </a:stretch>
        </p:blipFill>
        <p:spPr>
          <a:xfrm>
            <a:off x="4901184" y="3246120"/>
            <a:ext cx="237744" cy="237744"/>
          </a:xfrm>
          <a:prstGeom prst="rect">
            <a:avLst/>
          </a:prstGeom>
        </p:spPr>
      </p:pic>
      <p:pic>
        <p:nvPicPr>
          <p:cNvPr id="28" name="Image 4" descr="preencoded.png">    </p:cNvPr>
          <p:cNvPicPr>
            <a:picLocks noChangeAspect="1"/>
          </p:cNvPicPr>
          <p:nvPr/>
        </p:nvPicPr>
        <p:blipFill>
          <a:blip r:embed="rId5"/>
          <a:stretch>
            <a:fillRect/>
          </a:stretch>
        </p:blipFill>
        <p:spPr>
          <a:xfrm>
            <a:off x="5230368" y="3246120"/>
            <a:ext cx="237744" cy="237744"/>
          </a:xfrm>
          <a:prstGeom prst="rect">
            <a:avLst/>
          </a:prstGeom>
        </p:spPr>
      </p:pic>
      <p:pic>
        <p:nvPicPr>
          <p:cNvPr id="29" name="Image 5" descr="preencoded.png">    </p:cNvPr>
          <p:cNvPicPr>
            <a:picLocks noChangeAspect="1"/>
          </p:cNvPicPr>
          <p:nvPr/>
        </p:nvPicPr>
        <p:blipFill>
          <a:blip r:embed="rId6"/>
          <a:stretch>
            <a:fillRect/>
          </a:stretch>
        </p:blipFill>
        <p:spPr>
          <a:xfrm>
            <a:off x="5559552" y="3246120"/>
            <a:ext cx="237744" cy="237744"/>
          </a:xfrm>
          <a:prstGeom prst="rect">
            <a:avLst/>
          </a:prstGeom>
        </p:spPr>
      </p:pic>
      <p:pic>
        <p:nvPicPr>
          <p:cNvPr id="30" name="Image 6" descr="preencoded.png">    </p:cNvPr>
          <p:cNvPicPr>
            <a:picLocks noChangeAspect="1"/>
          </p:cNvPicPr>
          <p:nvPr/>
        </p:nvPicPr>
        <p:blipFill>
          <a:blip r:embed="rId7"/>
          <a:stretch>
            <a:fillRect/>
          </a:stretch>
        </p:blipFill>
        <p:spPr>
          <a:xfrm>
            <a:off x="5888736" y="3246120"/>
            <a:ext cx="237744" cy="237744"/>
          </a:xfrm>
          <a:prstGeom prst="rect">
            <a:avLst/>
          </a:prstGeom>
        </p:spPr>
      </p:pic>
      <p:pic>
        <p:nvPicPr>
          <p:cNvPr id="31" name="Image 7" descr="preencoded.png">    </p:cNvPr>
          <p:cNvPicPr>
            <a:picLocks noChangeAspect="1"/>
          </p:cNvPicPr>
          <p:nvPr/>
        </p:nvPicPr>
        <p:blipFill>
          <a:blip r:embed="rId8"/>
          <a:stretch>
            <a:fillRect/>
          </a:stretch>
        </p:blipFill>
        <p:spPr>
          <a:xfrm>
            <a:off x="6217920" y="3246120"/>
            <a:ext cx="237744" cy="237744"/>
          </a:xfrm>
          <a:prstGeom prst="rect">
            <a:avLst/>
          </a:prstGeom>
        </p:spPr>
      </p:pic>
      <p:pic>
        <p:nvPicPr>
          <p:cNvPr id="32" name="Image 8" descr="preencoded.png">    </p:cNvPr>
          <p:cNvPicPr>
            <a:picLocks noChangeAspect="1"/>
          </p:cNvPicPr>
          <p:nvPr/>
        </p:nvPicPr>
        <p:blipFill>
          <a:blip r:embed="rId9"/>
          <a:stretch>
            <a:fillRect/>
          </a:stretch>
        </p:blipFill>
        <p:spPr>
          <a:xfrm>
            <a:off x="6547104" y="3246120"/>
            <a:ext cx="237744" cy="237744"/>
          </a:xfrm>
          <a:prstGeom prst="rect">
            <a:avLst/>
          </a:prstGeom>
        </p:spPr>
      </p:pic>
      <p:pic>
        <p:nvPicPr>
          <p:cNvPr id="33" name="Image 9" descr="preencoded.png">    </p:cNvPr>
          <p:cNvPicPr>
            <a:picLocks noChangeAspect="1"/>
          </p:cNvPicPr>
          <p:nvPr/>
        </p:nvPicPr>
        <p:blipFill>
          <a:blip r:embed="rId10"/>
          <a:stretch>
            <a:fillRect/>
          </a:stretch>
        </p:blipFill>
        <p:spPr>
          <a:xfrm>
            <a:off x="6876288" y="3246120"/>
            <a:ext cx="237744" cy="237744"/>
          </a:xfrm>
          <a:prstGeom prst="rect">
            <a:avLst/>
          </a:prstGeom>
        </p:spPr>
      </p:pic>
      <p:sp>
        <p:nvSpPr>
          <p:cNvPr id="34" name="Shape 22"/>
          <p:cNvSpPr/>
          <p:nvPr/>
        </p:nvSpPr>
        <p:spPr>
          <a:xfrm rot="10800000">
            <a:off x="5669280" y="3584448"/>
            <a:ext cx="457200" cy="164592"/>
          </a:xfrm>
          <a:prstGeom prst="triangle">
            <a:avLst/>
          </a:prstGeom>
          <a:solidFill>
            <a:srgbClr val="BFBFBF"/>
          </a:solidFill>
          <a:ln w="12700">
            <a:solidFill>
              <a:srgbClr val="BFBFBF"/>
            </a:solidFill>
            <a:prstDash val="solid"/>
          </a:ln>
        </p:spPr>
      </p:sp>
      <p:sp>
        <p:nvSpPr>
          <p:cNvPr id="35" name="Shape 23"/>
          <p:cNvSpPr/>
          <p:nvPr/>
        </p:nvSpPr>
        <p:spPr>
          <a:xfrm>
            <a:off x="4206240" y="3767328"/>
            <a:ext cx="3383280" cy="1627632"/>
          </a:xfrm>
          <a:prstGeom prst="rect">
            <a:avLst/>
          </a:prstGeom>
          <a:solidFill>
            <a:srgbClr val="FFFFFF"/>
          </a:solidFill>
          <a:ln w="9525">
            <a:solidFill>
              <a:srgbClr val="7F7F7F"/>
            </a:solidFill>
            <a:prstDash val="dash"/>
          </a:ln>
        </p:spPr>
      </p:sp>
      <p:sp>
        <p:nvSpPr>
          <p:cNvPr id="36" name="Text 24"/>
          <p:cNvSpPr txBox="1"/>
          <p:nvPr/>
        </p:nvSpPr>
        <p:spPr>
          <a:xfrm>
            <a:off x="4297680" y="3822192"/>
            <a:ext cx="320040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Monitoring</a:t>
            </a:r>
            <a:endParaRPr lang="en-US" sz="1300" dirty="0"/>
          </a:p>
        </p:txBody>
      </p:sp>
      <p:pic>
        <p:nvPicPr>
          <p:cNvPr id="37" name="Image 10" descr="preencoded.png">    </p:cNvPr>
          <p:cNvPicPr>
            <a:picLocks noChangeAspect="1"/>
          </p:cNvPicPr>
          <p:nvPr/>
        </p:nvPicPr>
        <p:blipFill>
          <a:blip r:embed="rId11"/>
          <a:stretch>
            <a:fillRect/>
          </a:stretch>
        </p:blipFill>
        <p:spPr>
          <a:xfrm>
            <a:off x="7223760" y="3803904"/>
            <a:ext cx="256032" cy="256032"/>
          </a:xfrm>
          <a:prstGeom prst="rect">
            <a:avLst/>
          </a:prstGeom>
        </p:spPr>
      </p:pic>
      <p:sp>
        <p:nvSpPr>
          <p:cNvPr id="38" name="Text 25"/>
          <p:cNvSpPr txBox="1"/>
          <p:nvPr/>
        </p:nvSpPr>
        <p:spPr>
          <a:xfrm>
            <a:off x="4434840" y="4133088"/>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Interaction Logging: OpenTelemetry traces to Datadog and Snowflake</a:t>
            </a:r>
            <a:endParaRPr lang="en-US" sz="850" dirty="0"/>
          </a:p>
        </p:txBody>
      </p:sp>
      <p:sp>
        <p:nvSpPr>
          <p:cNvPr id="39" name="Text 26"/>
          <p:cNvSpPr txBox="1"/>
          <p:nvPr/>
        </p:nvSpPr>
        <p:spPr>
          <a:xfrm>
            <a:off x="4434840" y="4507992"/>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Key Word and Semantic Match; Model Armor and token quotas at Apigee</a:t>
            </a:r>
            <a:endParaRPr lang="en-US" sz="850" dirty="0"/>
          </a:p>
        </p:txBody>
      </p:sp>
      <p:sp>
        <p:nvSpPr>
          <p:cNvPr id="40" name="Text 27"/>
          <p:cNvSpPr txBox="1"/>
          <p:nvPr/>
        </p:nvSpPr>
        <p:spPr>
          <a:xfrm>
            <a:off x="4434840" y="4882896"/>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Report Generation: Snowflake audit views and Datadog monitors</a:t>
            </a:r>
            <a:endParaRPr lang="en-US" sz="850" dirty="0"/>
          </a:p>
        </p:txBody>
      </p:sp>
      <p:pic>
        <p:nvPicPr>
          <p:cNvPr id="41" name="Image 11" descr="preencoded.png">    </p:cNvPr>
          <p:cNvPicPr>
            <a:picLocks noChangeAspect="1"/>
          </p:cNvPicPr>
          <p:nvPr/>
        </p:nvPicPr>
        <p:blipFill>
          <a:blip r:embed="rId12"/>
          <a:stretch>
            <a:fillRect/>
          </a:stretch>
        </p:blipFill>
        <p:spPr>
          <a:xfrm>
            <a:off x="3611880" y="4206240"/>
            <a:ext cx="329184" cy="329184"/>
          </a:xfrm>
          <a:prstGeom prst="rect">
            <a:avLst/>
          </a:prstGeom>
        </p:spPr>
      </p:pic>
      <p:sp>
        <p:nvSpPr>
          <p:cNvPr id="42" name="Text 28"/>
          <p:cNvSpPr txBox="1"/>
          <p:nvPr/>
        </p:nvSpPr>
        <p:spPr>
          <a:xfrm>
            <a:off x="3438144" y="4553712"/>
            <a:ext cx="676656" cy="365760"/>
          </a:xfrm>
          <a:prstGeom prst="rect">
            <a:avLst/>
          </a:prstGeom>
          <a:noFill/>
          <a:ln/>
        </p:spPr>
        <p:txBody>
          <a:bodyPr wrap="square" lIns="0" tIns="0" rIns="0" bIns="0" rtlCol="0" anchor="t"/>
          <a:lstStyle/>
          <a:p>
            <a:pPr algn="ctr" indent="0" marL="0">
              <a:buNone/>
            </a:pPr>
            <a:r>
              <a:rPr lang="en-US" sz="700" dirty="0">
                <a:solidFill>
                  <a:srgbClr val="333333"/>
                </a:solidFill>
                <a:latin typeface="Arial" pitchFamily="34" charset="0"/>
                <a:ea typeface="Arial" pitchFamily="34" charset="-122"/>
                <a:cs typeface="Arial" pitchFamily="34" charset="-120"/>
              </a:rPr>
              <a:t>logs</a:t>
            </a:r>
            <a:endParaRPr lang="en-US" sz="700" dirty="0"/>
          </a:p>
        </p:txBody>
      </p:sp>
      <p:sp>
        <p:nvSpPr>
          <p:cNvPr id="43" name="Shape 29"/>
          <p:cNvSpPr/>
          <p:nvPr/>
        </p:nvSpPr>
        <p:spPr>
          <a:xfrm>
            <a:off x="3383280" y="4754880"/>
            <a:ext cx="822960" cy="0"/>
          </a:xfrm>
          <a:prstGeom prst="line">
            <a:avLst/>
          </a:prstGeom>
          <a:noFill/>
          <a:ln w="15875">
            <a:solidFill>
              <a:srgbClr val="0B5CAD"/>
            </a:solidFill>
            <a:prstDash val="solid"/>
            <a:tailEnd type="triangle"/>
          </a:ln>
        </p:spPr>
      </p:sp>
      <p:pic>
        <p:nvPicPr>
          <p:cNvPr id="44" name="Image 12" descr="preencoded.png">    </p:cNvPr>
          <p:cNvPicPr>
            <a:picLocks noChangeAspect="1"/>
          </p:cNvPicPr>
          <p:nvPr/>
        </p:nvPicPr>
        <p:blipFill>
          <a:blip r:embed="rId13"/>
          <a:stretch>
            <a:fillRect/>
          </a:stretch>
        </p:blipFill>
        <p:spPr>
          <a:xfrm>
            <a:off x="3611880" y="2697480"/>
            <a:ext cx="329184" cy="329184"/>
          </a:xfrm>
          <a:prstGeom prst="rect">
            <a:avLst/>
          </a:prstGeom>
        </p:spPr>
      </p:pic>
      <p:sp>
        <p:nvSpPr>
          <p:cNvPr id="45" name="Text 30"/>
          <p:cNvSpPr txBox="1"/>
          <p:nvPr/>
        </p:nvSpPr>
        <p:spPr>
          <a:xfrm>
            <a:off x="3438144" y="3044952"/>
            <a:ext cx="676656" cy="365760"/>
          </a:xfrm>
          <a:prstGeom prst="rect">
            <a:avLst/>
          </a:prstGeom>
          <a:noFill/>
          <a:ln/>
        </p:spPr>
        <p:txBody>
          <a:bodyPr wrap="square" lIns="0" tIns="0" rIns="0" bIns="0" rtlCol="0" anchor="t"/>
          <a:lstStyle/>
          <a:p>
            <a:pPr algn="ctr" indent="0" marL="0">
              <a:buNone/>
            </a:pPr>
            <a:r>
              <a:rPr lang="en-US" sz="700" dirty="0">
                <a:solidFill>
                  <a:srgbClr val="333333"/>
                </a:solidFill>
                <a:latin typeface="Arial" pitchFamily="34" charset="0"/>
                <a:ea typeface="Arial" pitchFamily="34" charset="-122"/>
                <a:cs typeface="Arial" pitchFamily="34" charset="-120"/>
              </a:rPr>
              <a:t>Real Time</a:t>
            </a:r>
            <a:endParaRPr lang="en-US" sz="700" dirty="0"/>
          </a:p>
          <a:p>
            <a:pPr algn="ctr" indent="0" marL="0">
              <a:buNone/>
            </a:pPr>
            <a:r>
              <a:rPr lang="en-US" sz="700" dirty="0">
                <a:solidFill>
                  <a:srgbClr val="333333"/>
                </a:solidFill>
                <a:latin typeface="Arial" pitchFamily="34" charset="0"/>
                <a:ea typeface="Arial" pitchFamily="34" charset="-122"/>
                <a:cs typeface="Arial" pitchFamily="34" charset="-120"/>
              </a:rPr>
              <a:t>Messaging</a:t>
            </a:r>
            <a:endParaRPr lang="en-US" sz="700" dirty="0"/>
          </a:p>
        </p:txBody>
      </p:sp>
      <p:sp>
        <p:nvSpPr>
          <p:cNvPr id="46" name="Shape 31"/>
          <p:cNvSpPr/>
          <p:nvPr/>
        </p:nvSpPr>
        <p:spPr>
          <a:xfrm flipH="1">
            <a:off x="3383280" y="4114800"/>
            <a:ext cx="822960" cy="0"/>
          </a:xfrm>
          <a:prstGeom prst="line">
            <a:avLst/>
          </a:prstGeom>
          <a:noFill/>
          <a:ln w="15875">
            <a:solidFill>
              <a:srgbClr val="0B5CAD"/>
            </a:solidFill>
            <a:prstDash val="solid"/>
            <a:headEnd type="triangle"/>
          </a:ln>
        </p:spPr>
      </p:sp>
      <p:pic>
        <p:nvPicPr>
          <p:cNvPr id="47" name="Image 13" descr="preencoded.png">    </p:cNvPr>
          <p:cNvPicPr>
            <a:picLocks noChangeAspect="1"/>
          </p:cNvPicPr>
          <p:nvPr/>
        </p:nvPicPr>
        <p:blipFill>
          <a:blip r:embed="rId14"/>
          <a:stretch>
            <a:fillRect/>
          </a:stretch>
        </p:blipFill>
        <p:spPr>
          <a:xfrm>
            <a:off x="7680960" y="4206240"/>
            <a:ext cx="329184" cy="329184"/>
          </a:xfrm>
          <a:prstGeom prst="rect">
            <a:avLst/>
          </a:prstGeom>
        </p:spPr>
      </p:pic>
      <p:sp>
        <p:nvSpPr>
          <p:cNvPr id="48" name="Text 32"/>
          <p:cNvSpPr txBox="1"/>
          <p:nvPr/>
        </p:nvSpPr>
        <p:spPr>
          <a:xfrm>
            <a:off x="7507224" y="4553712"/>
            <a:ext cx="676656" cy="365760"/>
          </a:xfrm>
          <a:prstGeom prst="rect">
            <a:avLst/>
          </a:prstGeom>
          <a:noFill/>
          <a:ln/>
        </p:spPr>
        <p:txBody>
          <a:bodyPr wrap="square" lIns="0" tIns="0" rIns="0" bIns="0" rtlCol="0" anchor="t"/>
          <a:lstStyle/>
          <a:p>
            <a:pPr algn="ctr" indent="0" marL="0">
              <a:buNone/>
            </a:pPr>
            <a:r>
              <a:rPr lang="en-US" sz="700" dirty="0">
                <a:solidFill>
                  <a:srgbClr val="333333"/>
                </a:solidFill>
                <a:latin typeface="Arial" pitchFamily="34" charset="0"/>
                <a:ea typeface="Arial" pitchFamily="34" charset="-122"/>
                <a:cs typeface="Arial" pitchFamily="34" charset="-120"/>
              </a:rPr>
              <a:t>Monitoring</a:t>
            </a:r>
            <a:endParaRPr lang="en-US" sz="700" dirty="0"/>
          </a:p>
          <a:p>
            <a:pPr algn="ctr" indent="0" marL="0">
              <a:buNone/>
            </a:pPr>
            <a:r>
              <a:rPr lang="en-US" sz="700" dirty="0">
                <a:solidFill>
                  <a:srgbClr val="333333"/>
                </a:solidFill>
                <a:latin typeface="Arial" pitchFamily="34" charset="0"/>
                <a:ea typeface="Arial" pitchFamily="34" charset="-122"/>
                <a:cs typeface="Arial" pitchFamily="34" charset="-120"/>
              </a:rPr>
              <a:t>Report</a:t>
            </a:r>
            <a:endParaRPr lang="en-US" sz="700" dirty="0"/>
          </a:p>
        </p:txBody>
      </p:sp>
      <p:sp>
        <p:nvSpPr>
          <p:cNvPr id="49" name="Shape 33"/>
          <p:cNvSpPr/>
          <p:nvPr/>
        </p:nvSpPr>
        <p:spPr>
          <a:xfrm>
            <a:off x="7589520" y="4754880"/>
            <a:ext cx="594360" cy="0"/>
          </a:xfrm>
          <a:prstGeom prst="line">
            <a:avLst/>
          </a:prstGeom>
          <a:noFill/>
          <a:ln w="15875">
            <a:solidFill>
              <a:srgbClr val="0B5CAD"/>
            </a:solidFill>
            <a:prstDash val="solid"/>
            <a:tailEnd type="triangle"/>
          </a:ln>
        </p:spPr>
      </p:sp>
      <p:sp>
        <p:nvSpPr>
          <p:cNvPr id="50" name="Shape 34"/>
          <p:cNvSpPr/>
          <p:nvPr/>
        </p:nvSpPr>
        <p:spPr>
          <a:xfrm>
            <a:off x="8183880" y="1417320"/>
            <a:ext cx="3566160" cy="3977640"/>
          </a:xfrm>
          <a:prstGeom prst="rect">
            <a:avLst/>
          </a:prstGeom>
          <a:solidFill>
            <a:srgbClr val="D6E6F5"/>
          </a:solidFill>
          <a:ln w="12700">
            <a:solidFill>
              <a:srgbClr val="D6E6F5"/>
            </a:solidFill>
            <a:prstDash val="solid"/>
          </a:ln>
        </p:spPr>
      </p:sp>
      <p:sp>
        <p:nvSpPr>
          <p:cNvPr id="51" name="Text 35"/>
          <p:cNvSpPr txBox="1"/>
          <p:nvPr/>
        </p:nvSpPr>
        <p:spPr>
          <a:xfrm>
            <a:off x="8275320" y="1490472"/>
            <a:ext cx="338328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Monitoring Review</a:t>
            </a:r>
            <a:endParaRPr lang="en-US" sz="1300" dirty="0"/>
          </a:p>
        </p:txBody>
      </p:sp>
      <p:pic>
        <p:nvPicPr>
          <p:cNvPr id="52" name="Image 14" descr="preencoded.png">    </p:cNvPr>
          <p:cNvPicPr>
            <a:picLocks noChangeAspect="1"/>
          </p:cNvPicPr>
          <p:nvPr/>
        </p:nvPicPr>
        <p:blipFill>
          <a:blip r:embed="rId15"/>
          <a:stretch>
            <a:fillRect/>
          </a:stretch>
        </p:blipFill>
        <p:spPr>
          <a:xfrm>
            <a:off x="8302752" y="1892808"/>
            <a:ext cx="274320" cy="274320"/>
          </a:xfrm>
          <a:prstGeom prst="rect">
            <a:avLst/>
          </a:prstGeom>
        </p:spPr>
      </p:pic>
      <p:sp>
        <p:nvSpPr>
          <p:cNvPr id="53" name="Text 36"/>
          <p:cNvSpPr txBox="1"/>
          <p:nvPr/>
        </p:nvSpPr>
        <p:spPr>
          <a:xfrm>
            <a:off x="8686800" y="1874520"/>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Key-Word Report Review</a:t>
            </a:r>
            <a:endParaRPr lang="en-US" sz="1000" dirty="0"/>
          </a:p>
        </p:txBody>
      </p:sp>
      <p:pic>
        <p:nvPicPr>
          <p:cNvPr id="54" name="Image 15" descr="preencoded.png">    </p:cNvPr>
          <p:cNvPicPr>
            <a:picLocks noChangeAspect="1"/>
          </p:cNvPicPr>
          <p:nvPr/>
        </p:nvPicPr>
        <p:blipFill>
          <a:blip r:embed="rId16"/>
          <a:stretch>
            <a:fillRect/>
          </a:stretch>
        </p:blipFill>
        <p:spPr>
          <a:xfrm>
            <a:off x="8302752" y="2496312"/>
            <a:ext cx="274320" cy="274320"/>
          </a:xfrm>
          <a:prstGeom prst="rect">
            <a:avLst/>
          </a:prstGeom>
        </p:spPr>
      </p:pic>
      <p:sp>
        <p:nvSpPr>
          <p:cNvPr id="55" name="Text 37"/>
          <p:cNvSpPr txBox="1"/>
          <p:nvPr/>
        </p:nvSpPr>
        <p:spPr>
          <a:xfrm>
            <a:off x="8686800" y="2478024"/>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New Pattern Identification</a:t>
            </a:r>
            <a:endParaRPr lang="en-US" sz="1000" dirty="0"/>
          </a:p>
        </p:txBody>
      </p:sp>
      <p:sp>
        <p:nvSpPr>
          <p:cNvPr id="56" name="Shape 38"/>
          <p:cNvSpPr/>
          <p:nvPr/>
        </p:nvSpPr>
        <p:spPr>
          <a:xfrm rot="10800000">
            <a:off x="9921240" y="2880360"/>
            <a:ext cx="457200" cy="164592"/>
          </a:xfrm>
          <a:prstGeom prst="triangle">
            <a:avLst/>
          </a:prstGeom>
          <a:solidFill>
            <a:srgbClr val="BFBFBF"/>
          </a:solidFill>
          <a:ln w="12700">
            <a:solidFill>
              <a:srgbClr val="BFBFBF"/>
            </a:solidFill>
            <a:prstDash val="solid"/>
          </a:ln>
        </p:spPr>
      </p:sp>
      <p:pic>
        <p:nvPicPr>
          <p:cNvPr id="57" name="Image 16" descr="preencoded.png">    </p:cNvPr>
          <p:cNvPicPr>
            <a:picLocks noChangeAspect="1"/>
          </p:cNvPicPr>
          <p:nvPr/>
        </p:nvPicPr>
        <p:blipFill>
          <a:blip r:embed="rId17"/>
          <a:stretch>
            <a:fillRect/>
          </a:stretch>
        </p:blipFill>
        <p:spPr>
          <a:xfrm>
            <a:off x="8302752" y="3099816"/>
            <a:ext cx="274320" cy="274320"/>
          </a:xfrm>
          <a:prstGeom prst="rect">
            <a:avLst/>
          </a:prstGeom>
        </p:spPr>
      </p:pic>
      <p:sp>
        <p:nvSpPr>
          <p:cNvPr id="58" name="Text 39"/>
          <p:cNvSpPr txBox="1"/>
          <p:nvPr/>
        </p:nvSpPr>
        <p:spPr>
          <a:xfrm>
            <a:off x="8686800" y="3081528"/>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Verification of AI Output</a:t>
            </a:r>
            <a:endParaRPr lang="en-US" sz="1000" dirty="0"/>
          </a:p>
        </p:txBody>
      </p:sp>
      <p:pic>
        <p:nvPicPr>
          <p:cNvPr id="59" name="Image 17" descr="preencoded.png">    </p:cNvPr>
          <p:cNvPicPr>
            <a:picLocks noChangeAspect="1"/>
          </p:cNvPicPr>
          <p:nvPr/>
        </p:nvPicPr>
        <p:blipFill>
          <a:blip r:embed="rId18"/>
          <a:stretch>
            <a:fillRect/>
          </a:stretch>
        </p:blipFill>
        <p:spPr>
          <a:xfrm>
            <a:off x="8302752" y="3703320"/>
            <a:ext cx="274320" cy="274320"/>
          </a:xfrm>
          <a:prstGeom prst="rect">
            <a:avLst/>
          </a:prstGeom>
        </p:spPr>
      </p:pic>
      <p:sp>
        <p:nvSpPr>
          <p:cNvPr id="60" name="Text 40"/>
          <p:cNvSpPr txBox="1"/>
          <p:nvPr/>
        </p:nvSpPr>
        <p:spPr>
          <a:xfrm>
            <a:off x="8686800" y="3685032"/>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Compliance Review</a:t>
            </a:r>
            <a:endParaRPr lang="en-US" sz="1000" dirty="0"/>
          </a:p>
        </p:txBody>
      </p:sp>
      <p:pic>
        <p:nvPicPr>
          <p:cNvPr id="61" name="Image 18" descr="preencoded.png">    </p:cNvPr>
          <p:cNvPicPr>
            <a:picLocks noChangeAspect="1"/>
          </p:cNvPicPr>
          <p:nvPr/>
        </p:nvPicPr>
        <p:blipFill>
          <a:blip r:embed="rId19"/>
          <a:stretch>
            <a:fillRect/>
          </a:stretch>
        </p:blipFill>
        <p:spPr>
          <a:xfrm>
            <a:off x="8302752" y="4306824"/>
            <a:ext cx="274320" cy="274320"/>
          </a:xfrm>
          <a:prstGeom prst="rect">
            <a:avLst/>
          </a:prstGeom>
        </p:spPr>
      </p:pic>
      <p:sp>
        <p:nvSpPr>
          <p:cNvPr id="62" name="Text 41"/>
          <p:cNvSpPr txBox="1"/>
          <p:nvPr/>
        </p:nvSpPr>
        <p:spPr>
          <a:xfrm>
            <a:off x="8686800" y="4288536"/>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Employee Management</a:t>
            </a:r>
            <a:endParaRPr lang="en-US" sz="1000" dirty="0"/>
          </a:p>
        </p:txBody>
      </p:sp>
      <p:pic>
        <p:nvPicPr>
          <p:cNvPr id="63" name="Image 19" descr="preencoded.png">    </p:cNvPr>
          <p:cNvPicPr>
            <a:picLocks noChangeAspect="1"/>
          </p:cNvPicPr>
          <p:nvPr/>
        </p:nvPicPr>
        <p:blipFill>
          <a:blip r:embed="rId20"/>
          <a:stretch>
            <a:fillRect/>
          </a:stretch>
        </p:blipFill>
        <p:spPr>
          <a:xfrm>
            <a:off x="10881360" y="4956048"/>
            <a:ext cx="292608" cy="292608"/>
          </a:xfrm>
          <a:prstGeom prst="rect">
            <a:avLst/>
          </a:prstGeom>
        </p:spPr>
      </p:pic>
      <p:sp>
        <p:nvSpPr>
          <p:cNvPr id="64" name="Text 42"/>
          <p:cNvSpPr txBox="1"/>
          <p:nvPr/>
        </p:nvSpPr>
        <p:spPr>
          <a:xfrm>
            <a:off x="11201400" y="4956048"/>
            <a:ext cx="640080" cy="292608"/>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End User</a:t>
            </a:r>
            <a:endParaRPr lang="en-US" sz="900" dirty="0"/>
          </a:p>
        </p:txBody>
      </p:sp>
      <p:sp>
        <p:nvSpPr>
          <p:cNvPr id="65" name="Text 43"/>
          <p:cNvSpPr txBox="1"/>
          <p:nvPr/>
        </p:nvSpPr>
        <p:spPr>
          <a:xfrm>
            <a:off x="457200" y="5440680"/>
            <a:ext cx="7589520" cy="274320"/>
          </a:xfrm>
          <a:prstGeom prst="rect">
            <a:avLst/>
          </a:prstGeom>
          <a:noFill/>
          <a:ln/>
        </p:spPr>
        <p:txBody>
          <a:bodyPr wrap="square" lIns="0" tIns="0" rIns="0" bIns="0" rtlCol="0" anchor="ctr"/>
          <a:lstStyle/>
          <a:p>
            <a:pPr indent="0" marL="0">
              <a:buNone/>
            </a:pPr>
            <a:r>
              <a:rPr lang="en-US" sz="800" i="1" dirty="0">
                <a:solidFill>
                  <a:srgbClr val="595959"/>
                </a:solidFill>
                <a:latin typeface="Arial" pitchFamily="34" charset="0"/>
                <a:ea typeface="Arial" pitchFamily="34" charset="-122"/>
                <a:cs typeface="Arial" pitchFamily="34" charset="-120"/>
              </a:rPr>
              <a:t>Telemetry: Apigee and Foundry traces, MCP tool logs, vendor exports, and RBC feeds enter the OpenTelemetry Collector, then Datadog (hot path) and Snowflake (system of record).</a:t>
            </a:r>
            <a:endParaRPr lang="en-US" sz="800" dirty="0"/>
          </a:p>
        </p:txBody>
      </p:sp>
      <p:sp>
        <p:nvSpPr>
          <p:cNvPr id="66" name="Text 44"/>
          <p:cNvSpPr txBox="1"/>
          <p:nvPr/>
        </p:nvSpPr>
        <p:spPr>
          <a:xfrm>
            <a:off x="457200" y="5760720"/>
            <a:ext cx="11274552" cy="384048"/>
          </a:xfrm>
          <a:prstGeom prst="rect">
            <a:avLst/>
          </a:prstGeom>
          <a:solidFill>
            <a:srgbClr val="0B5CAD"/>
          </a:solidFill>
          <a:ln w="6350">
            <a:solidFill>
              <a:srgbClr val="0B5CAD"/>
            </a:solidFill>
          </a:ln>
        </p:spPr>
        <p:txBody>
          <a:bodyPr wrap="square" lIns="635" tIns="635" rIns="635" bIns="635"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Quarterly: Pattern Review &amp; Key-Word Revision</a:t>
            </a:r>
            <a:endParaRPr lang="en-US" sz="1400" dirty="0"/>
          </a:p>
        </p:txBody>
      </p:sp>
      <p:sp>
        <p:nvSpPr>
          <p:cNvPr id="67" name="Text 45"/>
          <p:cNvSpPr txBox="1"/>
          <p:nvPr/>
        </p:nvSpPr>
        <p:spPr>
          <a:xfrm>
            <a:off x="502920" y="6263640"/>
            <a:ext cx="457200" cy="256032"/>
          </a:xfrm>
          <a:prstGeom prst="rect">
            <a:avLst/>
          </a:prstGeom>
          <a:noFill/>
          <a:ln/>
        </p:spPr>
        <p:txBody>
          <a:bodyPr wrap="square" lIns="0" tIns="0" rIns="0" bIns="0" rtlCol="0" anchor="ctr"/>
          <a:lstStyle/>
          <a:p>
            <a:pPr indent="0" marL="0">
              <a:buNone/>
            </a:pPr>
            <a:r>
              <a:rPr lang="en-US" sz="900" b="1" dirty="0">
                <a:solidFill>
                  <a:srgbClr val="333333"/>
                </a:solidFill>
                <a:latin typeface="Arial" pitchFamily="34" charset="0"/>
                <a:ea typeface="Arial" pitchFamily="34" charset="-122"/>
                <a:cs typeface="Arial" pitchFamily="34" charset="-120"/>
              </a:rPr>
              <a:t>Key:</a:t>
            </a:r>
            <a:endParaRPr lang="en-US" sz="900" dirty="0"/>
          </a:p>
        </p:txBody>
      </p:sp>
      <p:pic>
        <p:nvPicPr>
          <p:cNvPr id="68" name="Image 20" descr="preencoded.png">    </p:cNvPr>
          <p:cNvPicPr>
            <a:picLocks noChangeAspect="1"/>
          </p:cNvPicPr>
          <p:nvPr/>
        </p:nvPicPr>
        <p:blipFill>
          <a:blip r:embed="rId21"/>
          <a:stretch>
            <a:fillRect/>
          </a:stretch>
        </p:blipFill>
        <p:spPr>
          <a:xfrm>
            <a:off x="960120" y="6300216"/>
            <a:ext cx="182880" cy="182880"/>
          </a:xfrm>
          <a:prstGeom prst="rect">
            <a:avLst/>
          </a:prstGeom>
        </p:spPr>
      </p:pic>
      <p:sp>
        <p:nvSpPr>
          <p:cNvPr id="69" name="Text 46"/>
          <p:cNvSpPr txBox="1"/>
          <p:nvPr/>
        </p:nvSpPr>
        <p:spPr>
          <a:xfrm>
            <a:off x="1179576"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AI Agent</a:t>
            </a:r>
            <a:endParaRPr lang="en-US" sz="850" dirty="0"/>
          </a:p>
        </p:txBody>
      </p:sp>
      <p:pic>
        <p:nvPicPr>
          <p:cNvPr id="70" name="Image 21" descr="preencoded.png">    </p:cNvPr>
          <p:cNvPicPr>
            <a:picLocks noChangeAspect="1"/>
          </p:cNvPicPr>
          <p:nvPr/>
        </p:nvPicPr>
        <p:blipFill>
          <a:blip r:embed="rId22"/>
          <a:stretch>
            <a:fillRect/>
          </a:stretch>
        </p:blipFill>
        <p:spPr>
          <a:xfrm>
            <a:off x="1889150" y="6300216"/>
            <a:ext cx="182880" cy="182880"/>
          </a:xfrm>
          <a:prstGeom prst="rect">
            <a:avLst/>
          </a:prstGeom>
        </p:spPr>
      </p:pic>
      <p:sp>
        <p:nvSpPr>
          <p:cNvPr id="71" name="Text 47"/>
          <p:cNvSpPr txBox="1"/>
          <p:nvPr/>
        </p:nvSpPr>
        <p:spPr>
          <a:xfrm>
            <a:off x="2108606"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End User</a:t>
            </a:r>
            <a:endParaRPr lang="en-US" sz="850" dirty="0"/>
          </a:p>
        </p:txBody>
      </p:sp>
      <p:pic>
        <p:nvPicPr>
          <p:cNvPr id="72" name="Image 22" descr="preencoded.png">    </p:cNvPr>
          <p:cNvPicPr>
            <a:picLocks noChangeAspect="1"/>
          </p:cNvPicPr>
          <p:nvPr/>
        </p:nvPicPr>
        <p:blipFill>
          <a:blip r:embed="rId23"/>
          <a:stretch>
            <a:fillRect/>
          </a:stretch>
        </p:blipFill>
        <p:spPr>
          <a:xfrm>
            <a:off x="2818181" y="6300216"/>
            <a:ext cx="182880" cy="182880"/>
          </a:xfrm>
          <a:prstGeom prst="rect">
            <a:avLst/>
          </a:prstGeom>
        </p:spPr>
      </p:pic>
      <p:sp>
        <p:nvSpPr>
          <p:cNvPr id="73" name="Text 48"/>
          <p:cNvSpPr txBox="1"/>
          <p:nvPr/>
        </p:nvSpPr>
        <p:spPr>
          <a:xfrm>
            <a:off x="3037637"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T&amp;I Teams</a:t>
            </a:r>
            <a:endParaRPr lang="en-US" sz="850" dirty="0"/>
          </a:p>
        </p:txBody>
      </p:sp>
      <p:pic>
        <p:nvPicPr>
          <p:cNvPr id="74" name="Image 23" descr="preencoded.png">    </p:cNvPr>
          <p:cNvPicPr>
            <a:picLocks noChangeAspect="1"/>
          </p:cNvPicPr>
          <p:nvPr/>
        </p:nvPicPr>
        <p:blipFill>
          <a:blip r:embed="rId24"/>
          <a:stretch>
            <a:fillRect/>
          </a:stretch>
        </p:blipFill>
        <p:spPr>
          <a:xfrm>
            <a:off x="3803904" y="6300216"/>
            <a:ext cx="182880" cy="182880"/>
          </a:xfrm>
          <a:prstGeom prst="rect">
            <a:avLst/>
          </a:prstGeom>
        </p:spPr>
      </p:pic>
      <p:sp>
        <p:nvSpPr>
          <p:cNvPr id="75" name="Text 49"/>
          <p:cNvSpPr txBox="1"/>
          <p:nvPr/>
        </p:nvSpPr>
        <p:spPr>
          <a:xfrm>
            <a:off x="4023360"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AI Product Team</a:t>
            </a:r>
            <a:endParaRPr lang="en-US" sz="850" dirty="0"/>
          </a:p>
        </p:txBody>
      </p:sp>
      <p:pic>
        <p:nvPicPr>
          <p:cNvPr id="76" name="Image 24" descr="preencoded.png">    </p:cNvPr>
          <p:cNvPicPr>
            <a:picLocks noChangeAspect="1"/>
          </p:cNvPicPr>
          <p:nvPr/>
        </p:nvPicPr>
        <p:blipFill>
          <a:blip r:embed="rId25"/>
          <a:stretch>
            <a:fillRect/>
          </a:stretch>
        </p:blipFill>
        <p:spPr>
          <a:xfrm>
            <a:off x="5129784" y="6300216"/>
            <a:ext cx="182880" cy="182880"/>
          </a:xfrm>
          <a:prstGeom prst="rect">
            <a:avLst/>
          </a:prstGeom>
        </p:spPr>
      </p:pic>
      <p:sp>
        <p:nvSpPr>
          <p:cNvPr id="77" name="Text 50"/>
          <p:cNvSpPr txBox="1"/>
          <p:nvPr/>
        </p:nvSpPr>
        <p:spPr>
          <a:xfrm>
            <a:off x="5349240"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Risk Team</a:t>
            </a:r>
            <a:endParaRPr lang="en-US" sz="850" dirty="0"/>
          </a:p>
        </p:txBody>
      </p:sp>
      <p:pic>
        <p:nvPicPr>
          <p:cNvPr id="78" name="Image 25" descr="preencoded.png">    </p:cNvPr>
          <p:cNvPicPr>
            <a:picLocks noChangeAspect="1"/>
          </p:cNvPicPr>
          <p:nvPr/>
        </p:nvPicPr>
        <p:blipFill>
          <a:blip r:embed="rId26"/>
          <a:stretch>
            <a:fillRect/>
          </a:stretch>
        </p:blipFill>
        <p:spPr>
          <a:xfrm>
            <a:off x="6115507" y="6300216"/>
            <a:ext cx="182880" cy="182880"/>
          </a:xfrm>
          <a:prstGeom prst="rect">
            <a:avLst/>
          </a:prstGeom>
        </p:spPr>
      </p:pic>
      <p:sp>
        <p:nvSpPr>
          <p:cNvPr id="79" name="Text 51"/>
          <p:cNvSpPr txBox="1"/>
          <p:nvPr/>
        </p:nvSpPr>
        <p:spPr>
          <a:xfrm>
            <a:off x="6334963"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Audit Team</a:t>
            </a:r>
            <a:endParaRPr lang="en-US" sz="850" dirty="0"/>
          </a:p>
        </p:txBody>
      </p:sp>
      <p:pic>
        <p:nvPicPr>
          <p:cNvPr id="80" name="Image 26" descr="preencoded.png">    </p:cNvPr>
          <p:cNvPicPr>
            <a:picLocks noChangeAspect="1"/>
          </p:cNvPicPr>
          <p:nvPr/>
        </p:nvPicPr>
        <p:blipFill>
          <a:blip r:embed="rId27"/>
          <a:stretch>
            <a:fillRect/>
          </a:stretch>
        </p:blipFill>
        <p:spPr>
          <a:xfrm>
            <a:off x="7157923" y="6300216"/>
            <a:ext cx="182880" cy="182880"/>
          </a:xfrm>
          <a:prstGeom prst="rect">
            <a:avLst/>
          </a:prstGeom>
        </p:spPr>
      </p:pic>
      <p:sp>
        <p:nvSpPr>
          <p:cNvPr id="81" name="Text 52"/>
          <p:cNvSpPr txBox="1"/>
          <p:nvPr/>
        </p:nvSpPr>
        <p:spPr>
          <a:xfrm>
            <a:off x="7377379"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Business SMAs</a:t>
            </a:r>
            <a:endParaRPr lang="en-US" sz="850" dirty="0"/>
          </a:p>
        </p:txBody>
      </p:sp>
      <p:pic>
        <p:nvPicPr>
          <p:cNvPr id="82" name="Image 27" descr="preencoded.png">    </p:cNvPr>
          <p:cNvPicPr>
            <a:picLocks noChangeAspect="1"/>
          </p:cNvPicPr>
          <p:nvPr/>
        </p:nvPicPr>
        <p:blipFill>
          <a:blip r:embed="rId28"/>
          <a:stretch>
            <a:fillRect/>
          </a:stretch>
        </p:blipFill>
        <p:spPr>
          <a:xfrm>
            <a:off x="8370418" y="6300216"/>
            <a:ext cx="182880" cy="182880"/>
          </a:xfrm>
          <a:prstGeom prst="rect">
            <a:avLst/>
          </a:prstGeom>
        </p:spPr>
      </p:pic>
      <p:sp>
        <p:nvSpPr>
          <p:cNvPr id="83" name="Text 53"/>
          <p:cNvSpPr txBox="1"/>
          <p:nvPr/>
        </p:nvSpPr>
        <p:spPr>
          <a:xfrm>
            <a:off x="8589874"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RBC Borealis</a:t>
            </a:r>
            <a:endParaRPr lang="en-US" sz="850" dirty="0"/>
          </a:p>
        </p:txBody>
      </p:sp>
      <p:pic>
        <p:nvPicPr>
          <p:cNvPr id="84" name="Image 28" descr="preencoded.png">    </p:cNvPr>
          <p:cNvPicPr>
            <a:picLocks noChangeAspect="1"/>
          </p:cNvPicPr>
          <p:nvPr/>
        </p:nvPicPr>
        <p:blipFill>
          <a:blip r:embed="rId29"/>
          <a:stretch>
            <a:fillRect/>
          </a:stretch>
        </p:blipFill>
        <p:spPr>
          <a:xfrm>
            <a:off x="9526219" y="6300216"/>
            <a:ext cx="182880" cy="182880"/>
          </a:xfrm>
          <a:prstGeom prst="rect">
            <a:avLst/>
          </a:prstGeom>
        </p:spPr>
      </p:pic>
      <p:sp>
        <p:nvSpPr>
          <p:cNvPr id="85" name="Text 54"/>
          <p:cNvSpPr txBox="1"/>
          <p:nvPr/>
        </p:nvSpPr>
        <p:spPr>
          <a:xfrm>
            <a:off x="9745675"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Compliance Team</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AI Monitoring and Observability V3+</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Preventative: agentic review at scale with human verification</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13</a:t>
            </a:r>
            <a:endParaRPr lang="en-US" sz="1000" dirty="0"/>
          </a:p>
        </p:txBody>
      </p:sp>
      <p:pic>
        <p:nvPicPr>
          <p:cNvPr id="7" name="Image 1" descr="preencoded.png">    </p:cNvPr>
          <p:cNvPicPr>
            <a:picLocks noChangeAspect="1"/>
          </p:cNvPicPr>
          <p:nvPr/>
        </p:nvPicPr>
        <p:blipFill>
          <a:blip r:embed="rId2"/>
          <a:stretch>
            <a:fillRect/>
          </a:stretch>
        </p:blipFill>
        <p:spPr>
          <a:xfrm>
            <a:off x="640080" y="1417320"/>
            <a:ext cx="384048" cy="384048"/>
          </a:xfrm>
          <a:prstGeom prst="rect">
            <a:avLst/>
          </a:prstGeom>
        </p:spPr>
      </p:pic>
      <p:sp>
        <p:nvSpPr>
          <p:cNvPr id="8" name="Text 4"/>
          <p:cNvSpPr txBox="1"/>
          <p:nvPr/>
        </p:nvSpPr>
        <p:spPr>
          <a:xfrm>
            <a:off x="1097280" y="1417320"/>
            <a:ext cx="1371600" cy="384048"/>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End User</a:t>
            </a:r>
            <a:endParaRPr lang="en-US" sz="1400" dirty="0"/>
          </a:p>
        </p:txBody>
      </p:sp>
      <p:sp>
        <p:nvSpPr>
          <p:cNvPr id="9" name="Shape 5"/>
          <p:cNvSpPr/>
          <p:nvPr/>
        </p:nvSpPr>
        <p:spPr>
          <a:xfrm rot="10800000">
            <a:off x="914400" y="1847088"/>
            <a:ext cx="457200" cy="164592"/>
          </a:xfrm>
          <a:prstGeom prst="triangle">
            <a:avLst/>
          </a:prstGeom>
          <a:solidFill>
            <a:srgbClr val="BFBFBF"/>
          </a:solidFill>
          <a:ln w="12700">
            <a:solidFill>
              <a:srgbClr val="BFBFBF"/>
            </a:solidFill>
            <a:prstDash val="solid"/>
          </a:ln>
        </p:spPr>
      </p:sp>
      <p:sp>
        <p:nvSpPr>
          <p:cNvPr id="10" name="Shape 6"/>
          <p:cNvSpPr/>
          <p:nvPr/>
        </p:nvSpPr>
        <p:spPr>
          <a:xfrm>
            <a:off x="457200" y="2103120"/>
            <a:ext cx="2926080" cy="3246120"/>
          </a:xfrm>
          <a:prstGeom prst="rect">
            <a:avLst/>
          </a:prstGeom>
          <a:solidFill>
            <a:srgbClr val="FFFFFF"/>
          </a:solidFill>
          <a:ln w="9525">
            <a:solidFill>
              <a:srgbClr val="7F7F7F"/>
            </a:solidFill>
            <a:prstDash val="dash"/>
          </a:ln>
        </p:spPr>
      </p:sp>
      <p:sp>
        <p:nvSpPr>
          <p:cNvPr id="11" name="Text 7"/>
          <p:cNvSpPr txBox="1"/>
          <p:nvPr/>
        </p:nvSpPr>
        <p:spPr>
          <a:xfrm>
            <a:off x="548640" y="2157984"/>
            <a:ext cx="274320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Generative / Agentic Tool</a:t>
            </a:r>
            <a:endParaRPr lang="en-US" sz="1300" dirty="0"/>
          </a:p>
        </p:txBody>
      </p:sp>
      <p:sp>
        <p:nvSpPr>
          <p:cNvPr id="12" name="Text 8"/>
          <p:cNvSpPr txBox="1"/>
          <p:nvPr/>
        </p:nvSpPr>
        <p:spPr>
          <a:xfrm>
            <a:off x="685800" y="2514600"/>
            <a:ext cx="2468880" cy="310896"/>
          </a:xfrm>
          <a:prstGeom prst="roundRect">
            <a:avLst>
              <a:gd name="adj" fmla="val 14706"/>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Chat Interface</a:t>
            </a:r>
            <a:endParaRPr lang="en-US" sz="1000" dirty="0"/>
          </a:p>
        </p:txBody>
      </p:sp>
      <p:sp>
        <p:nvSpPr>
          <p:cNvPr id="13" name="Text 9"/>
          <p:cNvSpPr txBox="1"/>
          <p:nvPr/>
        </p:nvSpPr>
        <p:spPr>
          <a:xfrm>
            <a:off x="685800" y="2880360"/>
            <a:ext cx="2468880" cy="310896"/>
          </a:xfrm>
          <a:prstGeom prst="roundRect">
            <a:avLst>
              <a:gd name="adj" fmla="val 14706"/>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Agent Builder</a:t>
            </a:r>
            <a:endParaRPr lang="en-US" sz="1000" dirty="0"/>
          </a:p>
        </p:txBody>
      </p:sp>
      <p:sp>
        <p:nvSpPr>
          <p:cNvPr id="14" name="Text 10"/>
          <p:cNvSpPr txBox="1"/>
          <p:nvPr/>
        </p:nvSpPr>
        <p:spPr>
          <a:xfrm>
            <a:off x="685800" y="3218688"/>
            <a:ext cx="2468880" cy="310896"/>
          </a:xfrm>
          <a:prstGeom prst="rect">
            <a:avLst/>
          </a:prstGeom>
          <a:noFill/>
          <a:ln/>
        </p:spPr>
        <p:txBody>
          <a:bodyPr wrap="square" lIns="0" tIns="0" rIns="0" bIns="0" rtlCol="0" anchor="t"/>
          <a:lstStyle/>
          <a:p>
            <a:pPr algn="ctr" indent="0" marL="0">
              <a:buNone/>
            </a:pPr>
            <a:r>
              <a:rPr lang="en-US" sz="750" i="1" dirty="0">
                <a:solidFill>
                  <a:srgbClr val="595959"/>
                </a:solidFill>
                <a:latin typeface="Arial" pitchFamily="34" charset="0"/>
                <a:ea typeface="Arial" pitchFamily="34" charset="-122"/>
                <a:cs typeface="Arial" pitchFamily="34" charset="-120"/>
              </a:rPr>
              <a:t>RBC Assist and Assist Pro first; Helios, AgilLink, Rovo AI, Foundry apps, and MCP tools follow</a:t>
            </a:r>
            <a:endParaRPr lang="en-US" sz="750" dirty="0"/>
          </a:p>
        </p:txBody>
      </p:sp>
      <p:sp>
        <p:nvSpPr>
          <p:cNvPr id="15" name="Shape 11"/>
          <p:cNvSpPr/>
          <p:nvPr/>
        </p:nvSpPr>
        <p:spPr>
          <a:xfrm rot="10800000">
            <a:off x="1691640" y="3547872"/>
            <a:ext cx="457200" cy="164592"/>
          </a:xfrm>
          <a:prstGeom prst="triangle">
            <a:avLst/>
          </a:prstGeom>
          <a:solidFill>
            <a:srgbClr val="BFBFBF"/>
          </a:solidFill>
          <a:ln w="12700">
            <a:solidFill>
              <a:srgbClr val="BFBFBF"/>
            </a:solidFill>
            <a:prstDash val="solid"/>
          </a:ln>
        </p:spPr>
      </p:sp>
      <p:sp>
        <p:nvSpPr>
          <p:cNvPr id="16" name="Text 12"/>
          <p:cNvSpPr txBox="1"/>
          <p:nvPr/>
        </p:nvSpPr>
        <p:spPr>
          <a:xfrm>
            <a:off x="685800" y="3749040"/>
            <a:ext cx="2468880" cy="301752"/>
          </a:xfrm>
          <a:prstGeom prst="roundRect">
            <a:avLst>
              <a:gd name="adj" fmla="val 15152"/>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In-Line Warning</a:t>
            </a:r>
            <a:endParaRPr lang="en-US" sz="950" dirty="0"/>
          </a:p>
        </p:txBody>
      </p:sp>
      <p:sp>
        <p:nvSpPr>
          <p:cNvPr id="17" name="Text 13"/>
          <p:cNvSpPr txBox="1"/>
          <p:nvPr/>
        </p:nvSpPr>
        <p:spPr>
          <a:xfrm>
            <a:off x="685800" y="4114800"/>
            <a:ext cx="2468880" cy="301752"/>
          </a:xfrm>
          <a:prstGeom prst="roundRect">
            <a:avLst>
              <a:gd name="adj" fmla="val 15152"/>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Temporary Suspension</a:t>
            </a:r>
            <a:endParaRPr lang="en-US" sz="950" dirty="0"/>
          </a:p>
        </p:txBody>
      </p:sp>
      <p:sp>
        <p:nvSpPr>
          <p:cNvPr id="18" name="Text 14"/>
          <p:cNvSpPr txBox="1"/>
          <p:nvPr/>
        </p:nvSpPr>
        <p:spPr>
          <a:xfrm>
            <a:off x="685800" y="4480560"/>
            <a:ext cx="2468880" cy="301752"/>
          </a:xfrm>
          <a:prstGeom prst="roundRect">
            <a:avLst>
              <a:gd name="adj" fmla="val 15152"/>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Escalation Notification</a:t>
            </a:r>
            <a:endParaRPr lang="en-US" sz="950" dirty="0"/>
          </a:p>
        </p:txBody>
      </p:sp>
      <p:sp>
        <p:nvSpPr>
          <p:cNvPr id="19" name="Text 15"/>
          <p:cNvSpPr txBox="1"/>
          <p:nvPr/>
        </p:nvSpPr>
        <p:spPr>
          <a:xfrm>
            <a:off x="685800" y="4846320"/>
            <a:ext cx="2468880" cy="301752"/>
          </a:xfrm>
          <a:prstGeom prst="roundRect">
            <a:avLst>
              <a:gd name="adj" fmla="val 15152"/>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Agent Deletion</a:t>
            </a:r>
            <a:endParaRPr lang="en-US" sz="950" dirty="0"/>
          </a:p>
        </p:txBody>
      </p:sp>
      <p:sp>
        <p:nvSpPr>
          <p:cNvPr id="20" name="Shape 16"/>
          <p:cNvSpPr/>
          <p:nvPr/>
        </p:nvSpPr>
        <p:spPr>
          <a:xfrm>
            <a:off x="4206240" y="1417320"/>
            <a:ext cx="3383280" cy="3977640"/>
          </a:xfrm>
          <a:prstGeom prst="rect">
            <a:avLst/>
          </a:prstGeom>
          <a:solidFill>
            <a:srgbClr val="FFFFFF"/>
          </a:solidFill>
          <a:ln w="9525">
            <a:solidFill>
              <a:srgbClr val="7F7F7F"/>
            </a:solidFill>
            <a:prstDash val="dash"/>
          </a:ln>
        </p:spPr>
      </p:sp>
      <p:sp>
        <p:nvSpPr>
          <p:cNvPr id="21" name="Text 17"/>
          <p:cNvSpPr txBox="1"/>
          <p:nvPr/>
        </p:nvSpPr>
        <p:spPr>
          <a:xfrm>
            <a:off x="4297680" y="1472184"/>
            <a:ext cx="320040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Observability Agent Team</a:t>
            </a:r>
            <a:endParaRPr lang="en-US" sz="1300" dirty="0"/>
          </a:p>
        </p:txBody>
      </p:sp>
      <p:sp>
        <p:nvSpPr>
          <p:cNvPr id="22" name="Text 18"/>
          <p:cNvSpPr txBox="1"/>
          <p:nvPr/>
        </p:nvSpPr>
        <p:spPr>
          <a:xfrm>
            <a:off x="4434840" y="1828800"/>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Prompt Monitoring</a:t>
            </a:r>
            <a:endParaRPr lang="en-US" sz="950" dirty="0"/>
          </a:p>
        </p:txBody>
      </p:sp>
      <p:sp>
        <p:nvSpPr>
          <p:cNvPr id="23" name="Text 19"/>
          <p:cNvSpPr txBox="1"/>
          <p:nvPr/>
        </p:nvSpPr>
        <p:spPr>
          <a:xfrm>
            <a:off x="4434840" y="2258568"/>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Sentiment Analysis</a:t>
            </a:r>
            <a:endParaRPr lang="en-US" sz="950" dirty="0"/>
          </a:p>
        </p:txBody>
      </p:sp>
      <p:sp>
        <p:nvSpPr>
          <p:cNvPr id="24" name="Text 20"/>
          <p:cNvSpPr txBox="1"/>
          <p:nvPr/>
        </p:nvSpPr>
        <p:spPr>
          <a:xfrm>
            <a:off x="4434840" y="2688336"/>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New Pattern Identification</a:t>
            </a:r>
            <a:endParaRPr lang="en-US" sz="950" dirty="0"/>
          </a:p>
        </p:txBody>
      </p:sp>
      <p:sp>
        <p:nvSpPr>
          <p:cNvPr id="25" name="Text 21"/>
          <p:cNvSpPr txBox="1"/>
          <p:nvPr/>
        </p:nvSpPr>
        <p:spPr>
          <a:xfrm>
            <a:off x="4434840" y="3118104"/>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Session Review</a:t>
            </a:r>
            <a:endParaRPr lang="en-US" sz="950" dirty="0"/>
          </a:p>
        </p:txBody>
      </p:sp>
      <p:sp>
        <p:nvSpPr>
          <p:cNvPr id="26" name="Text 22"/>
          <p:cNvSpPr txBox="1"/>
          <p:nvPr/>
        </p:nvSpPr>
        <p:spPr>
          <a:xfrm>
            <a:off x="4434840" y="3547872"/>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User Review</a:t>
            </a:r>
            <a:endParaRPr lang="en-US" sz="950" dirty="0"/>
          </a:p>
        </p:txBody>
      </p:sp>
      <p:sp>
        <p:nvSpPr>
          <p:cNvPr id="27" name="Text 23"/>
          <p:cNvSpPr txBox="1"/>
          <p:nvPr/>
        </p:nvSpPr>
        <p:spPr>
          <a:xfrm>
            <a:off x="4434840" y="3977640"/>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Adversarial Review</a:t>
            </a:r>
            <a:endParaRPr lang="en-US" sz="950" dirty="0"/>
          </a:p>
        </p:txBody>
      </p:sp>
      <p:sp>
        <p:nvSpPr>
          <p:cNvPr id="28" name="Text 24"/>
          <p:cNvSpPr txBox="1"/>
          <p:nvPr/>
        </p:nvSpPr>
        <p:spPr>
          <a:xfrm>
            <a:off x="4434840" y="4407408"/>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Sustainability Review</a:t>
            </a:r>
            <a:endParaRPr lang="en-US" sz="950" dirty="0"/>
          </a:p>
        </p:txBody>
      </p:sp>
      <p:sp>
        <p:nvSpPr>
          <p:cNvPr id="29" name="Text 25"/>
          <p:cNvSpPr txBox="1"/>
          <p:nvPr/>
        </p:nvSpPr>
        <p:spPr>
          <a:xfrm>
            <a:off x="4434840" y="4837176"/>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950" dirty="0">
                <a:solidFill>
                  <a:srgbClr val="333333"/>
                </a:solidFill>
                <a:latin typeface="Arial" pitchFamily="34" charset="0"/>
                <a:ea typeface="Arial" pitchFamily="34" charset="-122"/>
                <a:cs typeface="Arial" pitchFamily="34" charset="-120"/>
              </a:rPr>
              <a:t>Action Review &amp; Escalation</a:t>
            </a:r>
            <a:endParaRPr lang="en-US" sz="950" dirty="0"/>
          </a:p>
        </p:txBody>
      </p:sp>
      <p:pic>
        <p:nvPicPr>
          <p:cNvPr id="30" name="Image 2" descr="preencoded.png">    </p:cNvPr>
          <p:cNvPicPr>
            <a:picLocks noChangeAspect="1"/>
          </p:cNvPicPr>
          <p:nvPr/>
        </p:nvPicPr>
        <p:blipFill>
          <a:blip r:embed="rId3"/>
          <a:stretch>
            <a:fillRect/>
          </a:stretch>
        </p:blipFill>
        <p:spPr>
          <a:xfrm>
            <a:off x="3520440" y="2834640"/>
            <a:ext cx="502920" cy="502920"/>
          </a:xfrm>
          <a:prstGeom prst="rect">
            <a:avLst/>
          </a:prstGeom>
        </p:spPr>
      </p:pic>
      <p:sp>
        <p:nvSpPr>
          <p:cNvPr id="31" name="Text 26"/>
          <p:cNvSpPr txBox="1"/>
          <p:nvPr/>
        </p:nvSpPr>
        <p:spPr>
          <a:xfrm>
            <a:off x="3246120" y="3364992"/>
            <a:ext cx="1051560" cy="411480"/>
          </a:xfrm>
          <a:prstGeom prst="rect">
            <a:avLst/>
          </a:prstGeom>
          <a:noFill/>
          <a:ln/>
        </p:spPr>
        <p:txBody>
          <a:bodyPr wrap="square" lIns="0" tIns="0" rIns="0" bIns="0" rtlCol="0" anchor="ctr"/>
          <a:lstStyle/>
          <a:p>
            <a:pPr algn="ctr" indent="0" marL="0">
              <a:buNone/>
            </a:pPr>
            <a:r>
              <a:rPr lang="en-US" sz="750" dirty="0">
                <a:solidFill>
                  <a:srgbClr val="333333"/>
                </a:solidFill>
                <a:latin typeface="Arial" pitchFamily="34" charset="0"/>
                <a:ea typeface="Arial" pitchFamily="34" charset="-122"/>
                <a:cs typeface="Arial" pitchFamily="34" charset="-120"/>
              </a:rPr>
              <a:t>Shared Semantic Context</a:t>
            </a:r>
            <a:endParaRPr lang="en-US" sz="750" dirty="0"/>
          </a:p>
        </p:txBody>
      </p:sp>
      <p:sp>
        <p:nvSpPr>
          <p:cNvPr id="32" name="Shape 27"/>
          <p:cNvSpPr/>
          <p:nvPr/>
        </p:nvSpPr>
        <p:spPr>
          <a:xfrm>
            <a:off x="3383280" y="3840480"/>
            <a:ext cx="822960" cy="0"/>
          </a:xfrm>
          <a:prstGeom prst="line">
            <a:avLst/>
          </a:prstGeom>
          <a:noFill/>
          <a:ln w="15875">
            <a:solidFill>
              <a:srgbClr val="0B5CAD"/>
            </a:solidFill>
            <a:prstDash val="solid"/>
            <a:headEnd type="triangle"/>
            <a:tailEnd type="triangle"/>
          </a:ln>
        </p:spPr>
      </p:sp>
      <p:pic>
        <p:nvPicPr>
          <p:cNvPr id="33" name="Image 3" descr="preencoded.png">    </p:cNvPr>
          <p:cNvPicPr>
            <a:picLocks noChangeAspect="1"/>
          </p:cNvPicPr>
          <p:nvPr/>
        </p:nvPicPr>
        <p:blipFill>
          <a:blip r:embed="rId4"/>
          <a:stretch>
            <a:fillRect/>
          </a:stretch>
        </p:blipFill>
        <p:spPr>
          <a:xfrm>
            <a:off x="7635240" y="2834640"/>
            <a:ext cx="502920" cy="502920"/>
          </a:xfrm>
          <a:prstGeom prst="rect">
            <a:avLst/>
          </a:prstGeom>
        </p:spPr>
      </p:pic>
      <p:sp>
        <p:nvSpPr>
          <p:cNvPr id="34" name="Text 28"/>
          <p:cNvSpPr txBox="1"/>
          <p:nvPr/>
        </p:nvSpPr>
        <p:spPr>
          <a:xfrm>
            <a:off x="7360920" y="3364992"/>
            <a:ext cx="1051560" cy="411480"/>
          </a:xfrm>
          <a:prstGeom prst="rect">
            <a:avLst/>
          </a:prstGeom>
          <a:noFill/>
          <a:ln/>
        </p:spPr>
        <p:txBody>
          <a:bodyPr wrap="square" lIns="0" tIns="0" rIns="0" bIns="0" rtlCol="0" anchor="ctr"/>
          <a:lstStyle/>
          <a:p>
            <a:pPr algn="ctr" indent="0" marL="0">
              <a:buNone/>
            </a:pPr>
            <a:r>
              <a:rPr lang="en-US" sz="750" dirty="0">
                <a:solidFill>
                  <a:srgbClr val="333333"/>
                </a:solidFill>
                <a:latin typeface="Arial" pitchFamily="34" charset="0"/>
                <a:ea typeface="Arial" pitchFamily="34" charset="-122"/>
                <a:cs typeface="Arial" pitchFamily="34" charset="-120"/>
              </a:rPr>
              <a:t>Shared Semantic Context</a:t>
            </a:r>
            <a:endParaRPr lang="en-US" sz="750" dirty="0"/>
          </a:p>
        </p:txBody>
      </p:sp>
      <p:sp>
        <p:nvSpPr>
          <p:cNvPr id="35" name="Shape 29"/>
          <p:cNvSpPr/>
          <p:nvPr/>
        </p:nvSpPr>
        <p:spPr>
          <a:xfrm>
            <a:off x="7589520" y="3840480"/>
            <a:ext cx="594360" cy="0"/>
          </a:xfrm>
          <a:prstGeom prst="line">
            <a:avLst/>
          </a:prstGeom>
          <a:noFill/>
          <a:ln w="15875">
            <a:solidFill>
              <a:srgbClr val="0B5CAD"/>
            </a:solidFill>
            <a:prstDash val="solid"/>
            <a:headEnd type="triangle"/>
            <a:tailEnd type="triangle"/>
          </a:ln>
        </p:spPr>
      </p:sp>
      <p:sp>
        <p:nvSpPr>
          <p:cNvPr id="36" name="Shape 30"/>
          <p:cNvSpPr/>
          <p:nvPr/>
        </p:nvSpPr>
        <p:spPr>
          <a:xfrm>
            <a:off x="8183880" y="1417320"/>
            <a:ext cx="3566160" cy="3977640"/>
          </a:xfrm>
          <a:prstGeom prst="rect">
            <a:avLst/>
          </a:prstGeom>
          <a:solidFill>
            <a:srgbClr val="D6E6F5"/>
          </a:solidFill>
          <a:ln w="12700">
            <a:solidFill>
              <a:srgbClr val="D6E6F5"/>
            </a:solidFill>
            <a:prstDash val="solid"/>
          </a:ln>
        </p:spPr>
      </p:sp>
      <p:sp>
        <p:nvSpPr>
          <p:cNvPr id="37" name="Text 31"/>
          <p:cNvSpPr txBox="1"/>
          <p:nvPr/>
        </p:nvSpPr>
        <p:spPr>
          <a:xfrm>
            <a:off x="8275320" y="1490472"/>
            <a:ext cx="3383280" cy="329184"/>
          </a:xfrm>
          <a:prstGeom prst="rect">
            <a:avLst/>
          </a:prstGeom>
          <a:noFill/>
          <a:ln/>
        </p:spPr>
        <p:txBody>
          <a:bodyPr wrap="square" lIns="0" tIns="0" rIns="0" bIns="0" rtlCol="0" anchor="ctr"/>
          <a:lstStyle/>
          <a:p>
            <a:pPr algn="ctr" indent="0" marL="0">
              <a:buNone/>
            </a:pPr>
            <a:r>
              <a:rPr lang="en-US" sz="1300" dirty="0">
                <a:solidFill>
                  <a:srgbClr val="1F3864"/>
                </a:solidFill>
                <a:latin typeface="Arial" pitchFamily="34" charset="0"/>
                <a:ea typeface="Arial" pitchFamily="34" charset="-122"/>
                <a:cs typeface="Arial" pitchFamily="34" charset="-120"/>
              </a:rPr>
              <a:t>Monitoring Review</a:t>
            </a:r>
            <a:endParaRPr lang="en-US" sz="1300" dirty="0"/>
          </a:p>
        </p:txBody>
      </p:sp>
      <p:pic>
        <p:nvPicPr>
          <p:cNvPr id="38" name="Image 4" descr="preencoded.png">    </p:cNvPr>
          <p:cNvPicPr>
            <a:picLocks noChangeAspect="1"/>
          </p:cNvPicPr>
          <p:nvPr/>
        </p:nvPicPr>
        <p:blipFill>
          <a:blip r:embed="rId5"/>
          <a:stretch>
            <a:fillRect/>
          </a:stretch>
        </p:blipFill>
        <p:spPr>
          <a:xfrm>
            <a:off x="8302752" y="1892808"/>
            <a:ext cx="274320" cy="274320"/>
          </a:xfrm>
          <a:prstGeom prst="rect">
            <a:avLst/>
          </a:prstGeom>
        </p:spPr>
      </p:pic>
      <p:sp>
        <p:nvSpPr>
          <p:cNvPr id="39" name="Text 32"/>
          <p:cNvSpPr txBox="1"/>
          <p:nvPr/>
        </p:nvSpPr>
        <p:spPr>
          <a:xfrm>
            <a:off x="8686800" y="1874520"/>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Suspension Review</a:t>
            </a:r>
            <a:endParaRPr lang="en-US" sz="1000" dirty="0"/>
          </a:p>
        </p:txBody>
      </p:sp>
      <p:pic>
        <p:nvPicPr>
          <p:cNvPr id="40" name="Image 5" descr="preencoded.png">    </p:cNvPr>
          <p:cNvPicPr>
            <a:picLocks noChangeAspect="1"/>
          </p:cNvPicPr>
          <p:nvPr/>
        </p:nvPicPr>
        <p:blipFill>
          <a:blip r:embed="rId6"/>
          <a:stretch>
            <a:fillRect/>
          </a:stretch>
        </p:blipFill>
        <p:spPr>
          <a:xfrm>
            <a:off x="8302752" y="2496312"/>
            <a:ext cx="274320" cy="274320"/>
          </a:xfrm>
          <a:prstGeom prst="rect">
            <a:avLst/>
          </a:prstGeom>
        </p:spPr>
      </p:pic>
      <p:sp>
        <p:nvSpPr>
          <p:cNvPr id="41" name="Text 33"/>
          <p:cNvSpPr txBox="1"/>
          <p:nvPr/>
        </p:nvSpPr>
        <p:spPr>
          <a:xfrm>
            <a:off x="8686800" y="2478024"/>
            <a:ext cx="2926080" cy="329184"/>
          </a:xfrm>
          <a:prstGeom prst="roundRect">
            <a:avLst>
              <a:gd name="adj" fmla="val 13889"/>
            </a:avLst>
          </a:prstGeom>
          <a:solidFill>
            <a:srgbClr val="FFFFFF"/>
          </a:solidFill>
          <a:ln w="9525">
            <a:solidFill>
              <a:srgbClr val="7F7F7F"/>
            </a:solidFill>
            <a:prstDash val="dash"/>
          </a:ln>
        </p:spPr>
        <p:txBody>
          <a:bodyPr wrap="square" lIns="381" tIns="381" rIns="381" bIns="381"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Suspension Confirmation</a:t>
            </a:r>
            <a:endParaRPr lang="en-US" sz="1000" dirty="0"/>
          </a:p>
        </p:txBody>
      </p:sp>
      <p:sp>
        <p:nvSpPr>
          <p:cNvPr id="42" name="Shape 34"/>
          <p:cNvSpPr/>
          <p:nvPr/>
        </p:nvSpPr>
        <p:spPr>
          <a:xfrm rot="10800000">
            <a:off x="9921240" y="2880360"/>
            <a:ext cx="457200" cy="164592"/>
          </a:xfrm>
          <a:prstGeom prst="triangle">
            <a:avLst/>
          </a:prstGeom>
          <a:solidFill>
            <a:srgbClr val="BFBFBF"/>
          </a:solidFill>
          <a:ln w="12700">
            <a:solidFill>
              <a:srgbClr val="BFBFBF"/>
            </a:solidFill>
            <a:prstDash val="solid"/>
          </a:ln>
        </p:spPr>
      </p:sp>
      <p:pic>
        <p:nvPicPr>
          <p:cNvPr id="43" name="Image 6" descr="preencoded.png">    </p:cNvPr>
          <p:cNvPicPr>
            <a:picLocks noChangeAspect="1"/>
          </p:cNvPicPr>
          <p:nvPr/>
        </p:nvPicPr>
        <p:blipFill>
          <a:blip r:embed="rId7"/>
          <a:stretch>
            <a:fillRect/>
          </a:stretch>
        </p:blipFill>
        <p:spPr>
          <a:xfrm>
            <a:off x="8302752" y="3099816"/>
            <a:ext cx="274320" cy="274320"/>
          </a:xfrm>
          <a:prstGeom prst="rect">
            <a:avLst/>
          </a:prstGeom>
        </p:spPr>
      </p:pic>
      <p:sp>
        <p:nvSpPr>
          <p:cNvPr id="44" name="Text 35"/>
          <p:cNvSpPr txBox="1"/>
          <p:nvPr/>
        </p:nvSpPr>
        <p:spPr>
          <a:xfrm>
            <a:off x="8686800" y="3081528"/>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Verification of AI Output</a:t>
            </a:r>
            <a:endParaRPr lang="en-US" sz="1000" dirty="0"/>
          </a:p>
        </p:txBody>
      </p:sp>
      <p:pic>
        <p:nvPicPr>
          <p:cNvPr id="45" name="Image 7" descr="preencoded.png">    </p:cNvPr>
          <p:cNvPicPr>
            <a:picLocks noChangeAspect="1"/>
          </p:cNvPicPr>
          <p:nvPr/>
        </p:nvPicPr>
        <p:blipFill>
          <a:blip r:embed="rId8"/>
          <a:stretch>
            <a:fillRect/>
          </a:stretch>
        </p:blipFill>
        <p:spPr>
          <a:xfrm>
            <a:off x="8302752" y="3703320"/>
            <a:ext cx="274320" cy="274320"/>
          </a:xfrm>
          <a:prstGeom prst="rect">
            <a:avLst/>
          </a:prstGeom>
        </p:spPr>
      </p:pic>
      <p:sp>
        <p:nvSpPr>
          <p:cNvPr id="46" name="Text 36"/>
          <p:cNvSpPr txBox="1"/>
          <p:nvPr/>
        </p:nvSpPr>
        <p:spPr>
          <a:xfrm>
            <a:off x="8686800" y="3685032"/>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Compliance Review</a:t>
            </a:r>
            <a:endParaRPr lang="en-US" sz="1000" dirty="0"/>
          </a:p>
        </p:txBody>
      </p:sp>
      <p:pic>
        <p:nvPicPr>
          <p:cNvPr id="47" name="Image 8" descr="preencoded.png">    </p:cNvPr>
          <p:cNvPicPr>
            <a:picLocks noChangeAspect="1"/>
          </p:cNvPicPr>
          <p:nvPr/>
        </p:nvPicPr>
        <p:blipFill>
          <a:blip r:embed="rId9"/>
          <a:stretch>
            <a:fillRect/>
          </a:stretch>
        </p:blipFill>
        <p:spPr>
          <a:xfrm>
            <a:off x="8302752" y="4306824"/>
            <a:ext cx="274320" cy="274320"/>
          </a:xfrm>
          <a:prstGeom prst="rect">
            <a:avLst/>
          </a:prstGeom>
        </p:spPr>
      </p:pic>
      <p:sp>
        <p:nvSpPr>
          <p:cNvPr id="48" name="Text 37"/>
          <p:cNvSpPr txBox="1"/>
          <p:nvPr/>
        </p:nvSpPr>
        <p:spPr>
          <a:xfrm>
            <a:off x="8686800" y="4288536"/>
            <a:ext cx="2926080" cy="329184"/>
          </a:xfrm>
          <a:prstGeom prst="roundRect">
            <a:avLst>
              <a:gd name="adj" fmla="val 13889"/>
            </a:avLst>
          </a:prstGeom>
          <a:solidFill>
            <a:srgbClr val="8C8C8C"/>
          </a:solidFill>
          <a:ln w="6350">
            <a:solidFill>
              <a:srgbClr val="8C8C8C"/>
            </a:solidFill>
          </a:ln>
        </p:spPr>
        <p:txBody>
          <a:bodyPr wrap="square" lIns="381" tIns="381" rIns="381" bIns="381"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Employee Management</a:t>
            </a:r>
            <a:endParaRPr lang="en-US" sz="1000" dirty="0"/>
          </a:p>
        </p:txBody>
      </p:sp>
      <p:pic>
        <p:nvPicPr>
          <p:cNvPr id="49" name="Image 9" descr="preencoded.png">    </p:cNvPr>
          <p:cNvPicPr>
            <a:picLocks noChangeAspect="1"/>
          </p:cNvPicPr>
          <p:nvPr/>
        </p:nvPicPr>
        <p:blipFill>
          <a:blip r:embed="rId10"/>
          <a:stretch>
            <a:fillRect/>
          </a:stretch>
        </p:blipFill>
        <p:spPr>
          <a:xfrm>
            <a:off x="10881360" y="4956048"/>
            <a:ext cx="292608" cy="292608"/>
          </a:xfrm>
          <a:prstGeom prst="rect">
            <a:avLst/>
          </a:prstGeom>
        </p:spPr>
      </p:pic>
      <p:sp>
        <p:nvSpPr>
          <p:cNvPr id="50" name="Text 38"/>
          <p:cNvSpPr txBox="1"/>
          <p:nvPr/>
        </p:nvSpPr>
        <p:spPr>
          <a:xfrm>
            <a:off x="11201400" y="4956048"/>
            <a:ext cx="640080" cy="292608"/>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End User</a:t>
            </a:r>
            <a:endParaRPr lang="en-US" sz="900" dirty="0"/>
          </a:p>
        </p:txBody>
      </p:sp>
      <p:sp>
        <p:nvSpPr>
          <p:cNvPr id="51" name="Text 39"/>
          <p:cNvSpPr txBox="1"/>
          <p:nvPr/>
        </p:nvSpPr>
        <p:spPr>
          <a:xfrm>
            <a:off x="457200" y="5440680"/>
            <a:ext cx="7589520" cy="274320"/>
          </a:xfrm>
          <a:prstGeom prst="rect">
            <a:avLst/>
          </a:prstGeom>
          <a:noFill/>
          <a:ln/>
        </p:spPr>
        <p:txBody>
          <a:bodyPr wrap="square" lIns="0" tIns="0" rIns="0" bIns="0" rtlCol="0" anchor="ctr"/>
          <a:lstStyle/>
          <a:p>
            <a:pPr indent="0" marL="0">
              <a:buNone/>
            </a:pPr>
            <a:r>
              <a:rPr lang="en-US" sz="800" i="1" dirty="0">
                <a:solidFill>
                  <a:srgbClr val="595959"/>
                </a:solidFill>
                <a:latin typeface="Arial" pitchFamily="34" charset="0"/>
                <a:ea typeface="Arial" pitchFamily="34" charset="-122"/>
                <a:cs typeface="Arial" pitchFamily="34" charset="-120"/>
              </a:rPr>
              <a:t>Telemetry: Apigee and Foundry traces, MCP tool logs, vendor exports, and RBC feeds enter the OpenTelemetry Collector, then Datadog (hot path) and Snowflake (system of record).</a:t>
            </a:r>
            <a:endParaRPr lang="en-US" sz="800" dirty="0"/>
          </a:p>
        </p:txBody>
      </p:sp>
      <p:sp>
        <p:nvSpPr>
          <p:cNvPr id="52" name="Text 40"/>
          <p:cNvSpPr txBox="1"/>
          <p:nvPr/>
        </p:nvSpPr>
        <p:spPr>
          <a:xfrm>
            <a:off x="457200" y="5760720"/>
            <a:ext cx="11274552" cy="384048"/>
          </a:xfrm>
          <a:prstGeom prst="rect">
            <a:avLst/>
          </a:prstGeom>
          <a:solidFill>
            <a:srgbClr val="0B5CAD"/>
          </a:solidFill>
          <a:ln w="6350">
            <a:solidFill>
              <a:srgbClr val="0B5CAD"/>
            </a:solidFill>
          </a:ln>
        </p:spPr>
        <p:txBody>
          <a:bodyPr wrap="square" lIns="635" tIns="635" rIns="635" bIns="635"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Quarterly: Review Monitoring Framework &amp; Agent Output</a:t>
            </a:r>
            <a:endParaRPr lang="en-US" sz="1400" dirty="0"/>
          </a:p>
        </p:txBody>
      </p:sp>
      <p:sp>
        <p:nvSpPr>
          <p:cNvPr id="53" name="Text 41"/>
          <p:cNvSpPr txBox="1"/>
          <p:nvPr/>
        </p:nvSpPr>
        <p:spPr>
          <a:xfrm>
            <a:off x="502920" y="6263640"/>
            <a:ext cx="457200" cy="256032"/>
          </a:xfrm>
          <a:prstGeom prst="rect">
            <a:avLst/>
          </a:prstGeom>
          <a:noFill/>
          <a:ln/>
        </p:spPr>
        <p:txBody>
          <a:bodyPr wrap="square" lIns="0" tIns="0" rIns="0" bIns="0" rtlCol="0" anchor="ctr"/>
          <a:lstStyle/>
          <a:p>
            <a:pPr indent="0" marL="0">
              <a:buNone/>
            </a:pPr>
            <a:r>
              <a:rPr lang="en-US" sz="900" b="1" dirty="0">
                <a:solidFill>
                  <a:srgbClr val="333333"/>
                </a:solidFill>
                <a:latin typeface="Arial" pitchFamily="34" charset="0"/>
                <a:ea typeface="Arial" pitchFamily="34" charset="-122"/>
                <a:cs typeface="Arial" pitchFamily="34" charset="-120"/>
              </a:rPr>
              <a:t>Key:</a:t>
            </a:r>
            <a:endParaRPr lang="en-US" sz="900" dirty="0"/>
          </a:p>
        </p:txBody>
      </p:sp>
      <p:pic>
        <p:nvPicPr>
          <p:cNvPr id="54" name="Image 10" descr="preencoded.png">    </p:cNvPr>
          <p:cNvPicPr>
            <a:picLocks noChangeAspect="1"/>
          </p:cNvPicPr>
          <p:nvPr/>
        </p:nvPicPr>
        <p:blipFill>
          <a:blip r:embed="rId11"/>
          <a:stretch>
            <a:fillRect/>
          </a:stretch>
        </p:blipFill>
        <p:spPr>
          <a:xfrm>
            <a:off x="960120" y="6300216"/>
            <a:ext cx="182880" cy="182880"/>
          </a:xfrm>
          <a:prstGeom prst="rect">
            <a:avLst/>
          </a:prstGeom>
        </p:spPr>
      </p:pic>
      <p:sp>
        <p:nvSpPr>
          <p:cNvPr id="55" name="Text 42"/>
          <p:cNvSpPr txBox="1"/>
          <p:nvPr/>
        </p:nvSpPr>
        <p:spPr>
          <a:xfrm>
            <a:off x="1179576"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AI Agent</a:t>
            </a:r>
            <a:endParaRPr lang="en-US" sz="850" dirty="0"/>
          </a:p>
        </p:txBody>
      </p:sp>
      <p:pic>
        <p:nvPicPr>
          <p:cNvPr id="56" name="Image 11" descr="preencoded.png">    </p:cNvPr>
          <p:cNvPicPr>
            <a:picLocks noChangeAspect="1"/>
          </p:cNvPicPr>
          <p:nvPr/>
        </p:nvPicPr>
        <p:blipFill>
          <a:blip r:embed="rId12"/>
          <a:stretch>
            <a:fillRect/>
          </a:stretch>
        </p:blipFill>
        <p:spPr>
          <a:xfrm>
            <a:off x="1889150" y="6300216"/>
            <a:ext cx="182880" cy="182880"/>
          </a:xfrm>
          <a:prstGeom prst="rect">
            <a:avLst/>
          </a:prstGeom>
        </p:spPr>
      </p:pic>
      <p:sp>
        <p:nvSpPr>
          <p:cNvPr id="57" name="Text 43"/>
          <p:cNvSpPr txBox="1"/>
          <p:nvPr/>
        </p:nvSpPr>
        <p:spPr>
          <a:xfrm>
            <a:off x="2108606"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End User</a:t>
            </a:r>
            <a:endParaRPr lang="en-US" sz="850" dirty="0"/>
          </a:p>
        </p:txBody>
      </p:sp>
      <p:pic>
        <p:nvPicPr>
          <p:cNvPr id="58" name="Image 12" descr="preencoded.png">    </p:cNvPr>
          <p:cNvPicPr>
            <a:picLocks noChangeAspect="1"/>
          </p:cNvPicPr>
          <p:nvPr/>
        </p:nvPicPr>
        <p:blipFill>
          <a:blip r:embed="rId13"/>
          <a:stretch>
            <a:fillRect/>
          </a:stretch>
        </p:blipFill>
        <p:spPr>
          <a:xfrm>
            <a:off x="2818181" y="6300216"/>
            <a:ext cx="182880" cy="182880"/>
          </a:xfrm>
          <a:prstGeom prst="rect">
            <a:avLst/>
          </a:prstGeom>
        </p:spPr>
      </p:pic>
      <p:sp>
        <p:nvSpPr>
          <p:cNvPr id="59" name="Text 44"/>
          <p:cNvSpPr txBox="1"/>
          <p:nvPr/>
        </p:nvSpPr>
        <p:spPr>
          <a:xfrm>
            <a:off x="3037637"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T&amp;I Teams</a:t>
            </a:r>
            <a:endParaRPr lang="en-US" sz="850" dirty="0"/>
          </a:p>
        </p:txBody>
      </p:sp>
      <p:pic>
        <p:nvPicPr>
          <p:cNvPr id="60" name="Image 13" descr="preencoded.png">    </p:cNvPr>
          <p:cNvPicPr>
            <a:picLocks noChangeAspect="1"/>
          </p:cNvPicPr>
          <p:nvPr/>
        </p:nvPicPr>
        <p:blipFill>
          <a:blip r:embed="rId14"/>
          <a:stretch>
            <a:fillRect/>
          </a:stretch>
        </p:blipFill>
        <p:spPr>
          <a:xfrm>
            <a:off x="3803904" y="6300216"/>
            <a:ext cx="182880" cy="182880"/>
          </a:xfrm>
          <a:prstGeom prst="rect">
            <a:avLst/>
          </a:prstGeom>
        </p:spPr>
      </p:pic>
      <p:sp>
        <p:nvSpPr>
          <p:cNvPr id="61" name="Text 45"/>
          <p:cNvSpPr txBox="1"/>
          <p:nvPr/>
        </p:nvSpPr>
        <p:spPr>
          <a:xfrm>
            <a:off x="4023360"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AI Product Team</a:t>
            </a:r>
            <a:endParaRPr lang="en-US" sz="850" dirty="0"/>
          </a:p>
        </p:txBody>
      </p:sp>
      <p:pic>
        <p:nvPicPr>
          <p:cNvPr id="62" name="Image 14" descr="preencoded.png">    </p:cNvPr>
          <p:cNvPicPr>
            <a:picLocks noChangeAspect="1"/>
          </p:cNvPicPr>
          <p:nvPr/>
        </p:nvPicPr>
        <p:blipFill>
          <a:blip r:embed="rId15"/>
          <a:stretch>
            <a:fillRect/>
          </a:stretch>
        </p:blipFill>
        <p:spPr>
          <a:xfrm>
            <a:off x="5129784" y="6300216"/>
            <a:ext cx="182880" cy="182880"/>
          </a:xfrm>
          <a:prstGeom prst="rect">
            <a:avLst/>
          </a:prstGeom>
        </p:spPr>
      </p:pic>
      <p:sp>
        <p:nvSpPr>
          <p:cNvPr id="63" name="Text 46"/>
          <p:cNvSpPr txBox="1"/>
          <p:nvPr/>
        </p:nvSpPr>
        <p:spPr>
          <a:xfrm>
            <a:off x="5349240"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Risk Team</a:t>
            </a:r>
            <a:endParaRPr lang="en-US" sz="850" dirty="0"/>
          </a:p>
        </p:txBody>
      </p:sp>
      <p:pic>
        <p:nvPicPr>
          <p:cNvPr id="64" name="Image 15" descr="preencoded.png">    </p:cNvPr>
          <p:cNvPicPr>
            <a:picLocks noChangeAspect="1"/>
          </p:cNvPicPr>
          <p:nvPr/>
        </p:nvPicPr>
        <p:blipFill>
          <a:blip r:embed="rId16"/>
          <a:stretch>
            <a:fillRect/>
          </a:stretch>
        </p:blipFill>
        <p:spPr>
          <a:xfrm>
            <a:off x="6115507" y="6300216"/>
            <a:ext cx="182880" cy="182880"/>
          </a:xfrm>
          <a:prstGeom prst="rect">
            <a:avLst/>
          </a:prstGeom>
        </p:spPr>
      </p:pic>
      <p:sp>
        <p:nvSpPr>
          <p:cNvPr id="65" name="Text 47"/>
          <p:cNvSpPr txBox="1"/>
          <p:nvPr/>
        </p:nvSpPr>
        <p:spPr>
          <a:xfrm>
            <a:off x="6334963"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Audit Team</a:t>
            </a:r>
            <a:endParaRPr lang="en-US" sz="850" dirty="0"/>
          </a:p>
        </p:txBody>
      </p:sp>
      <p:pic>
        <p:nvPicPr>
          <p:cNvPr id="66" name="Image 16" descr="preencoded.png">    </p:cNvPr>
          <p:cNvPicPr>
            <a:picLocks noChangeAspect="1"/>
          </p:cNvPicPr>
          <p:nvPr/>
        </p:nvPicPr>
        <p:blipFill>
          <a:blip r:embed="rId17"/>
          <a:stretch>
            <a:fillRect/>
          </a:stretch>
        </p:blipFill>
        <p:spPr>
          <a:xfrm>
            <a:off x="7157923" y="6300216"/>
            <a:ext cx="182880" cy="182880"/>
          </a:xfrm>
          <a:prstGeom prst="rect">
            <a:avLst/>
          </a:prstGeom>
        </p:spPr>
      </p:pic>
      <p:sp>
        <p:nvSpPr>
          <p:cNvPr id="67" name="Text 48"/>
          <p:cNvSpPr txBox="1"/>
          <p:nvPr/>
        </p:nvSpPr>
        <p:spPr>
          <a:xfrm>
            <a:off x="7377379"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Business SMAs</a:t>
            </a:r>
            <a:endParaRPr lang="en-US" sz="850" dirty="0"/>
          </a:p>
        </p:txBody>
      </p:sp>
      <p:pic>
        <p:nvPicPr>
          <p:cNvPr id="68" name="Image 17" descr="preencoded.png">    </p:cNvPr>
          <p:cNvPicPr>
            <a:picLocks noChangeAspect="1"/>
          </p:cNvPicPr>
          <p:nvPr/>
        </p:nvPicPr>
        <p:blipFill>
          <a:blip r:embed="rId18"/>
          <a:stretch>
            <a:fillRect/>
          </a:stretch>
        </p:blipFill>
        <p:spPr>
          <a:xfrm>
            <a:off x="8370418" y="6300216"/>
            <a:ext cx="182880" cy="182880"/>
          </a:xfrm>
          <a:prstGeom prst="rect">
            <a:avLst/>
          </a:prstGeom>
        </p:spPr>
      </p:pic>
      <p:sp>
        <p:nvSpPr>
          <p:cNvPr id="69" name="Text 49"/>
          <p:cNvSpPr txBox="1"/>
          <p:nvPr/>
        </p:nvSpPr>
        <p:spPr>
          <a:xfrm>
            <a:off x="8589874"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RBC Borealis</a:t>
            </a:r>
            <a:endParaRPr lang="en-US" sz="850" dirty="0"/>
          </a:p>
        </p:txBody>
      </p:sp>
      <p:pic>
        <p:nvPicPr>
          <p:cNvPr id="70" name="Image 18" descr="preencoded.png">    </p:cNvPr>
          <p:cNvPicPr>
            <a:picLocks noChangeAspect="1"/>
          </p:cNvPicPr>
          <p:nvPr/>
        </p:nvPicPr>
        <p:blipFill>
          <a:blip r:embed="rId19"/>
          <a:stretch>
            <a:fillRect/>
          </a:stretch>
        </p:blipFill>
        <p:spPr>
          <a:xfrm>
            <a:off x="9526219" y="6300216"/>
            <a:ext cx="182880" cy="182880"/>
          </a:xfrm>
          <a:prstGeom prst="rect">
            <a:avLst/>
          </a:prstGeom>
        </p:spPr>
      </p:pic>
      <p:sp>
        <p:nvSpPr>
          <p:cNvPr id="71" name="Text 50"/>
          <p:cNvSpPr txBox="1"/>
          <p:nvPr/>
        </p:nvSpPr>
        <p:spPr>
          <a:xfrm>
            <a:off x="9745675" y="6263640"/>
            <a:ext cx="1051560" cy="256032"/>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Compliance Team</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0" y="0"/>
            <a:ext cx="8348472" cy="6858000"/>
          </a:xfrm>
          <a:prstGeom prst="rect">
            <a:avLst/>
          </a:prstGeom>
          <a:solidFill>
            <a:srgbClr val="E9EEF3"/>
          </a:solidFill>
          <a:ln w="12700">
            <a:solidFill>
              <a:srgbClr val="E9EEF3"/>
            </a:solidFill>
            <a:prstDash val="solid"/>
          </a:ln>
        </p:spPr>
      </p:sp>
      <p:pic>
        <p:nvPicPr>
          <p:cNvPr id="3"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4" name="Text 1"/>
          <p:cNvSpPr txBox="1"/>
          <p:nvPr/>
        </p:nvSpPr>
        <p:spPr>
          <a:xfrm>
            <a:off x="548640" y="2651760"/>
            <a:ext cx="3200400" cy="822960"/>
          </a:xfrm>
          <a:prstGeom prst="rect">
            <a:avLst/>
          </a:prstGeom>
          <a:noFill/>
          <a:ln/>
        </p:spPr>
        <p:txBody>
          <a:bodyPr wrap="square" lIns="0" tIns="0" rIns="0" bIns="0" rtlCol="0" anchor="ctr"/>
          <a:lstStyle/>
          <a:p>
            <a:pPr indent="0" marL="0">
              <a:buNone/>
            </a:pPr>
            <a:r>
              <a:rPr lang="en-US" sz="3600" dirty="0">
                <a:solidFill>
                  <a:srgbClr val="2E6DB4"/>
                </a:solidFill>
                <a:latin typeface="Arial" pitchFamily="34" charset="0"/>
                <a:ea typeface="Arial" pitchFamily="34" charset="-122"/>
                <a:cs typeface="Arial" pitchFamily="34" charset="-120"/>
              </a:rPr>
              <a:t>Appendix</a:t>
            </a:r>
            <a:endParaRPr lang="en-US" sz="3600" dirty="0"/>
          </a:p>
        </p:txBody>
      </p:sp>
      <p:sp>
        <p:nvSpPr>
          <p:cNvPr id="5" name="Text 2"/>
          <p:cNvSpPr txBox="1"/>
          <p:nvPr/>
        </p:nvSpPr>
        <p:spPr>
          <a:xfrm>
            <a:off x="548640" y="3474720"/>
            <a:ext cx="3200400" cy="822960"/>
          </a:xfrm>
          <a:prstGeom prst="rect">
            <a:avLst/>
          </a:prstGeom>
          <a:noFill/>
          <a:ln/>
        </p:spPr>
        <p:txBody>
          <a:bodyPr wrap="square" lIns="0" tIns="0" rIns="0" bIns="0" rtlCol="0" anchor="t"/>
          <a:lstStyle/>
          <a:p>
            <a:pPr indent="0" marL="0">
              <a:buNone/>
            </a:pPr>
            <a:r>
              <a:rPr lang="en-US" sz="1800" dirty="0">
                <a:solidFill>
                  <a:srgbClr val="333333"/>
                </a:solidFill>
                <a:latin typeface="Arial" pitchFamily="34" charset="0"/>
                <a:ea typeface="Arial" pitchFamily="34" charset="-122"/>
                <a:cs typeface="Arial" pitchFamily="34" charset="-120"/>
              </a:rPr>
              <a:t>AI Monitoring and Observability</a:t>
            </a:r>
            <a:endParaRPr lang="en-US" sz="1800" dirty="0"/>
          </a:p>
        </p:txBody>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Policy Loop and Kill Switch</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How a signal becomes an action and an audit record, and where the kill switch lives for each class</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15</a:t>
            </a:r>
            <a:endParaRPr lang="en-US" sz="1000" dirty="0"/>
          </a:p>
        </p:txBody>
      </p:sp>
      <p:pic>
        <p:nvPicPr>
          <p:cNvPr id="7" name="Image 1" descr="/home/claude/add_fig3.png">    </p:cNvPr>
          <p:cNvPicPr>
            <a:picLocks noChangeAspect="1"/>
          </p:cNvPicPr>
          <p:nvPr/>
        </p:nvPicPr>
        <p:blipFill>
          <a:blip r:embed="rId2"/>
          <a:stretch>
            <a:fillRect/>
          </a:stretch>
        </p:blipFill>
        <p:spPr>
          <a:xfrm>
            <a:off x="457200" y="1463040"/>
            <a:ext cx="11274552" cy="2816352"/>
          </a:xfrm>
          <a:prstGeom prst="rect">
            <a:avLst/>
          </a:prstGeom>
        </p:spPr>
      </p:pic>
      <p:sp>
        <p:nvSpPr>
          <p:cNvPr id="8" name="Text 4"/>
          <p:cNvSpPr/>
          <p:nvPr/>
        </p:nvSpPr>
        <p:spPr>
          <a:xfrm>
            <a:off x="457200" y="4526280"/>
            <a:ext cx="11274552"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333333"/>
                </a:solidFill>
                <a:latin typeface="Arial" pitchFamily="34" charset="0"/>
                <a:ea typeface="Arial" pitchFamily="34" charset="-122"/>
                <a:cs typeface="Arial" pitchFamily="34" charset="-120"/>
              </a:rPr>
              <a:t>Steps 1, 2, and 5 run in the shared pipeline; step 3 is a human decision with a named authority and a reversal procedure; step 4 executes at the control point for the class</a:t>
            </a:r>
            <a:endParaRPr lang="en-US" sz="1100" dirty="0"/>
          </a:p>
          <a:p>
            <a:pPr marL="152400" indent="-152400">
              <a:spcAft>
                <a:spcPts val="400"/>
              </a:spcAft>
              <a:buSzPct val="100000"/>
              <a:buChar char="•"/>
            </a:pPr>
            <a:r>
              <a:rPr lang="en-US" sz="1100" dirty="0">
                <a:solidFill>
                  <a:srgbClr val="333333"/>
                </a:solidFill>
                <a:latin typeface="Arial" pitchFamily="34" charset="0"/>
                <a:ea typeface="Arial" pitchFamily="34" charset="-122"/>
                <a:cs typeface="Arial" pitchFamily="34" charset="-120"/>
              </a:rPr>
              <a:t>Near real time for CNB built apps, MCP tools, and third party tools, because CNB owns both the signals and the actions</a:t>
            </a:r>
            <a:endParaRPr lang="en-US" sz="1100" dirty="0"/>
          </a:p>
          <a:p>
            <a:pPr marL="152400" indent="-152400">
              <a:spcAft>
                <a:spcPts val="400"/>
              </a:spcAft>
              <a:buSzPct val="100000"/>
              <a:buChar char="•"/>
            </a:pPr>
            <a:r>
              <a:rPr lang="en-US" sz="1100" dirty="0">
                <a:solidFill>
                  <a:srgbClr val="333333"/>
                </a:solidFill>
                <a:latin typeface="Arial" pitchFamily="34" charset="0"/>
                <a:ea typeface="Arial" pitchFamily="34" charset="-122"/>
                <a:cs typeface="Arial" pitchFamily="34" charset="-120"/>
              </a:rPr>
              <a:t>For RBC Assist Pro, step 4 is an escalation request to RBC and the loop closes at the cadence RBC supports; the operating model defines the response target</a:t>
            </a:r>
            <a:endParaRPr lang="en-US" sz="1100" dirty="0"/>
          </a:p>
          <a:p>
            <a:pPr marL="152400" indent="-152400">
              <a:spcAft>
                <a:spcPts val="400"/>
              </a:spcAft>
              <a:buSzPct val="100000"/>
              <a:buChar char="•"/>
            </a:pPr>
            <a:r>
              <a:rPr lang="en-US" sz="1100" dirty="0">
                <a:solidFill>
                  <a:srgbClr val="333333"/>
                </a:solidFill>
                <a:latin typeface="Arial" pitchFamily="34" charset="0"/>
                <a:ea typeface="Arial" pitchFamily="34" charset="-122"/>
                <a:cs typeface="Arial" pitchFamily="34" charset="-120"/>
              </a:rPr>
              <a:t>Token threshold termination is an Apigee quota action; unauthorized tool use is an MCP allowlist or server disable; every action emits an event kept in Snowflake with the alert and the outcome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Operating Model and Ownership</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Who owns each capability, and how the three lines of defence coordinate</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7223760" cy="914400"/>
        </p:xfrm>
        <a:graphic>
          <a:graphicData uri="http://schemas.openxmlformats.org/drawingml/2006/table">
            <a:tbl>
              <a:tblPr/>
              <a:tblGrid>
                <a:gridCol w="2651760"/>
                <a:gridCol w="1828800"/>
                <a:gridCol w="274320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Area</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Owner</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Responsibility</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r>
              <a:tr h="0">
                <a:tc>
                  <a:txBody>
                    <a:bodyPr/>
                    <a:lstStyle/>
                    <a:p>
                      <a:pPr indent="0" marL="0">
                        <a:buNone/>
                      </a:pPr>
                      <a:r>
                        <a:rPr lang="en-US" sz="900" b="1" dirty="0">
                          <a:solidFill>
                            <a:srgbClr val="333333"/>
                          </a:solidFill>
                          <a:latin typeface="Arial" pitchFamily="34" charset="0"/>
                          <a:ea typeface="Arial" pitchFamily="34" charset="-122"/>
                          <a:cs typeface="Arial" pitchFamily="34" charset="-120"/>
                        </a:rPr>
                        <a:t>Apigee policies, MCP platform, collector fleet, Snowflake observability schema</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T&amp;I: CNB AI platform team</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Build and run the control points and the pipeline; publish the span checklist</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333333"/>
                          </a:solidFill>
                          <a:latin typeface="Arial" pitchFamily="34" charset="0"/>
                          <a:ea typeface="Arial" pitchFamily="34" charset="-122"/>
                          <a:cs typeface="Arial" pitchFamily="34" charset="-120"/>
                        </a:rPr>
                        <a:t>Instrumentation of each AI application</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AI Product Team</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Instrument against the checklist; no production release without it; human in the loop for drift and high risk actions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333333"/>
                          </a:solidFill>
                          <a:latin typeface="Arial" pitchFamily="34" charset="0"/>
                          <a:ea typeface="Arial" pitchFamily="34" charset="-122"/>
                          <a:cs typeface="Arial" pitchFamily="34" charset="-120"/>
                        </a:rPr>
                        <a:t>Datadog monitors and on call</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T&amp;I: SRE and operations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Severity one pages on call and notifies the use case owner; severity two opens a ticket</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333333"/>
                          </a:solidFill>
                          <a:latin typeface="Arial" pitchFamily="34" charset="0"/>
                          <a:ea typeface="Arial" pitchFamily="34" charset="-122"/>
                          <a:cs typeface="Arial" pitchFamily="34" charset="-120"/>
                        </a:rPr>
                        <a:t>Key words, toxic combinations, sentiment rules, semantic filters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Compliance Team with Business SMAs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Maintain the monitoring inputs; quarterly pattern review and key word revision</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333333"/>
                          </a:solidFill>
                          <a:latin typeface="Arial" pitchFamily="34" charset="0"/>
                          <a:ea typeface="Arial" pitchFamily="34" charset="-122"/>
                          <a:cs typeface="Arial" pitchFamily="34" charset="-120"/>
                        </a:rPr>
                        <a:t>Audit views, retention schedule, employee action</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Compliance Team and Risk Team</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Own the audit views and records schedule; initiate employee action; credible challenge</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333333"/>
                          </a:solidFill>
                          <a:latin typeface="Arial" pitchFamily="34" charset="0"/>
                          <a:ea typeface="Arial" pitchFamily="34" charset="-122"/>
                          <a:cs typeface="Arial" pitchFamily="34" charset="-120"/>
                        </a:rPr>
                        <a:t>Independent review</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Audit Team</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Third line review of the control and its evidence</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900" b="1" dirty="0">
                          <a:solidFill>
                            <a:srgbClr val="333333"/>
                          </a:solidFill>
                          <a:latin typeface="Arial" pitchFamily="34" charset="0"/>
                          <a:ea typeface="Arial" pitchFamily="34" charset="-122"/>
                          <a:cs typeface="Arial" pitchFamily="34" charset="-120"/>
                        </a:rPr>
                        <a:t>RBC interface and operating model</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Gen AI leadership, named liaison; RBC Borealis and Lumina counterparts</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Agree the RBC capabilities, cadence, and escalation path</a:t>
                      </a:r>
                      <a:endParaRPr lang="en-US" sz="900" dirty="0">
                        <a:latin typeface="Arial" charset="0"/>
                        <a:ea typeface="Arial" charset="0"/>
                        <a:cs typeface="Arial"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8" name="Text 4"/>
          <p:cNvSpPr txBox="1"/>
          <p:nvPr/>
        </p:nvSpPr>
        <p:spPr>
          <a:xfrm>
            <a:off x="7955280" y="1417320"/>
            <a:ext cx="3794760" cy="27432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Signals and floors</a:t>
            </a:r>
            <a:endParaRPr lang="en-US" sz="1200" dirty="0"/>
          </a:p>
        </p:txBody>
      </p:sp>
      <p:sp>
        <p:nvSpPr>
          <p:cNvPr id="9" name="Text 5"/>
          <p:cNvSpPr/>
          <p:nvPr/>
        </p:nvSpPr>
        <p:spPr>
          <a:xfrm>
            <a:off x="7955280" y="1737360"/>
            <a:ext cx="3794760" cy="210312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Each registered use case declares availability and latency objectives, a token budget, a quality floor from a named evaluation, and its approved model list</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The approved model list is monitored, not only documented; only whitelisted open weight models are approved</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Prompts, model versions, tool definitions, and gateway policies are versioned under change control</a:t>
            </a:r>
            <a:endParaRPr lang="en-US" sz="950" dirty="0"/>
          </a:p>
        </p:txBody>
      </p:sp>
      <p:sp>
        <p:nvSpPr>
          <p:cNvPr id="10" name="Text 6"/>
          <p:cNvSpPr txBox="1"/>
          <p:nvPr/>
        </p:nvSpPr>
        <p:spPr>
          <a:xfrm>
            <a:off x="7955280" y="3886200"/>
            <a:ext cx="3794760" cy="27432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Alerting and the kill switch</a:t>
            </a:r>
            <a:endParaRPr lang="en-US" sz="1200" dirty="0"/>
          </a:p>
        </p:txBody>
      </p:sp>
      <p:sp>
        <p:nvSpPr>
          <p:cNvPr id="11" name="Text 7"/>
          <p:cNvSpPr/>
          <p:nvPr/>
        </p:nvSpPr>
        <p:spPr>
          <a:xfrm>
            <a:off x="7955280" y="4206240"/>
            <a:ext cx="3794760" cy="210312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The runbook states who may invoke the kill switch (use case owner, or on call for severity one), the reversal procedure, and the post incident review</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Anything more than a temporary suspension is verified by a human before it stands</a:t>
            </a:r>
            <a:endParaRPr lang="en-US" sz="950" dirty="0"/>
          </a:p>
          <a:p>
            <a:pPr marL="152400" indent="-152400">
              <a:spcAft>
                <a:spcPts val="400"/>
              </a:spcAft>
              <a:buSzPct val="100000"/>
              <a:buChar char="•"/>
            </a:pPr>
            <a:r>
              <a:rPr lang="en-US" sz="950" dirty="0">
                <a:solidFill>
                  <a:srgbClr val="333333"/>
                </a:solidFill>
                <a:latin typeface="Arial" pitchFamily="34" charset="0"/>
                <a:ea typeface="Arial" pitchFamily="34" charset="-122"/>
                <a:cs typeface="Arial" pitchFamily="34" charset="-120"/>
              </a:rPr>
              <a:t>1st, 2nd and 3rd LOD coordinate on ongoing review and sustainability of risk mitigation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Assumptions and Open Questions</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To be confirmed in Phase 0 and under the RBC operating model</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Text 3"/>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17</a:t>
            </a:r>
            <a:endParaRPr lang="en-US" sz="1000" dirty="0"/>
          </a:p>
        </p:txBody>
      </p:sp>
      <p:sp>
        <p:nvSpPr>
          <p:cNvPr id="7" name="Text 4"/>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Assumptions</a:t>
            </a:r>
            <a:endParaRPr lang="en-US" sz="1200" dirty="0"/>
          </a:p>
        </p:txBody>
      </p:sp>
      <p:sp>
        <p:nvSpPr>
          <p:cNvPr id="8" name="Text 5"/>
          <p:cNvSpPr/>
          <p:nvPr/>
        </p:nvSpPr>
        <p:spPr>
          <a:xfrm>
            <a:off x="457200" y="1737360"/>
            <a:ext cx="5486400" cy="448056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Apigee is the CNB API gateway standard; its LLM token quota, prompt token limit, Model Armor, and MCP policies are available at CNB's tier</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Datadog is in use; licensed modules and coverage depth are confirmed in Phase 0, with Application Insights as the fallback hot path</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RBC Assist Pro traffic runs browser to RBC with no CNB component in the path; AgilLink and Rovo AI reach the RBC gateway directly, not through Apigee</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Vendor audit feeds are the standard exports vendors provide enterprise customers</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Snowflake is the system of record; Event Hub and DataHub are out of scope for now and can be added later</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Regulatory mapping is a separate deliverable with Risk and Compliance; jurisdictional differences are a design driver here</a:t>
            </a:r>
            <a:endParaRPr lang="en-US" sz="1000" dirty="0"/>
          </a:p>
        </p:txBody>
      </p:sp>
      <p:sp>
        <p:nvSpPr>
          <p:cNvPr id="9" name="Text 6"/>
          <p:cNvSpPr txBox="1"/>
          <p:nvPr/>
        </p:nvSpPr>
        <p:spPr>
          <a:xfrm>
            <a:off x="6309360" y="1417320"/>
            <a:ext cx="5440680" cy="27432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Open questions</a:t>
            </a:r>
            <a:endParaRPr lang="en-US" sz="1200" dirty="0"/>
          </a:p>
        </p:txBody>
      </p:sp>
      <p:sp>
        <p:nvSpPr>
          <p:cNvPr id="10" name="Text 7"/>
          <p:cNvSpPr/>
          <p:nvPr/>
        </p:nvSpPr>
        <p:spPr>
          <a:xfrm>
            <a:off x="6309360" y="1737360"/>
            <a:ext cx="5440680" cy="448056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Which RBC capabilities are available today, in the RBC pipeline, or to be agreed, and at what cadence</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What Pantheon and Evals will provide once deployed; the vendor scan addendum naming to be corrected</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Functions Assist: model path and control point; Omilia: non LLM monitoring approach</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Workato: adopt or not; job and audit log integration if adopted</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Response target for the RBC escalation path that serves as the Assist Pro kill switch</a:t>
            </a:r>
            <a:endParaRPr lang="en-US" sz="1000" dirty="0"/>
          </a:p>
          <a:p>
            <a:pPr marL="152400" indent="-152400">
              <a:spcAft>
                <a:spcPts val="400"/>
              </a:spcAft>
              <a:buSzPct val="100000"/>
              <a:buChar char="•"/>
            </a:pPr>
            <a:r>
              <a:rPr lang="en-US" sz="1000" dirty="0">
                <a:solidFill>
                  <a:srgbClr val="333333"/>
                </a:solidFill>
                <a:latin typeface="Arial" pitchFamily="34" charset="0"/>
                <a:ea typeface="Arial" pitchFamily="34" charset="-122"/>
                <a:cs typeface="Arial" pitchFamily="34" charset="-120"/>
              </a:rPr>
              <a:t>Retention periods per records schedule and the opt in list for prompt and completion capture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Monitoring and Observability Strategy</dc:title>
  <dc:subject>PptxGenJS Presentation</dc:subject>
  <dc:creator>PptxGenJS</dc:creator>
  <cp:lastModifiedBy>PptxGenJS</cp:lastModifiedBy>
  <cp:revision>1</cp:revision>
  <dcterms:created xsi:type="dcterms:W3CDTF">2026-09-28T15:44:45Z</dcterms:created>
  <dcterms:modified xsi:type="dcterms:W3CDTF">2026-09-28T15:44:45Z</dcterms:modified>
</cp:coreProperties>
</file>